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17"/>
  </p:notesMasterIdLst>
  <p:sldIdLst>
    <p:sldId id="257" r:id="rId7"/>
    <p:sldId id="325" r:id="rId8"/>
    <p:sldId id="312" r:id="rId9"/>
    <p:sldId id="322" r:id="rId10"/>
    <p:sldId id="329" r:id="rId11"/>
    <p:sldId id="328" r:id="rId12"/>
    <p:sldId id="316" r:id="rId13"/>
    <p:sldId id="324" r:id="rId14"/>
    <p:sldId id="327" r:id="rId15"/>
    <p:sldId id="298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30" y="90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microsoft.com/office/2018/10/relationships/authors" Target="authors.xml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28/08/2026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03%20-%20Donadello%20et%20al.%20-%202023%20-%20Embedded%20Digital%20Phase%20Noise%20Analyzer%20for%20Optical%20Frequency%20Metrology.pdf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r>
              <a:rPr lang="it-IT" sz="3200" dirty="0"/>
              <a:t>Acquisizione Sincronizzata per Dati di SOP e Fase</a:t>
            </a:r>
          </a:p>
          <a:p>
            <a:pPr algn="ctr"/>
            <a:r>
              <a:rPr lang="it-IT" sz="2400" dirty="0"/>
              <a:t>Validazione Sperimentale su Collegamento Urbano</a:t>
            </a:r>
            <a:r>
              <a:rPr lang="it-IT" sz="2400" dirty="0">
                <a:solidFill>
                  <a:srgbClr val="FFFFFF"/>
                </a:solidFill>
              </a:rPr>
              <a:t> </a:t>
            </a:r>
            <a:endParaRPr lang="it-IT" sz="240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solidFill>
              <a:srgbClr val="00284B"/>
            </a:solidFill>
          </a:ln>
        </p:spPr>
        <p:txBody>
          <a:bodyPr/>
          <a:lstStyle/>
          <a:p>
            <a:pPr algn="ctr"/>
            <a:r>
              <a:rPr lang="it-IT" dirty="0" err="1"/>
              <a:t>Student</a:t>
            </a:r>
            <a:r>
              <a:rPr lang="it-IT" dirty="0"/>
              <a:t>:</a:t>
            </a:r>
          </a:p>
          <a:p>
            <a:pPr algn="ctr"/>
            <a:r>
              <a:rPr lang="it-IT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0028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solidFill>
              <a:srgbClr val="00284B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/>
              <a:t>Professors:</a:t>
            </a:r>
          </a:p>
          <a:p>
            <a:pPr algn="ctr"/>
            <a:r>
              <a:rPr lang="it-IT" dirty="0"/>
              <a:t>Vittorio Curri</a:t>
            </a:r>
          </a:p>
          <a:p>
            <a:pPr algn="ctr"/>
            <a:r>
              <a:rPr lang="it-IT" dirty="0"/>
              <a:t>Cecilia Clivati </a:t>
            </a: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it-IT"/>
              <a:t>Obiettivo 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PM1000 </a:t>
            </a:r>
            <a:r>
              <a:rPr lang="it-IT" sz="2000" dirty="0" err="1">
                <a:solidFill>
                  <a:srgbClr val="404040"/>
                </a:solidFill>
                <a:latin typeface="Poppins" panose="020B0502040204020203" pitchFamily="2" charset="0"/>
              </a:rPr>
              <a:t>Polarimeter</a:t>
            </a:r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 </a:t>
            </a:r>
            <a:r>
              <a:rPr lang="it-IT" sz="200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it-IT" sz="200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b="0" i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it-IT" sz="2000" b="0" i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it-IT" sz="2000" b="0" i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it-IT" sz="2000" b="0" i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it-IT" sz="20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Sviluppare un sistema di acquisizione integrato e validato per la misura simultanea di SOP e fase su fibra, in cui un polarimetro e un analizzatore di fase operano sincronizzati su un'unica base temporale, progettato per esperimenti di lunga durata in condizioni reali.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750" dirty="0"/>
              <a:t>Reference: </a:t>
            </a:r>
            <a:r>
              <a:rPr lang="it-IT" sz="1750" dirty="0">
                <a:hlinkClick r:id="rId5" action="ppaction://hlinkfile"/>
              </a:rPr>
              <a:t>Donadello et al. - 2023 - Embedded Digital </a:t>
            </a:r>
            <a:r>
              <a:rPr lang="it-IT" sz="1750" dirty="0" err="1">
                <a:hlinkClick r:id="rId5" action="ppaction://hlinkfile"/>
              </a:rPr>
              <a:t>Phase</a:t>
            </a:r>
            <a:r>
              <a:rPr lang="it-IT" sz="1750" dirty="0">
                <a:hlinkClick r:id="rId5" action="ppaction://hlinkfile"/>
              </a:rPr>
              <a:t> </a:t>
            </a:r>
            <a:r>
              <a:rPr lang="it-IT" sz="1750" dirty="0" err="1">
                <a:hlinkClick r:id="rId5" action="ppaction://hlinkfile"/>
              </a:rPr>
              <a:t>Noise</a:t>
            </a:r>
            <a:r>
              <a:rPr lang="it-IT" sz="1750" dirty="0">
                <a:hlinkClick r:id="rId5" action="ppaction://hlinkfile"/>
              </a:rPr>
              <a:t> Analyzer for Optical Frequency </a:t>
            </a:r>
            <a:r>
              <a:rPr lang="it-IT" sz="1750" dirty="0" err="1">
                <a:hlinkClick r:id="rId5" action="ppaction://hlinkfile"/>
              </a:rPr>
              <a:t>Metrology</a:t>
            </a:r>
            <a:r>
              <a:rPr lang="it-IT" sz="1750" dirty="0">
                <a:hlinkClick r:id="rId5" action="ppaction://hlinkfile"/>
              </a:rPr>
              <a:t> </a:t>
            </a:r>
            <a:endParaRPr lang="it-IT" sz="175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Schema di </a:t>
            </a:r>
            <a:r>
              <a:rPr lang="it-IT" dirty="0" err="1"/>
              <a:t>timestamping</a:t>
            </a: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 err="1"/>
              <a:t>Vpp</a:t>
            </a:r>
            <a:r>
              <a:rPr lang="it-IT" sz="1600" baseline="30000" dirty="0" err="1"/>
              <a:t>min</a:t>
            </a:r>
            <a:r>
              <a:rPr lang="it-IT" sz="1600" dirty="0"/>
              <a:t>= 1.5 V</a:t>
            </a:r>
            <a:r>
              <a:rPr lang="it-IT" sz="1600" baseline="3000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4800" i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it-IT" sz="200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fase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0A85-8C66-988D-E25C-0C5D1C101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351995F4-C6D7-B83A-6ECA-DDDFA79A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</p:spPr>
        <p:txBody>
          <a:bodyPr/>
          <a:lstStyle/>
          <a:p>
            <a:r>
              <a:rPr lang="it-IT" dirty="0"/>
              <a:t>SOP ATE = 4 - 1 kHz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F2FAF30-5D79-073C-E9E1-140C05643B4F}"/>
              </a:ext>
            </a:extLst>
          </p:cNvPr>
          <p:cNvSpPr txBox="1"/>
          <p:nvPr/>
        </p:nvSpPr>
        <p:spPr>
          <a:xfrm>
            <a:off x="5920740" y="6434160"/>
            <a:ext cx="541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0F82671-95A2-0728-4C8D-BFF13A41C64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12" y="651182"/>
            <a:ext cx="11122855" cy="555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CE80-537A-40E3-B804-31B951590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316D60DC-CB63-6020-36F6-D12B004F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</p:spPr>
        <p:txBody>
          <a:bodyPr/>
          <a:lstStyle/>
          <a:p>
            <a:r>
              <a:rPr lang="it-IT" dirty="0"/>
              <a:t>SOP ATE = 4 - 100 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00BD6A8-1345-B730-AE3F-17A142CF8F79}"/>
              </a:ext>
            </a:extLst>
          </p:cNvPr>
          <p:cNvSpPr txBox="1"/>
          <p:nvPr/>
        </p:nvSpPr>
        <p:spPr>
          <a:xfrm>
            <a:off x="5920740" y="6434160"/>
            <a:ext cx="541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0EEA688-24E2-9230-B82E-E8E0EE58B31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80"/>
          <a:stretch>
            <a:fillRect/>
          </a:stretch>
        </p:blipFill>
        <p:spPr>
          <a:xfrm>
            <a:off x="88265" y="886252"/>
            <a:ext cx="11664950" cy="554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386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647AC981-8FC9-12DC-FE0E-FA269B095F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0"/>
          <a:stretch>
            <a:fillRect/>
          </a:stretch>
        </p:blipFill>
        <p:spPr>
          <a:xfrm>
            <a:off x="805475" y="1196281"/>
            <a:ext cx="10581050" cy="4668188"/>
          </a:xfrm>
          <a:prstGeom prst="rect">
            <a:avLst/>
          </a:prstGeom>
        </p:spPr>
      </p:pic>
      <p:sp>
        <p:nvSpPr>
          <p:cNvPr id="4" name="Titolo 1">
            <a:extLst>
              <a:ext uri="{FF2B5EF4-FFF2-40B4-BE49-F238E27FC236}">
                <a16:creationId xmlns:a16="http://schemas.microsoft.com/office/drawing/2014/main" id="{00BF9DF0-03D3-0DDC-B153-3E3D21E89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9727"/>
            <a:ext cx="11661775" cy="606425"/>
          </a:xfrm>
        </p:spPr>
        <p:txBody>
          <a:bodyPr/>
          <a:lstStyle/>
          <a:p>
            <a:r>
              <a:rPr lang="it-IT" dirty="0"/>
              <a:t>Misure di fase FPGA – STM32 su fibra urbana </a:t>
            </a:r>
            <a:r>
              <a:rPr lang="it-IT" dirty="0" err="1"/>
              <a:t>INRiM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E5E999-9757-E691-7B50-82ADDC88A082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20565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1F2CD7-C054-4178-C821-FD11F38DE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Misure di fase FPGA – STM32 su fibra urbana </a:t>
            </a:r>
            <a:r>
              <a:rPr lang="it-IT" dirty="0" err="1"/>
              <a:t>INRiM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BBF30F4-7C2A-7DB2-95D6-0885FA5D6C19}"/>
              </a:ext>
            </a:extLst>
          </p:cNvPr>
          <p:cNvSpPr txBox="1"/>
          <p:nvPr/>
        </p:nvSpPr>
        <p:spPr>
          <a:xfrm>
            <a:off x="5920740" y="6434160"/>
            <a:ext cx="72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E5F14973-B645-5CB4-9135-3FF42CFBE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2" t="8346" r="7316" b="4298"/>
          <a:stretch>
            <a:fillRect/>
          </a:stretch>
        </p:blipFill>
        <p:spPr>
          <a:xfrm>
            <a:off x="1301261" y="896814"/>
            <a:ext cx="9363809" cy="524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69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421F-36CE-9E41-BD55-CABDD87B2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4F5A25F8-CA57-D29B-066B-A0E6DE7C5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</p:spPr>
        <p:txBody>
          <a:bodyPr/>
          <a:lstStyle/>
          <a:p>
            <a:r>
              <a:rPr lang="it-IT" dirty="0"/>
              <a:t>Misure di fase FPGA – STM32 su fibra urbana </a:t>
            </a:r>
            <a:r>
              <a:rPr lang="it-IT" dirty="0" err="1"/>
              <a:t>INRiM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D630410-D347-7DF1-19FE-799764A352E3}"/>
              </a:ext>
            </a:extLst>
          </p:cNvPr>
          <p:cNvSpPr txBox="1"/>
          <p:nvPr/>
        </p:nvSpPr>
        <p:spPr>
          <a:xfrm>
            <a:off x="5920740" y="6434160"/>
            <a:ext cx="45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2" name="Segnaposto contenuto 4">
            <a:extLst>
              <a:ext uri="{FF2B5EF4-FFF2-40B4-BE49-F238E27FC236}">
                <a16:creationId xmlns:a16="http://schemas.microsoft.com/office/drawing/2014/main" id="{7AF3A277-D13E-BB3E-788A-C4A7ED416C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2" b="2765"/>
          <a:stretch>
            <a:fillRect/>
          </a:stretch>
        </p:blipFill>
        <p:spPr>
          <a:xfrm>
            <a:off x="1630503" y="931785"/>
            <a:ext cx="8930994" cy="499443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A86DC78-A514-9BE0-8A59-6A68F506E5F9}"/>
              </a:ext>
            </a:extLst>
          </p:cNvPr>
          <p:cNvSpPr txBox="1"/>
          <p:nvPr/>
        </p:nvSpPr>
        <p:spPr>
          <a:xfrm>
            <a:off x="266401" y="5926215"/>
            <a:ext cx="116032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Reference: </a:t>
            </a:r>
            <a:r>
              <a:rPr lang="it-IT" sz="1600" dirty="0">
                <a:hlinkClick r:id="rId3" action="ppaction://hlinkfile"/>
              </a:rPr>
              <a:t>Donadello et al. - 2023 - Embedded Digital </a:t>
            </a:r>
            <a:r>
              <a:rPr lang="it-IT" sz="1600" dirty="0" err="1">
                <a:hlinkClick r:id="rId3" action="ppaction://hlinkfile"/>
              </a:rPr>
              <a:t>Phase</a:t>
            </a:r>
            <a:r>
              <a:rPr lang="it-IT" sz="1600" dirty="0">
                <a:hlinkClick r:id="rId3" action="ppaction://hlinkfile"/>
              </a:rPr>
              <a:t> </a:t>
            </a:r>
            <a:r>
              <a:rPr lang="it-IT" sz="1600" dirty="0" err="1">
                <a:hlinkClick r:id="rId3" action="ppaction://hlinkfile"/>
              </a:rPr>
              <a:t>Noise</a:t>
            </a:r>
            <a:r>
              <a:rPr lang="it-IT" sz="1600" dirty="0">
                <a:hlinkClick r:id="rId3" action="ppaction://hlinkfile"/>
              </a:rPr>
              <a:t> Analyzer for Optical Frequency </a:t>
            </a:r>
            <a:r>
              <a:rPr lang="it-IT" sz="1600" dirty="0" err="1">
                <a:hlinkClick r:id="rId3" action="ppaction://hlinkfile"/>
              </a:rPr>
              <a:t>Metrology</a:t>
            </a:r>
            <a:r>
              <a:rPr lang="it-IT" sz="1600" dirty="0">
                <a:hlinkClick r:id="rId3" action="ppaction://hlinkfile"/>
              </a:rPr>
              <a:t> </a:t>
            </a: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4223474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DB0904-3B4C-6923-3F41-3A1B8BB72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FFT sullo zoom con residui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ACB3521-4D40-92CD-E521-7A72547A94A4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33FE863-53ED-8D84-9A52-7323AE31E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987" y="1064974"/>
            <a:ext cx="9042026" cy="5033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82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it-IT" b="1" kern="120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Props1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ABA873-0994-4738-95F5-BEAE2390D7EB}">
  <ds:schemaRefs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e1991b7f-6b7d-449b-b767-f5f786c869d3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8198</TotalTime>
  <Words>199</Words>
  <Application>Microsoft Office PowerPoint</Application>
  <PresentationFormat>Widescreen</PresentationFormat>
  <Paragraphs>41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Century Gothic</vt:lpstr>
      <vt:lpstr>Poppins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SOP ATE = 4 - 1 kHz</vt:lpstr>
      <vt:lpstr>SOP ATE = 4 - 100 Hz</vt:lpstr>
      <vt:lpstr>Misure di fase FPGA – STM32 su fibra urbana INRiM</vt:lpstr>
      <vt:lpstr>Misure di fase FPGA – STM32 su fibra urbana INRiM</vt:lpstr>
      <vt:lpstr>Misure di fase FPGA – STM32 su fibra urbana INRiM</vt:lpstr>
      <vt:lpstr>FFT sullo zoom con residui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24</cp:revision>
  <cp:lastPrinted>2026-02-17T15:42:05Z</cp:lastPrinted>
  <dcterms:created xsi:type="dcterms:W3CDTF">2021-12-06T14:02:46Z</dcterms:created>
  <dcterms:modified xsi:type="dcterms:W3CDTF">2026-08-28T15:06:10Z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
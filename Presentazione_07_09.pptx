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670" r:id="rId5"/>
    <p:sldMasterId id="2147483682" r:id="rId6"/>
  </p:sldMasterIdLst>
  <p:notesMasterIdLst>
    <p:notesMasterId r:id="rId19"/>
  </p:notesMasterIdLst>
  <p:sldIdLst>
    <p:sldId id="257" r:id="rId7"/>
    <p:sldId id="325" r:id="rId8"/>
    <p:sldId id="312" r:id="rId9"/>
    <p:sldId id="330" r:id="rId10"/>
    <p:sldId id="331" r:id="rId11"/>
    <p:sldId id="332" r:id="rId12"/>
    <p:sldId id="333" r:id="rId13"/>
    <p:sldId id="334" r:id="rId14"/>
    <p:sldId id="335" r:id="rId15"/>
    <p:sldId id="336" r:id="rId16"/>
    <p:sldId id="337" r:id="rId17"/>
    <p:sldId id="298" r:id="rId1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D096607-3EDF-C748-F3C5-0BCE2BE7D64B}" name="Valdes  Francesco" initials="FV" userId="S::s336603@studenti.polito.it::9510d836-c34f-4b3d-99f7-d176dcd01aa2" providerId="AD"/>
  <p188:author id="{DE21A783-8E0F-8A53-51FB-2D350651DA5A}" name="Simula  Andrea" initials="SA" userId="S::s343740@studenti.polito.it::1f5ba827-a014-4841-819a-235f0f92f5e2" providerId="AD"/>
  <p188:author id="{11C6D9AC-1707-2834-E3D0-D89A4B228BE4}" name="Antonucci  Egle" initials="AE" userId="S::s347960@studenti.polito.it::328a1078-1085-4626-805a-fa72594303d8" providerId="AD"/>
  <p188:author id="{E19A88B8-85EA-6FCF-518D-BA63521E15FB}" name="Francesco Valdes" initials="FV" userId="Francesco Valdes" providerId="None"/>
  <p188:author id="{B1C6B2F6-15EB-135A-29F2-61BE7EBC3394}" name="Labarbuta  Sara" initials="SL" userId="S::s333938@studenti.polito.it::c39e784e-0fc8-4f77-863e-5b55f54a53a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rancesco Valdes" initials="FV" lastIdx="7" clrIdx="0">
    <p:extLst>
      <p:ext uri="{19B8F6BF-5375-455C-9EA6-DF929625EA0E}">
        <p15:presenceInfo xmlns:p15="http://schemas.microsoft.com/office/powerpoint/2012/main" userId="Francesco Valde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6AC9"/>
    <a:srgbClr val="000000"/>
    <a:srgbClr val="1212FF"/>
    <a:srgbClr val="FF6F6F"/>
    <a:srgbClr val="FFFFFF"/>
    <a:srgbClr val="00284B"/>
    <a:srgbClr val="185A7D"/>
    <a:srgbClr val="0E1C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531CDF-70D6-4AEF-91E2-1A078360BAF5}" type="datetimeFigureOut">
              <a:rPr lang="it-IT" smtClean="0"/>
              <a:t>02/09/2026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367167-11A0-4F1E-B4C2-F6C904BE8E0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7786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ertura - Titolo presentazio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55988862-B47E-48D4-9426-E775261B7C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11070" cy="685800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E7FA2C98-6DE1-4D78-AE6F-0BAAE6E1D8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5" y="5410098"/>
            <a:ext cx="2166253" cy="952602"/>
          </a:xfrm>
          <a:prstGeom prst="rect">
            <a:avLst/>
          </a:prstGeom>
        </p:spPr>
      </p:pic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27DE37F3-51F4-48BE-8599-73297EEF3BD3}"/>
              </a:ext>
            </a:extLst>
          </p:cNvPr>
          <p:cNvCxnSpPr/>
          <p:nvPr userDrawn="1"/>
        </p:nvCxnSpPr>
        <p:spPr>
          <a:xfrm>
            <a:off x="6705088" y="5410098"/>
            <a:ext cx="1552353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5BB8A5A3-9EC2-4C88-8FAC-05F96F00D7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02817" y="888227"/>
            <a:ext cx="5040000" cy="3024000"/>
          </a:xfrm>
          <a:prstGeom prst="rect">
            <a:avLst/>
          </a:prstGeom>
        </p:spPr>
        <p:txBody>
          <a:bodyPr anchor="b" anchorCtr="0"/>
          <a:lstStyle>
            <a:lvl1pPr marL="0" indent="0">
              <a:buFontTx/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>
              <a:defRPr sz="4800">
                <a:latin typeface="+mj-lt"/>
              </a:defRPr>
            </a:lvl2pPr>
            <a:lvl3pPr>
              <a:defRPr sz="4800">
                <a:latin typeface="+mj-lt"/>
              </a:defRPr>
            </a:lvl3pPr>
            <a:lvl4pPr>
              <a:defRPr sz="4800">
                <a:latin typeface="+mj-lt"/>
              </a:defRPr>
            </a:lvl4pPr>
            <a:lvl5pPr>
              <a:defRPr sz="4800">
                <a:latin typeface="+mj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9" name="Segnaposto testo 9">
            <a:extLst>
              <a:ext uri="{FF2B5EF4-FFF2-40B4-BE49-F238E27FC236}">
                <a16:creationId xmlns:a16="http://schemas.microsoft.com/office/drawing/2014/main" id="{95F7323E-8285-4667-83C4-2BED21A60E3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2413" y="4249738"/>
            <a:ext cx="5040312" cy="10080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</p:spTree>
    <p:extLst>
      <p:ext uri="{BB962C8B-B14F-4D97-AF65-F5344CB8AC3E}">
        <p14:creationId xmlns:p14="http://schemas.microsoft.com/office/powerpoint/2010/main" val="3513604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 sezio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835A83-FEB5-48B4-8C7E-044BE53CC2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3525" y="2682222"/>
            <a:ext cx="11664950" cy="2387600"/>
          </a:xfrm>
        </p:spPr>
        <p:txBody>
          <a:bodyPr anchor="b">
            <a:normAutofit/>
          </a:bodyPr>
          <a:lstStyle>
            <a:lvl1pPr algn="ctr"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2385FDE-6C5D-4896-92DC-B1ADC53894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525" y="5202238"/>
            <a:ext cx="11664950" cy="714468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2EAFFE0D-0C9D-4A48-AED5-33CF7939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00" y="266400"/>
            <a:ext cx="1309846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622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 sezione con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그림 개체 틀 5">
            <a:extLst>
              <a:ext uri="{FF2B5EF4-FFF2-40B4-BE49-F238E27FC236}">
                <a16:creationId xmlns:a16="http://schemas.microsoft.com/office/drawing/2014/main" id="{467B1EFD-3A9D-457D-BBE0-7ACE87EB3F5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78622" y="0"/>
            <a:ext cx="841337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altLang="ko-KR"/>
              <a:t>                                      </a:t>
            </a:r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r>
              <a:rPr lang="en-US" altLang="ko-KR"/>
              <a:t>  </a:t>
            </a:r>
            <a:endParaRPr lang="ko-KR" altLang="en-US"/>
          </a:p>
        </p:txBody>
      </p:sp>
      <p:sp>
        <p:nvSpPr>
          <p:cNvPr id="6" name="Shape 14">
            <a:extLst>
              <a:ext uri="{FF2B5EF4-FFF2-40B4-BE49-F238E27FC236}">
                <a16:creationId xmlns:a16="http://schemas.microsoft.com/office/drawing/2014/main" id="{E6CEB77F-C2FB-412D-ABD2-524F04C33F6A}"/>
              </a:ext>
            </a:extLst>
          </p:cNvPr>
          <p:cNvSpPr/>
          <p:nvPr userDrawn="1"/>
        </p:nvSpPr>
        <p:spPr>
          <a:xfrm flipH="1">
            <a:off x="-7127" y="-1"/>
            <a:ext cx="3779026" cy="68579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8A73D10D-42B2-4140-B143-9E1099C04D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2875" y="260351"/>
            <a:ext cx="3486150" cy="488315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>
              <a:defRPr sz="4000" b="1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1pPr>
            <a:lvl2pPr>
              <a:defRPr sz="4800">
                <a:latin typeface="+mj-lt"/>
              </a:defRPr>
            </a:lvl2pPr>
            <a:lvl3pPr>
              <a:defRPr sz="4800">
                <a:latin typeface="+mj-lt"/>
              </a:defRPr>
            </a:lvl3pPr>
            <a:lvl4pPr>
              <a:defRPr sz="4800">
                <a:latin typeface="+mj-lt"/>
              </a:defRPr>
            </a:lvl4pPr>
            <a:lvl5pPr>
              <a:defRPr sz="4800">
                <a:latin typeface="+mj-lt"/>
              </a:defRPr>
            </a:lvl5pPr>
          </a:lstStyle>
          <a:p>
            <a:pPr lvl="0"/>
            <a:r>
              <a:rPr lang="it-IT"/>
              <a:t>Fare clic per modificare gli stili del titolo</a:t>
            </a:r>
          </a:p>
        </p:txBody>
      </p:sp>
      <p:sp>
        <p:nvSpPr>
          <p:cNvPr id="8" name="Segnaposto testo 9">
            <a:extLst>
              <a:ext uri="{FF2B5EF4-FFF2-40B4-BE49-F238E27FC236}">
                <a16:creationId xmlns:a16="http://schemas.microsoft.com/office/drawing/2014/main" id="{98B74FA1-92E9-41CD-8A30-4D1772522A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2471" y="5290344"/>
            <a:ext cx="3486150" cy="1307306"/>
          </a:xfrm>
          <a:prstGeom prst="rect">
            <a:avLst/>
          </a:prstGeom>
        </p:spPr>
        <p:txBody>
          <a:bodyPr lIns="108000"/>
          <a:lstStyle>
            <a:lvl1pPr>
              <a:defRPr sz="240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it-IT"/>
              <a:t>Fare clic per modificare gli stili del sottotitolo</a:t>
            </a:r>
          </a:p>
        </p:txBody>
      </p:sp>
      <p:pic>
        <p:nvPicPr>
          <p:cNvPr id="9" name="Immagine 8" descr="Immagine che contiene testo&#10;&#10;Descrizione generata automaticamente">
            <a:extLst>
              <a:ext uri="{FF2B5EF4-FFF2-40B4-BE49-F238E27FC236}">
                <a16:creationId xmlns:a16="http://schemas.microsoft.com/office/drawing/2014/main" id="{687AE522-6203-4B27-B07D-312A2F226A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5906" y="266400"/>
            <a:ext cx="1310643" cy="576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923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6F03F2-89AF-42A3-A2AB-51741EB9F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6B3A445-4E39-4C60-BF68-A49E85631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400" y="1548000"/>
            <a:ext cx="11664950" cy="46800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4125241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centrale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108000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>
            <a:lvl1pPr algn="ctr">
              <a:defRPr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BFC0353-3BF7-4026-97BB-6EA39F4991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6400" y="1548000"/>
            <a:ext cx="11662075" cy="4680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106753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399" y="180000"/>
            <a:ext cx="11662075" cy="1188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541020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5432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usura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72F68884-7283-48EF-B315-53827BAF1A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5" y="5410098"/>
            <a:ext cx="2166253" cy="95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531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CEA121-D4F4-AFB1-2345-C7D049792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6BBF7D7-D49F-ECBD-DC59-A96E2E7376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2E9F937-9DFB-09DD-AA67-4B3D79699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AA8732A-BB68-46BF-0AFB-AFF1C081B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52F4968-AB94-B47C-C5D5-E9C03555E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6856D-B2AF-4904-A6A1-AEDA9836873B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0773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BA28E2-1398-78AA-EBD8-D33C2C6F5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6A3AA39-64D5-1628-362E-CB8355949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D6DB6A-8FCC-2096-31CB-A76E92843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E21815-5C86-C1DB-08B1-84AA72C50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7D1D657-2A20-A7E5-93BA-7536E1417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6856D-B2AF-4904-A6A1-AEDA9836873B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0361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A090DA-76E4-4210-180C-38F0F485F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D625104-F349-5E4D-612A-4F25F697F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0B2B4E5-505C-3480-E048-A91DDA8DB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DD34B75-DBC2-5C08-D802-9EC65696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3285659-5E19-9BB5-9AF2-E2A2290E8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6856D-B2AF-4904-A6A1-AEDA9836873B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9956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D1F525B-9A6F-EFE0-C0F5-B5DB8BF0F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F2B064E-6075-56F4-17B2-B95B4350DB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8F99735-D3CD-1D5E-2017-BBD60125C5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7ACCC6D-CC7F-F4A1-BE81-89369B95B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F905935-460C-6888-8642-417E0CFAF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8F5C22A-BB35-FFFF-C37B-8BC861E25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6856D-B2AF-4904-A6A1-AEDA9836873B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34825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BDE178-D849-A7CD-D129-7BC399114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3188252-0ED0-A896-3F9C-05DFDA8CB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FB9AC22-2DFD-EF90-F2D2-DDA69E78FA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BE6B6A5-7DFD-EE94-CB95-FAABF0163F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044DF8F-A6CB-AA98-AE52-F3CA7D199D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982B0BE3-31C8-09A3-83B9-3A41FDF53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6A34304-E43B-03A1-4C0E-7498436EB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C255B7E-1097-5346-7723-882505E70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6856D-B2AF-4904-A6A1-AEDA9836873B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29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935744-315A-FD7B-6284-8EB6AABEB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EBDAE383-2B02-96A2-76AE-FFC54B0DD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B0C1898-1A31-8ED1-32C6-1D93E8C96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A57E81C-60DC-DE3D-4B43-F63276472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6856D-B2AF-4904-A6A1-AEDA9836873B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06190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DA3DFDF-ACDB-5C84-4CB3-D3766A16C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A11A769-47DB-E668-DC34-E75CBF1F4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4452A54-0A3C-EDE7-B530-184A6363C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6856D-B2AF-4904-A6A1-AEDA9836873B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17891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E803C3-EFAA-1CC3-DB90-40AA58230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2A95798-0FB5-9F77-9091-C901A047B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C4E4C06-080A-BF37-CF00-24ACB51A3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5CFDA23-4794-5C06-6CD3-0320FC9DB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BB12D42-5E25-5395-D70E-85AF0A964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ADDF37B-8271-DD6D-45E3-9FEE76A4C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6856D-B2AF-4904-A6A1-AEDA9836873B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20076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5312CF-C1D4-80E8-655D-4D3FB99A8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33922B0-3194-115A-D1F7-5C0BA1822B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CBFE518-6248-1DFB-4F73-36E03861B7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AE9B10F-CF29-8B7C-D2C1-9C0949E93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71E0853-69C5-AFFF-8588-29BD995A9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B47D7E5-F257-2DF3-657C-36F2D3A8E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6856D-B2AF-4904-A6A1-AEDA9836873B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34961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7F467D3-BFE8-84AF-D470-3C5EAC121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120B97B-6A67-3D77-E066-27716B22C5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59E8D8F-5B90-D4AB-85F5-8368F25E7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4D9E13A-65C8-B1A2-73FF-AF4F56883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4E47770-7712-6948-C953-A2C245A34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6856D-B2AF-4904-A6A1-AEDA9836873B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95988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0B2C6C5-678F-8E05-A8F4-367C80384D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66EB95F-6B85-BCEF-BCFB-3E3C8986A7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A44B9F6-141D-C864-F32E-A4EBC5871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A75EF0C-5224-5AB2-B5CF-873131486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FBC8C5C-6F78-B109-FA94-B22D5A14F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6856D-B2AF-4904-A6A1-AEDA9836873B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798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7DE692E-DFD1-D62A-FB76-01B11C790F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2F74D53-93EF-9876-2CBA-119CA82055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37281B-0985-4C2E-D1DE-5F7790A4B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F750-697A-42EE-BA8B-A382A30B9D4A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A6F0AAF-3412-31ED-2A7C-20FBFEABF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1F07095-AF22-DFC4-7D4C-CE603BF14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ADDB-8F6C-44DC-A85A-50910ABB5A9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87543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68D79B-DA0F-E6C1-35BD-7E307FDE3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D41629F-FAE5-6D7D-E815-42FC11DD2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862B666-24DE-82EE-D969-FD54064A2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F750-697A-42EE-BA8B-A382A30B9D4A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992C839-7FFB-FC75-7586-FFFF88A48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0949D49-3631-7FF9-6753-1439290F6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ADDB-8F6C-44DC-A85A-50910ABB5A9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8225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1C9543-17D1-EA14-7572-3F922967C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D1FF8F7-EE6C-19EB-FCF9-9A0F588E53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AD013F5-2312-B60D-439F-CAE1E7014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F750-697A-42EE-BA8B-A382A30B9D4A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01C959A-ED53-06D1-4F05-09B468041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A5C2096-6FDE-5F01-1946-7468571E3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ADDB-8F6C-44DC-A85A-50910ABB5A9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27686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EC5A52-9069-BE9E-8E34-259A73213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8DE8868-839C-BDBC-A659-460EDE5790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FA54D75-755A-3F61-5CF4-D8F7C31675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8BE9A11-A381-6731-5786-0C7C4B2CE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F750-697A-42EE-BA8B-A382A30B9D4A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2F03E87-05F8-8848-4FA5-9AAF42623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9387E04-00BB-7D3A-ECC7-ACA670E64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ADDB-8F6C-44DC-A85A-50910ABB5A9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2261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FD3637-B2A5-27D9-1BDD-B15DCBFF5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5CB23E4-2ACB-9B9D-95F4-100810B18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CA2AEFC-B34F-322A-979A-1DE57BDD26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E73030EE-7B3C-EE8B-FA38-BD7E89F9C0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84B717C-93DB-3451-A8B8-AA88A22F6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EC7AD44-2609-6F3C-02AE-9F1525A96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F750-697A-42EE-BA8B-A382A30B9D4A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71159DFE-653B-8C5F-6238-ACC40753D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FB372434-3787-DC2B-A6C2-D953B94AD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ADDB-8F6C-44DC-A85A-50910ABB5A9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91094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A05DF1-C5F2-B28A-CEF7-4A5783C76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49F99B8-6A9E-446A-4045-31FF83F33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F750-697A-42EE-BA8B-A382A30B9D4A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8306094-A81E-24C3-3162-8A1EB7234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27E33CE-D29E-160D-7A29-205103775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ADDB-8F6C-44DC-A85A-50910ABB5A9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31383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11161E5A-3FAC-9910-B9DE-83F981AD1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F750-697A-42EE-BA8B-A382A30B9D4A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EF48B12-F60C-A323-2C42-A81E3FFFF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5075122-A7EF-0FD1-3A35-B6D9272EF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ADDB-8F6C-44DC-A85A-50910ABB5A9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83396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AB4AEE-752A-4047-5AC1-F09C86D94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F6EAE6A-FFD8-FF85-D64D-419939228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2DF64AC-AA2D-B1B0-8ED1-92D25AB571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E06764B-2361-D2AC-88D5-38FB6FC2C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F750-697A-42EE-BA8B-A382A30B9D4A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383AF9D-C241-7BF4-C2C2-6E452F311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E09997A-99BD-C930-BB5B-A9F62BA0B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ADDB-8F6C-44DC-A85A-50910ABB5A9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069759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F83FD1-6A2D-6CE8-F579-114A58CD2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BBF124B-2D53-3500-98EA-FCE7448062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0091010-5F10-24BC-CFBF-CC23172EB9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3587B6F-756B-8C69-683F-720946AF2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F750-697A-42EE-BA8B-A382A30B9D4A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6E66654-E189-5DE2-3306-8E703EBA0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34F1D76-F416-02DD-2B70-403F16B64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ADDB-8F6C-44DC-A85A-50910ABB5A9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513038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AF3C3B6-2964-22A4-D4E8-4902372C0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0A3BAF1-D74E-4A0D-6D38-6912EB5BB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B42E636-BBF1-BAA9-E08F-7F9377B8B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F750-697A-42EE-BA8B-A382A30B9D4A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1FDE9D-9B21-E450-A9F2-FD45DB27A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0C1EB19-7BAB-B97D-3453-8E222BAFC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ADDB-8F6C-44DC-A85A-50910ABB5A9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85946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6AC84F44-7336-BC11-6278-73B7FAA0A6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FBC00EE-AB41-635E-CE5E-9AE5301A3E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5F5FC73-5D75-BD83-CE6D-3D4AAA9F1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F750-697A-42EE-BA8B-A382A30B9D4A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A002BF-2B56-7E02-7D15-3CA6C62E0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32CB888-3A0B-535E-9FA5-A474E4E3E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ADDB-8F6C-44DC-A85A-50910ABB5A9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1741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CB7020CC-1F43-4307-885B-9C5B8595FB35}"/>
              </a:ext>
            </a:extLst>
          </p:cNvPr>
          <p:cNvSpPr/>
          <p:nvPr userDrawn="1"/>
        </p:nvSpPr>
        <p:spPr bwMode="auto">
          <a:xfrm>
            <a:off x="0" y="6308725"/>
            <a:ext cx="12192000" cy="549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21525B60-4CE1-4B14-BFEA-0C3F4F112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4950" cy="1080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DD3A30F-644A-447F-AE26-65EEFAD48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400" y="1533167"/>
            <a:ext cx="11664950" cy="468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5B17C92E-8ADD-4880-9C12-BC8CB27C40E9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00" y="6400800"/>
            <a:ext cx="818653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992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49" r:id="rId2"/>
    <p:sldLayoutId id="2147483653" r:id="rId3"/>
    <p:sldLayoutId id="2147483650" r:id="rId4"/>
    <p:sldLayoutId id="2147483654" r:id="rId5"/>
    <p:sldLayoutId id="2147483664" r:id="rId6"/>
    <p:sldLayoutId id="2147483669" r:id="rId7"/>
    <p:sldLayoutId id="2147483652" r:id="rId8"/>
  </p:sldLayoutIdLst>
  <p:hf hdr="0" ftr="0" dt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3600" b="1" kern="1200">
          <a:solidFill>
            <a:schemeClr val="tx2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›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166" userDrawn="1">
          <p15:clr>
            <a:srgbClr val="F26B43"/>
          </p15:clr>
        </p15:guide>
        <p15:guide id="4" pos="7514" userDrawn="1">
          <p15:clr>
            <a:srgbClr val="F26B43"/>
          </p15:clr>
        </p15:guide>
        <p15:guide id="5" orient="horz" pos="164" userDrawn="1">
          <p15:clr>
            <a:srgbClr val="F26B43"/>
          </p15:clr>
        </p15:guide>
        <p15:guide id="6" orient="horz" pos="415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5998156-AA1D-BBBC-73A6-C6E96B686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4AF7478-7885-4721-934A-4C6186DCB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7C3FA1-09A7-DEA9-BC1A-B22324396E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37742C4-3F84-16B2-1A07-21231193B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2FED905-EF30-89F5-97FE-9947541C5D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66856D-B2AF-4904-A6A1-AEDA9836873B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3214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1C223A8-5808-E6F1-7B89-C47EC7B70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2CD333E-6F3D-61F9-F101-D6E797C0E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D3227AB-E5D6-9ADA-19E3-7AF0EAD00C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AAF750-697A-42EE-BA8B-A382A30B9D4A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576815F-9E5D-5540-37F1-269E4C4857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D95D056-5766-0A2E-2148-CAE9E1BC3A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FDADDB-8F6C-44DC-A85A-50910ABB5A9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230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hyperlink" Target="03%20-%20Donadello%20et%20al.%20-%202023%20-%20Embedded%20Digital%20Phase%20Noise%20Analyzer%20for%20Optical%20Frequency%20Metrology.pdf" TargetMode="External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B9911FF0-5115-413C-A149-CF162B8BAC3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4884" y="299846"/>
            <a:ext cx="10040815" cy="2997037"/>
          </a:xfrm>
        </p:spPr>
        <p:txBody>
          <a:bodyPr/>
          <a:lstStyle/>
          <a:p>
            <a:pPr algn="ctr"/>
            <a:r>
              <a:rPr lang="it-IT" sz="3200" dirty="0"/>
              <a:t>Acquisizione Sincronizzata per Dati di SOP e Fase</a:t>
            </a:r>
          </a:p>
          <a:p>
            <a:pPr algn="ctr"/>
            <a:r>
              <a:rPr lang="it-IT" sz="2400" dirty="0"/>
              <a:t>Validazione Sperimentale su Collegamento Urbano</a:t>
            </a:r>
            <a:r>
              <a:rPr lang="it-IT" sz="2400" dirty="0">
                <a:solidFill>
                  <a:srgbClr val="FFFFFF"/>
                </a:solidFill>
              </a:rPr>
              <a:t> </a:t>
            </a:r>
            <a:endParaRPr lang="it-IT" sz="2400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1195D0B-8BF5-42BC-AF0D-9E67A4661F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23496" y="3452031"/>
            <a:ext cx="5350193" cy="2418730"/>
          </a:xfrm>
          <a:ln>
            <a:solidFill>
              <a:srgbClr val="00284B"/>
            </a:solidFill>
          </a:ln>
        </p:spPr>
        <p:txBody>
          <a:bodyPr/>
          <a:lstStyle/>
          <a:p>
            <a:pPr algn="ctr"/>
            <a:r>
              <a:rPr lang="it-IT" dirty="0" err="1"/>
              <a:t>Student</a:t>
            </a:r>
            <a:r>
              <a:rPr lang="it-IT" dirty="0"/>
              <a:t>:</a:t>
            </a:r>
          </a:p>
          <a:p>
            <a:pPr algn="ctr"/>
            <a:r>
              <a:rPr lang="it-IT" dirty="0">
                <a:solidFill>
                  <a:srgbClr val="FFFFFF"/>
                </a:solidFill>
              </a:rPr>
              <a:t>Egle Antonucci s347960</a:t>
            </a:r>
          </a:p>
          <a:p>
            <a:pPr algn="ctr"/>
            <a:endParaRPr lang="it-IT" dirty="0">
              <a:solidFill>
                <a:srgbClr val="FFFFFF"/>
              </a:solidFill>
            </a:endParaRPr>
          </a:p>
          <a:p>
            <a:pPr algn="ctr"/>
            <a:endParaRPr lang="it-IT" dirty="0">
              <a:solidFill>
                <a:srgbClr val="FFFFFF"/>
              </a:solidFill>
            </a:endParaRPr>
          </a:p>
          <a:p>
            <a:pPr algn="ctr"/>
            <a:endParaRPr lang="it-IT" dirty="0"/>
          </a:p>
        </p:txBody>
      </p:sp>
      <p:sp>
        <p:nvSpPr>
          <p:cNvPr id="4" name="Segnaposto testo 2">
            <a:extLst>
              <a:ext uri="{FF2B5EF4-FFF2-40B4-BE49-F238E27FC236}">
                <a16:creationId xmlns:a16="http://schemas.microsoft.com/office/drawing/2014/main" id="{F49CAC83-F9A4-F3FA-5F94-147CC8841FE7}"/>
              </a:ext>
            </a:extLst>
          </p:cNvPr>
          <p:cNvSpPr txBox="1">
            <a:spLocks/>
          </p:cNvSpPr>
          <p:nvPr/>
        </p:nvSpPr>
        <p:spPr>
          <a:xfrm>
            <a:off x="3416941" y="6041571"/>
            <a:ext cx="4992273" cy="5165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/>
              <a:t>A.Y. 2025-26</a:t>
            </a:r>
          </a:p>
        </p:txBody>
      </p:sp>
      <p:sp>
        <p:nvSpPr>
          <p:cNvPr id="6" name="Subtitle 6">
            <a:extLst>
              <a:ext uri="{FF2B5EF4-FFF2-40B4-BE49-F238E27FC236}">
                <a16:creationId xmlns:a16="http://schemas.microsoft.com/office/drawing/2014/main" id="{15B817CE-4F00-D732-F214-C30029668C62}"/>
              </a:ext>
            </a:extLst>
          </p:cNvPr>
          <p:cNvSpPr txBox="1">
            <a:spLocks/>
          </p:cNvSpPr>
          <p:nvPr/>
        </p:nvSpPr>
        <p:spPr>
          <a:xfrm>
            <a:off x="0" y="3718878"/>
            <a:ext cx="11664950" cy="71446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Full title of the project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B4658435-E4E7-E307-9D74-E020543342F2}"/>
              </a:ext>
            </a:extLst>
          </p:cNvPr>
          <p:cNvSpPr/>
          <p:nvPr/>
        </p:nvSpPr>
        <p:spPr>
          <a:xfrm>
            <a:off x="6623496" y="5382944"/>
            <a:ext cx="1790219" cy="61993"/>
          </a:xfrm>
          <a:prstGeom prst="rect">
            <a:avLst/>
          </a:prstGeom>
          <a:solidFill>
            <a:srgbClr val="0028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Segnaposto testo 2">
            <a:extLst>
              <a:ext uri="{FF2B5EF4-FFF2-40B4-BE49-F238E27FC236}">
                <a16:creationId xmlns:a16="http://schemas.microsoft.com/office/drawing/2014/main" id="{F0524A07-9646-DBFC-F50B-03FB04B60DDD}"/>
              </a:ext>
            </a:extLst>
          </p:cNvPr>
          <p:cNvSpPr txBox="1">
            <a:spLocks/>
          </p:cNvSpPr>
          <p:nvPr/>
        </p:nvSpPr>
        <p:spPr>
          <a:xfrm>
            <a:off x="0" y="3452031"/>
            <a:ext cx="5350193" cy="2418730"/>
          </a:xfrm>
          <a:prstGeom prst="rect">
            <a:avLst/>
          </a:prstGeom>
          <a:ln>
            <a:solidFill>
              <a:srgbClr val="00284B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dirty="0"/>
              <a:t>Professors:</a:t>
            </a:r>
          </a:p>
          <a:p>
            <a:pPr algn="ctr"/>
            <a:r>
              <a:rPr lang="it-IT" dirty="0"/>
              <a:t>Vittorio Curri</a:t>
            </a:r>
          </a:p>
          <a:p>
            <a:pPr algn="ctr"/>
            <a:r>
              <a:rPr lang="it-IT" dirty="0"/>
              <a:t>Cecilia Clivati </a:t>
            </a:r>
          </a:p>
          <a:p>
            <a:pPr algn="ctr"/>
            <a:endParaRPr lang="it-IT" dirty="0">
              <a:solidFill>
                <a:srgbClr val="FFFFFF"/>
              </a:solidFill>
            </a:endParaRPr>
          </a:p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90782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DFBDDAA-5EE7-4ECA-9A44-C6567F551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295747"/>
            <a:ext cx="11664950" cy="1080000"/>
          </a:xfrm>
        </p:spPr>
        <p:txBody>
          <a:bodyPr/>
          <a:lstStyle/>
          <a:p>
            <a:r>
              <a:rPr lang="it-IT"/>
              <a:t>Obiettivo </a:t>
            </a: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ACFBCC0-65F0-525F-B5AE-E3C8D23B6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61" y="3035120"/>
            <a:ext cx="3888277" cy="1496352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FB1893F5-38D5-0F78-B4B1-A85631CB592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9896" t="9747"/>
          <a:stretch>
            <a:fillRect/>
          </a:stretch>
        </p:blipFill>
        <p:spPr>
          <a:xfrm>
            <a:off x="5137076" y="3023000"/>
            <a:ext cx="2496968" cy="1638516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41EE7CE6-8E7E-0D77-58A2-746835326B1F}"/>
              </a:ext>
            </a:extLst>
          </p:cNvPr>
          <p:cNvSpPr txBox="1"/>
          <p:nvPr/>
        </p:nvSpPr>
        <p:spPr>
          <a:xfrm>
            <a:off x="521677" y="4800095"/>
            <a:ext cx="38641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dirty="0">
                <a:solidFill>
                  <a:srgbClr val="404040"/>
                </a:solidFill>
                <a:latin typeface="Poppins" panose="020B0502040204020203" pitchFamily="2" charset="0"/>
              </a:rPr>
              <a:t>PM1000 </a:t>
            </a:r>
            <a:r>
              <a:rPr lang="it-IT" sz="2000" dirty="0" err="1">
                <a:solidFill>
                  <a:srgbClr val="404040"/>
                </a:solidFill>
                <a:latin typeface="Poppins" panose="020B0502040204020203" pitchFamily="2" charset="0"/>
              </a:rPr>
              <a:t>Polarimeter</a:t>
            </a:r>
            <a:r>
              <a:rPr lang="it-IT" sz="2000" dirty="0">
                <a:solidFill>
                  <a:srgbClr val="404040"/>
                </a:solidFill>
                <a:latin typeface="Poppins" panose="020B0502040204020203" pitchFamily="2" charset="0"/>
              </a:rPr>
              <a:t> </a:t>
            </a:r>
            <a:r>
              <a:rPr lang="it-IT" sz="2000" dirty="0" err="1">
                <a:solidFill>
                  <a:srgbClr val="404040"/>
                </a:solidFill>
                <a:latin typeface="Poppins" panose="020B0502040204020203" pitchFamily="2" charset="0"/>
              </a:rPr>
              <a:t>Novoptel</a:t>
            </a:r>
            <a:endParaRPr lang="it-IT" sz="2000" dirty="0">
              <a:solidFill>
                <a:srgbClr val="404040"/>
              </a:solidFill>
              <a:latin typeface="Poppins" panose="020B0502040204020203" pitchFamily="2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74446A5-5F89-6C29-3470-D9AE2D8EB5DC}"/>
              </a:ext>
            </a:extLst>
          </p:cNvPr>
          <p:cNvSpPr txBox="1"/>
          <p:nvPr/>
        </p:nvSpPr>
        <p:spPr>
          <a:xfrm>
            <a:off x="4494952" y="4800095"/>
            <a:ext cx="38641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b="0" i="0" dirty="0" err="1">
                <a:solidFill>
                  <a:srgbClr val="404040"/>
                </a:solidFill>
                <a:effectLst/>
                <a:latin typeface="Poppins" panose="020B0502040204020203" pitchFamily="2" charset="0"/>
              </a:rPr>
              <a:t>RedPitaya</a:t>
            </a:r>
            <a:r>
              <a:rPr lang="it-IT" sz="2000" b="0" i="0" dirty="0">
                <a:solidFill>
                  <a:srgbClr val="404040"/>
                </a:solidFill>
                <a:effectLst/>
                <a:latin typeface="Poppins" panose="020B0502040204020203" pitchFamily="2" charset="0"/>
              </a:rPr>
              <a:t> </a:t>
            </a:r>
            <a:r>
              <a:rPr lang="it-IT" sz="2000" b="0" i="0" dirty="0" err="1">
                <a:solidFill>
                  <a:srgbClr val="404040"/>
                </a:solidFill>
                <a:effectLst/>
                <a:latin typeface="Poppins" panose="020B0502040204020203" pitchFamily="2" charset="0"/>
              </a:rPr>
              <a:t>SIGNALlab</a:t>
            </a:r>
            <a:r>
              <a:rPr lang="it-IT" sz="2000" b="0" i="0" dirty="0">
                <a:solidFill>
                  <a:srgbClr val="404040"/>
                </a:solidFill>
                <a:effectLst/>
                <a:latin typeface="Poppins" panose="020B0502040204020203" pitchFamily="2" charset="0"/>
              </a:rPr>
              <a:t> 250-12</a:t>
            </a:r>
            <a:endParaRPr lang="it-IT" sz="20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F00B2F2-2743-134D-FBA7-85FA2C29F0A6}"/>
              </a:ext>
            </a:extLst>
          </p:cNvPr>
          <p:cNvSpPr txBox="1"/>
          <p:nvPr/>
        </p:nvSpPr>
        <p:spPr>
          <a:xfrm>
            <a:off x="5920740" y="6434160"/>
            <a:ext cx="35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2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B29C6C0E-AFE6-6B13-B3EC-ACDB21DFCB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" t="26923" r="3094" b="15641"/>
          <a:stretch>
            <a:fillRect/>
          </a:stretch>
        </p:blipFill>
        <p:spPr>
          <a:xfrm>
            <a:off x="8662153" y="2491991"/>
            <a:ext cx="1862572" cy="2039481"/>
          </a:xfrm>
          <a:prstGeom prst="rect">
            <a:avLst/>
          </a:prstGeom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8E091966-16A9-08F6-C2C1-7C4CF9804AB6}"/>
              </a:ext>
            </a:extLst>
          </p:cNvPr>
          <p:cNvSpPr txBox="1"/>
          <p:nvPr/>
        </p:nvSpPr>
        <p:spPr>
          <a:xfrm>
            <a:off x="8790443" y="4800095"/>
            <a:ext cx="17342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dirty="0">
                <a:solidFill>
                  <a:srgbClr val="404040"/>
                </a:solidFill>
                <a:latin typeface="Poppins" panose="020B0502040204020203" pitchFamily="2" charset="0"/>
              </a:rPr>
              <a:t>STM32H745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75EBA15B-7535-18B6-5666-3108FC5BAC60}"/>
              </a:ext>
            </a:extLst>
          </p:cNvPr>
          <p:cNvSpPr txBox="1"/>
          <p:nvPr/>
        </p:nvSpPr>
        <p:spPr>
          <a:xfrm>
            <a:off x="263525" y="1018365"/>
            <a:ext cx="115972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Sviluppare un sistema di acquisizione integrato e validato per la misura simultanea di SOP e fase su fibra, in cui un polarimetro e un analizzatore di fase operano sincronizzati su un'unica base temporale, progettato per esperimenti di lunga durata in condizioni reali.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C6A48B2B-15D5-92C9-FFB4-8221684924CB}"/>
              </a:ext>
            </a:extLst>
          </p:cNvPr>
          <p:cNvSpPr txBox="1"/>
          <p:nvPr/>
        </p:nvSpPr>
        <p:spPr>
          <a:xfrm>
            <a:off x="0" y="5902038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750" dirty="0"/>
              <a:t>Reference: </a:t>
            </a:r>
            <a:r>
              <a:rPr lang="it-IT" sz="1750" dirty="0">
                <a:hlinkClick r:id="rId5" action="ppaction://hlinkfile"/>
              </a:rPr>
              <a:t>Donadello et al. - 2023 - Embedded Digital </a:t>
            </a:r>
            <a:r>
              <a:rPr lang="it-IT" sz="1750" dirty="0" err="1">
                <a:hlinkClick r:id="rId5" action="ppaction://hlinkfile"/>
              </a:rPr>
              <a:t>Phase</a:t>
            </a:r>
            <a:r>
              <a:rPr lang="it-IT" sz="1750" dirty="0">
                <a:hlinkClick r:id="rId5" action="ppaction://hlinkfile"/>
              </a:rPr>
              <a:t> </a:t>
            </a:r>
            <a:r>
              <a:rPr lang="it-IT" sz="1750" dirty="0" err="1">
                <a:hlinkClick r:id="rId5" action="ppaction://hlinkfile"/>
              </a:rPr>
              <a:t>Noise</a:t>
            </a:r>
            <a:r>
              <a:rPr lang="it-IT" sz="1750" dirty="0">
                <a:hlinkClick r:id="rId5" action="ppaction://hlinkfile"/>
              </a:rPr>
              <a:t> Analyzer for Optical Frequency </a:t>
            </a:r>
            <a:r>
              <a:rPr lang="it-IT" sz="1750" dirty="0" err="1">
                <a:hlinkClick r:id="rId5" action="ppaction://hlinkfile"/>
              </a:rPr>
              <a:t>Metrology</a:t>
            </a:r>
            <a:r>
              <a:rPr lang="it-IT" sz="1750" dirty="0">
                <a:hlinkClick r:id="rId5" action="ppaction://hlinkfile"/>
              </a:rPr>
              <a:t> </a:t>
            </a:r>
            <a:endParaRPr lang="it-IT" sz="1750" dirty="0"/>
          </a:p>
        </p:txBody>
      </p:sp>
    </p:spTree>
    <p:extLst>
      <p:ext uri="{BB962C8B-B14F-4D97-AF65-F5344CB8AC3E}">
        <p14:creationId xmlns:p14="http://schemas.microsoft.com/office/powerpoint/2010/main" val="120020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E5BB38-2887-36EB-36F7-C7C26864C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Schema di </a:t>
            </a:r>
            <a:r>
              <a:rPr lang="it-IT" dirty="0" err="1"/>
              <a:t>timestamping</a:t>
            </a:r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61B6DA38-280F-6DC3-BA85-00F8FDA92F99}"/>
              </a:ext>
            </a:extLst>
          </p:cNvPr>
          <p:cNvSpPr txBox="1"/>
          <p:nvPr/>
        </p:nvSpPr>
        <p:spPr>
          <a:xfrm>
            <a:off x="5920740" y="6434160"/>
            <a:ext cx="35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8" name="Ovale 7">
            <a:extLst>
              <a:ext uri="{FF2B5EF4-FFF2-40B4-BE49-F238E27FC236}">
                <a16:creationId xmlns:a16="http://schemas.microsoft.com/office/drawing/2014/main" id="{D7475621-75B2-C3D5-2DFE-0EEB14DB0A7C}"/>
              </a:ext>
            </a:extLst>
          </p:cNvPr>
          <p:cNvSpPr/>
          <p:nvPr/>
        </p:nvSpPr>
        <p:spPr>
          <a:xfrm>
            <a:off x="2161238" y="3307666"/>
            <a:ext cx="703385" cy="738554"/>
          </a:xfrm>
          <a:prstGeom prst="ellips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it-IT" sz="280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82FCD021-D2FC-B3E0-42A9-ABEA5B47EDD3}"/>
              </a:ext>
            </a:extLst>
          </p:cNvPr>
          <p:cNvCxnSpPr>
            <a:cxnSpLocks/>
          </p:cNvCxnSpPr>
          <p:nvPr/>
        </p:nvCxnSpPr>
        <p:spPr>
          <a:xfrm flipV="1">
            <a:off x="2864623" y="2621866"/>
            <a:ext cx="1415560" cy="1072661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stealth" w="lg" len="lg"/>
          </a:ln>
        </p:spPr>
      </p:cxnSp>
      <p:cxnSp>
        <p:nvCxnSpPr>
          <p:cNvPr id="17" name="Connettore 2 8">
            <a:extLst>
              <a:ext uri="{FF2B5EF4-FFF2-40B4-BE49-F238E27FC236}">
                <a16:creationId xmlns:a16="http://schemas.microsoft.com/office/drawing/2014/main" id="{53E15849-5A27-2666-D3AD-117CA1E17AB5}"/>
              </a:ext>
            </a:extLst>
          </p:cNvPr>
          <p:cNvCxnSpPr>
            <a:cxnSpLocks/>
          </p:cNvCxnSpPr>
          <p:nvPr/>
        </p:nvCxnSpPr>
        <p:spPr>
          <a:xfrm rot="16200000" flipH="1">
            <a:off x="3389962" y="3876968"/>
            <a:ext cx="1072662" cy="707780"/>
          </a:xfrm>
          <a:prstGeom prst="bentConnector3">
            <a:avLst>
              <a:gd name="adj1" fmla="val 100000"/>
            </a:avLst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stealth" w="lg" len="lg"/>
          </a:ln>
        </p:spPr>
      </p:cxn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69F4A346-81FE-D370-66EB-1A4A00C6DF72}"/>
              </a:ext>
            </a:extLst>
          </p:cNvPr>
          <p:cNvSpPr/>
          <p:nvPr/>
        </p:nvSpPr>
        <p:spPr>
          <a:xfrm>
            <a:off x="4485924" y="2317516"/>
            <a:ext cx="1415560" cy="608700"/>
          </a:xfrm>
          <a:prstGeom prst="round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it-IT" sz="28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1B7E37F7-7C25-C181-A140-0E3FB144A642}"/>
              </a:ext>
            </a:extLst>
          </p:cNvPr>
          <p:cNvSpPr txBox="1"/>
          <p:nvPr/>
        </p:nvSpPr>
        <p:spPr>
          <a:xfrm>
            <a:off x="4464823" y="2416541"/>
            <a:ext cx="1436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FPGA</a:t>
            </a:r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D8628DF1-E71D-5A4A-DA90-49AEDE0BBC45}"/>
              </a:ext>
            </a:extLst>
          </p:cNvPr>
          <p:cNvSpPr/>
          <p:nvPr/>
        </p:nvSpPr>
        <p:spPr>
          <a:xfrm>
            <a:off x="4485924" y="4462840"/>
            <a:ext cx="1415560" cy="608700"/>
          </a:xfrm>
          <a:prstGeom prst="round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it-IT" sz="28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862C8844-8D35-D039-93D8-A86DA574FDC1}"/>
              </a:ext>
            </a:extLst>
          </p:cNvPr>
          <p:cNvSpPr txBox="1"/>
          <p:nvPr/>
        </p:nvSpPr>
        <p:spPr>
          <a:xfrm>
            <a:off x="4454271" y="4582523"/>
            <a:ext cx="1436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STM32</a:t>
            </a:r>
          </a:p>
        </p:txBody>
      </p:sp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955E9B01-E987-40A1-7D77-2808E824E579}"/>
              </a:ext>
            </a:extLst>
          </p:cNvPr>
          <p:cNvSpPr/>
          <p:nvPr/>
        </p:nvSpPr>
        <p:spPr>
          <a:xfrm>
            <a:off x="4310077" y="2155874"/>
            <a:ext cx="1767254" cy="3050929"/>
          </a:xfrm>
          <a:prstGeom prst="roundRect">
            <a:avLst/>
          </a:prstGeom>
          <a:noFill/>
          <a:ln w="38100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it-IT" sz="2800">
              <a:latin typeface="+mj-lt"/>
            </a:endParaRPr>
          </a:p>
        </p:txBody>
      </p:sp>
      <p:cxnSp>
        <p:nvCxnSpPr>
          <p:cNvPr id="30" name="Connettore 2 8">
            <a:extLst>
              <a:ext uri="{FF2B5EF4-FFF2-40B4-BE49-F238E27FC236}">
                <a16:creationId xmlns:a16="http://schemas.microsoft.com/office/drawing/2014/main" id="{B141780D-1047-6080-126C-5CF4C289812A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6056230" y="2607767"/>
            <a:ext cx="3004039" cy="14691"/>
          </a:xfrm>
          <a:prstGeom prst="straightConnector1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stealth" w="lg" len="lg"/>
          </a:ln>
        </p:spPr>
      </p:cxnSp>
      <p:cxnSp>
        <p:nvCxnSpPr>
          <p:cNvPr id="31" name="Connettore 2 8">
            <a:extLst>
              <a:ext uri="{FF2B5EF4-FFF2-40B4-BE49-F238E27FC236}">
                <a16:creationId xmlns:a16="http://schemas.microsoft.com/office/drawing/2014/main" id="{C3745524-41A4-F0D1-901D-A2C675CBE4F7}"/>
              </a:ext>
            </a:extLst>
          </p:cNvPr>
          <p:cNvCxnSpPr>
            <a:cxnSpLocks/>
          </p:cNvCxnSpPr>
          <p:nvPr/>
        </p:nvCxnSpPr>
        <p:spPr>
          <a:xfrm rot="5400000">
            <a:off x="5825812" y="2873829"/>
            <a:ext cx="2165983" cy="1620741"/>
          </a:xfrm>
          <a:prstGeom prst="bentConnector3">
            <a:avLst>
              <a:gd name="adj1" fmla="val 99956"/>
            </a:avLst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stealth" w="lg" len="lg"/>
          </a:ln>
        </p:spPr>
      </p:cxnSp>
      <p:sp>
        <p:nvSpPr>
          <p:cNvPr id="48" name="Rettangolo con angoli arrotondati 47">
            <a:extLst>
              <a:ext uri="{FF2B5EF4-FFF2-40B4-BE49-F238E27FC236}">
                <a16:creationId xmlns:a16="http://schemas.microsoft.com/office/drawing/2014/main" id="{48F6FCFB-EE1A-80FA-9BBF-3F25BBC665C7}"/>
              </a:ext>
            </a:extLst>
          </p:cNvPr>
          <p:cNvSpPr/>
          <p:nvPr/>
        </p:nvSpPr>
        <p:spPr>
          <a:xfrm>
            <a:off x="9060269" y="2318108"/>
            <a:ext cx="1415560" cy="608700"/>
          </a:xfrm>
          <a:prstGeom prst="round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it-IT" sz="28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CE75F37E-41D0-E14B-F76C-E43039DB9B5E}"/>
              </a:ext>
            </a:extLst>
          </p:cNvPr>
          <p:cNvSpPr txBox="1"/>
          <p:nvPr/>
        </p:nvSpPr>
        <p:spPr>
          <a:xfrm>
            <a:off x="9039168" y="2416541"/>
            <a:ext cx="1436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PM1000</a:t>
            </a:r>
          </a:p>
        </p:txBody>
      </p:sp>
      <p:grpSp>
        <p:nvGrpSpPr>
          <p:cNvPr id="65" name="Gruppo 64">
            <a:extLst>
              <a:ext uri="{FF2B5EF4-FFF2-40B4-BE49-F238E27FC236}">
                <a16:creationId xmlns:a16="http://schemas.microsoft.com/office/drawing/2014/main" id="{C3FAB810-9C0F-6A4C-8B52-755DDB0B0F27}"/>
              </a:ext>
            </a:extLst>
          </p:cNvPr>
          <p:cNvGrpSpPr/>
          <p:nvPr/>
        </p:nvGrpSpPr>
        <p:grpSpPr>
          <a:xfrm>
            <a:off x="6433818" y="1357792"/>
            <a:ext cx="2114664" cy="1080001"/>
            <a:chOff x="7044576" y="3421380"/>
            <a:chExt cx="2366124" cy="1254539"/>
          </a:xfrm>
        </p:grpSpPr>
        <p:cxnSp>
          <p:nvCxnSpPr>
            <p:cNvPr id="51" name="Connettore diritto 50">
              <a:extLst>
                <a:ext uri="{FF2B5EF4-FFF2-40B4-BE49-F238E27FC236}">
                  <a16:creationId xmlns:a16="http://schemas.microsoft.com/office/drawing/2014/main" id="{1C429465-983D-2F69-9285-BA9E2746B569}"/>
                </a:ext>
              </a:extLst>
            </p:cNvPr>
            <p:cNvCxnSpPr>
              <a:cxnSpLocks/>
            </p:cNvCxnSpPr>
            <p:nvPr/>
          </p:nvCxnSpPr>
          <p:spPr>
            <a:xfrm>
              <a:off x="7865672" y="4668299"/>
              <a:ext cx="1545028" cy="0"/>
            </a:xfrm>
            <a:prstGeom prst="line">
              <a:avLst/>
            </a:prstGeom>
            <a:noFill/>
            <a:ln w="381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3" name="Connettore diritto 52">
              <a:extLst>
                <a:ext uri="{FF2B5EF4-FFF2-40B4-BE49-F238E27FC236}">
                  <a16:creationId xmlns:a16="http://schemas.microsoft.com/office/drawing/2014/main" id="{DEAB9F97-08CD-E459-3F42-830B712437FD}"/>
                </a:ext>
              </a:extLst>
            </p:cNvPr>
            <p:cNvCxnSpPr>
              <a:cxnSpLocks/>
            </p:cNvCxnSpPr>
            <p:nvPr/>
          </p:nvCxnSpPr>
          <p:spPr>
            <a:xfrm>
              <a:off x="7509492" y="3429000"/>
              <a:ext cx="378748" cy="0"/>
            </a:xfrm>
            <a:prstGeom prst="line">
              <a:avLst/>
            </a:prstGeom>
            <a:noFill/>
            <a:ln w="381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5" name="Connettore diritto 54">
              <a:extLst>
                <a:ext uri="{FF2B5EF4-FFF2-40B4-BE49-F238E27FC236}">
                  <a16:creationId xmlns:a16="http://schemas.microsoft.com/office/drawing/2014/main" id="{467C28B0-F813-B6C4-E0F1-AC9F617D5E5F}"/>
                </a:ext>
              </a:extLst>
            </p:cNvPr>
            <p:cNvCxnSpPr>
              <a:cxnSpLocks/>
            </p:cNvCxnSpPr>
            <p:nvPr/>
          </p:nvCxnSpPr>
          <p:spPr>
            <a:xfrm>
              <a:off x="7508045" y="3421380"/>
              <a:ext cx="0" cy="1246919"/>
            </a:xfrm>
            <a:prstGeom prst="line">
              <a:avLst/>
            </a:prstGeom>
            <a:noFill/>
            <a:ln w="381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8" name="Connettore diritto 57">
              <a:extLst>
                <a:ext uri="{FF2B5EF4-FFF2-40B4-BE49-F238E27FC236}">
                  <a16:creationId xmlns:a16="http://schemas.microsoft.com/office/drawing/2014/main" id="{E453656D-66FB-0DF5-2875-44A8B49123E1}"/>
                </a:ext>
              </a:extLst>
            </p:cNvPr>
            <p:cNvCxnSpPr>
              <a:cxnSpLocks/>
            </p:cNvCxnSpPr>
            <p:nvPr/>
          </p:nvCxnSpPr>
          <p:spPr>
            <a:xfrm>
              <a:off x="7888240" y="3429000"/>
              <a:ext cx="0" cy="1246919"/>
            </a:xfrm>
            <a:prstGeom prst="line">
              <a:avLst/>
            </a:prstGeom>
            <a:noFill/>
            <a:ln w="381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9" name="Connettore diritto 58">
              <a:extLst>
                <a:ext uri="{FF2B5EF4-FFF2-40B4-BE49-F238E27FC236}">
                  <a16:creationId xmlns:a16="http://schemas.microsoft.com/office/drawing/2014/main" id="{EA93AE29-9532-7368-4A47-93A18CAC168A}"/>
                </a:ext>
              </a:extLst>
            </p:cNvPr>
            <p:cNvCxnSpPr>
              <a:cxnSpLocks/>
            </p:cNvCxnSpPr>
            <p:nvPr/>
          </p:nvCxnSpPr>
          <p:spPr>
            <a:xfrm>
              <a:off x="7044576" y="4675919"/>
              <a:ext cx="486329" cy="0"/>
            </a:xfrm>
            <a:prstGeom prst="line">
              <a:avLst/>
            </a:prstGeom>
            <a:noFill/>
            <a:ln w="381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70" name="Google Shape;465;p24">
            <a:extLst>
              <a:ext uri="{FF2B5EF4-FFF2-40B4-BE49-F238E27FC236}">
                <a16:creationId xmlns:a16="http://schemas.microsoft.com/office/drawing/2014/main" id="{FE355109-1DBB-83CA-D3EE-2A0D72068283}"/>
              </a:ext>
            </a:extLst>
          </p:cNvPr>
          <p:cNvCxnSpPr>
            <a:cxnSpLocks/>
          </p:cNvCxnSpPr>
          <p:nvPr/>
        </p:nvCxnSpPr>
        <p:spPr>
          <a:xfrm>
            <a:off x="7346321" y="1357792"/>
            <a:ext cx="0" cy="1052189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stealth" w="med" len="med"/>
            <a:tailEnd type="stealth" w="med" len="med"/>
          </a:ln>
        </p:spPr>
      </p:cxnSp>
      <p:sp>
        <p:nvSpPr>
          <p:cNvPr id="74" name="CasellaDiTesto 73">
            <a:extLst>
              <a:ext uri="{FF2B5EF4-FFF2-40B4-BE49-F238E27FC236}">
                <a16:creationId xmlns:a16="http://schemas.microsoft.com/office/drawing/2014/main" id="{52167497-3F44-DCF7-BA7B-A71852457236}"/>
              </a:ext>
            </a:extLst>
          </p:cNvPr>
          <p:cNvSpPr txBox="1"/>
          <p:nvPr/>
        </p:nvSpPr>
        <p:spPr>
          <a:xfrm>
            <a:off x="7332288" y="1697456"/>
            <a:ext cx="17068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 err="1"/>
              <a:t>Vpp</a:t>
            </a:r>
            <a:r>
              <a:rPr lang="it-IT" sz="1600" baseline="30000" dirty="0" err="1"/>
              <a:t>min</a:t>
            </a:r>
            <a:r>
              <a:rPr lang="it-IT" sz="1600" dirty="0"/>
              <a:t>= 1.5 V</a:t>
            </a:r>
            <a:r>
              <a:rPr lang="it-IT" sz="1600" baseline="30000" dirty="0"/>
              <a:t> </a:t>
            </a:r>
          </a:p>
        </p:txBody>
      </p:sp>
      <p:sp>
        <p:nvSpPr>
          <p:cNvPr id="76" name="CasellaDiTesto 75">
            <a:extLst>
              <a:ext uri="{FF2B5EF4-FFF2-40B4-BE49-F238E27FC236}">
                <a16:creationId xmlns:a16="http://schemas.microsoft.com/office/drawing/2014/main" id="{B4E22CC7-46E9-A7AA-7E86-92B9B2ECF9EC}"/>
              </a:ext>
            </a:extLst>
          </p:cNvPr>
          <p:cNvSpPr txBox="1"/>
          <p:nvPr/>
        </p:nvSpPr>
        <p:spPr>
          <a:xfrm>
            <a:off x="2030698" y="4098884"/>
            <a:ext cx="11141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10 MHz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CasellaDiTesto 76">
                <a:extLst>
                  <a:ext uri="{FF2B5EF4-FFF2-40B4-BE49-F238E27FC236}">
                    <a16:creationId xmlns:a16="http://schemas.microsoft.com/office/drawing/2014/main" id="{EA4D1491-8CC0-BEE2-993E-32D1CB0B83D3}"/>
                  </a:ext>
                </a:extLst>
              </p:cNvPr>
              <p:cNvSpPr txBox="1"/>
              <p:nvPr/>
            </p:nvSpPr>
            <p:spPr>
              <a:xfrm>
                <a:off x="2284701" y="3255002"/>
                <a:ext cx="452065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it-IT" sz="4800" i="0" smtClean="0">
                          <a:solidFill>
                            <a:srgbClr val="516AC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</m:oMath>
                  </m:oMathPara>
                </a14:m>
                <a:endParaRPr lang="it-IT" sz="2000" dirty="0">
                  <a:solidFill>
                    <a:srgbClr val="516AC9"/>
                  </a:solidFill>
                </a:endParaRPr>
              </a:p>
            </p:txBody>
          </p:sp>
        </mc:Choice>
        <mc:Fallback xmlns="">
          <p:sp>
            <p:nvSpPr>
              <p:cNvPr id="77" name="CasellaDiTesto 76">
                <a:extLst>
                  <a:ext uri="{FF2B5EF4-FFF2-40B4-BE49-F238E27FC236}">
                    <a16:creationId xmlns:a16="http://schemas.microsoft.com/office/drawing/2014/main" id="{EA4D1491-8CC0-BEE2-993E-32D1CB0B8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4701" y="3255002"/>
                <a:ext cx="452065" cy="7386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sellaDiTesto 2">
            <a:extLst>
              <a:ext uri="{FF2B5EF4-FFF2-40B4-BE49-F238E27FC236}">
                <a16:creationId xmlns:a16="http://schemas.microsoft.com/office/drawing/2014/main" id="{5A885AB8-D984-E30C-862C-0D4DD8C4A54C}"/>
              </a:ext>
            </a:extLst>
          </p:cNvPr>
          <p:cNvSpPr txBox="1"/>
          <p:nvPr/>
        </p:nvSpPr>
        <p:spPr>
          <a:xfrm>
            <a:off x="4390502" y="1726701"/>
            <a:ext cx="1436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fase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EE62450-76A4-5F37-9ED6-0E88AE586EF3}"/>
              </a:ext>
            </a:extLst>
          </p:cNvPr>
          <p:cNvSpPr txBox="1"/>
          <p:nvPr/>
        </p:nvSpPr>
        <p:spPr>
          <a:xfrm>
            <a:off x="9039167" y="1864289"/>
            <a:ext cx="1436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Stokes</a:t>
            </a:r>
          </a:p>
        </p:txBody>
      </p:sp>
    </p:spTree>
    <p:extLst>
      <p:ext uri="{BB962C8B-B14F-4D97-AF65-F5344CB8AC3E}">
        <p14:creationId xmlns:p14="http://schemas.microsoft.com/office/powerpoint/2010/main" val="3631379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674132-80AA-8487-B9AC-533018E17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Modalità di acquisizione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82F4DFF-A167-B2B9-5747-17FFC9D5C7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78819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9E9160-13C6-48C9-38FD-DAFC023CD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Sincronizzazione FPGA-PM1000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06EE895-2CA5-BAEE-9C86-A3193C0DE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9496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9A8F3E-8C98-B128-B40B-053421F25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PSD SOP con diversi livelli di Pin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C9CA506-91AB-EA7F-5507-C15F52F9F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Sfera </a:t>
            </a:r>
            <a:r>
              <a:rPr lang="it-IT" dirty="0" err="1"/>
              <a:t>poincare</a:t>
            </a:r>
            <a:endParaRPr lang="it-IT" dirty="0"/>
          </a:p>
          <a:p>
            <a:endParaRPr lang="it-IT" dirty="0"/>
          </a:p>
          <a:p>
            <a:r>
              <a:rPr lang="it-IT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61641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0B4821-3306-2825-F659-BCD540293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PSD SOP diversi valori di ATE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A523D95-9A85-051C-4B65-64C702150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75798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8CC921-DB12-AE60-A7DE-3F2F69DF0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Quantizzazione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1DA2A48-4642-43C5-A219-D69143989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7187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FA1AE1-1A93-602E-1373-D9707F71D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Rete urbana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BB186A3-6FE6-8728-1FDA-73E2A9B3D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50741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937A81E-F205-E586-B44C-211579A5C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Sensing lavori 4 piano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FAAB8A8-4C6E-857D-F91B-D496DE51D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5465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194CA4F-9647-0712-D4E2-721054D2C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terremoto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C2384BA-1A9F-CCCA-CB2F-B050E00EC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77277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432A1-F5F3-B742-D559-E164C4A3D2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3525" y="3033550"/>
            <a:ext cx="11664950" cy="790899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it-IT" b="1" kern="1200">
                <a:latin typeface="+mj-lt"/>
                <a:ea typeface="+mj-ea"/>
                <a:cs typeface="+mj-cs"/>
              </a:rPr>
              <a:t>THANKS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1548438611"/>
      </p:ext>
    </p:extLst>
  </p:cSld>
  <p:clrMapOvr>
    <a:masterClrMapping/>
  </p:clrMapOvr>
</p:sld>
</file>

<file path=ppt/theme/theme1.xml><?xml version="1.0" encoding="utf-8"?>
<a:theme xmlns:a="http://schemas.openxmlformats.org/drawingml/2006/main" name="PoliTO Layout Generico TITOLO BLU">
  <a:themeElements>
    <a:clrScheme name="Personalizzato 1">
      <a:dk1>
        <a:srgbClr val="212745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Personalizza struttur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1991b7f-6b7d-449b-b767-f5f786c869d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55725CFF937040894F497962944123" ma:contentTypeVersion="12" ma:contentTypeDescription="Create a new document." ma:contentTypeScope="" ma:versionID="7a0e623862b5493cb3745d6796d6e55f">
  <xsd:schema xmlns:xsd="http://www.w3.org/2001/XMLSchema" xmlns:xs="http://www.w3.org/2001/XMLSchema" xmlns:p="http://schemas.microsoft.com/office/2006/metadata/properties" xmlns:ns3="e1991b7f-6b7d-449b-b767-f5f786c869d3" targetNamespace="http://schemas.microsoft.com/office/2006/metadata/properties" ma:root="true" ma:fieldsID="6c1c622ae9065d5d3394d8a852b1f736" ns3:_="">
    <xsd:import namespace="e1991b7f-6b7d-449b-b767-f5f786c869d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ServiceOCR" minOccurs="0"/>
                <xsd:element ref="ns3:MediaLengthInSeconds" minOccurs="0"/>
                <xsd:element ref="ns3:_activity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991b7f-6b7d-449b-b767-f5f786c869d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CABA873-0994-4738-95F5-BEAE2390D7EB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e1991b7f-6b7d-449b-b767-f5f786c869d3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EA029C0-35CF-4CF5-BA61-F48A3501E8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991b7f-6b7d-449b-b767-f5f786c869d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49F161D-94DE-4FB8-B032-342C52D425B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8667</TotalTime>
  <Words>155</Words>
  <Application>Microsoft Office PowerPoint</Application>
  <PresentationFormat>Widescreen</PresentationFormat>
  <Paragraphs>39</Paragraphs>
  <Slides>12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3</vt:i4>
      </vt:variant>
      <vt:variant>
        <vt:lpstr>Titoli diapositive</vt:lpstr>
      </vt:variant>
      <vt:variant>
        <vt:i4>12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Century Gothic</vt:lpstr>
      <vt:lpstr>Poppins</vt:lpstr>
      <vt:lpstr>PoliTO Layout Generico TITOLO BLU</vt:lpstr>
      <vt:lpstr>Personalizza struttura</vt:lpstr>
      <vt:lpstr>1_Personalizza struttura</vt:lpstr>
      <vt:lpstr>Presentazione standard di PowerPoint</vt:lpstr>
      <vt:lpstr>Obiettivo </vt:lpstr>
      <vt:lpstr>Schema di timestamping</vt:lpstr>
      <vt:lpstr>Modalità di acquisizione</vt:lpstr>
      <vt:lpstr>Sincronizzazione FPGA-PM1000</vt:lpstr>
      <vt:lpstr>PSD SOP con diversi livelli di Pin</vt:lpstr>
      <vt:lpstr>PSD SOP diversi valori di ATE</vt:lpstr>
      <vt:lpstr>Quantizzazione</vt:lpstr>
      <vt:lpstr>Rete urbana</vt:lpstr>
      <vt:lpstr>Sensing lavori 4 piano</vt:lpstr>
      <vt:lpstr>terremoto</vt:lpstr>
      <vt:lpstr>THANKS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Cavaliere  Monica</dc:creator>
  <cp:lastModifiedBy>Antonucci  Egle</cp:lastModifiedBy>
  <cp:revision>27</cp:revision>
  <cp:lastPrinted>2026-08-31T08:34:27Z</cp:lastPrinted>
  <dcterms:created xsi:type="dcterms:W3CDTF">2021-12-06T14:02:46Z</dcterms:created>
  <dcterms:modified xsi:type="dcterms:W3CDTF">2026-09-02T08:16:27Z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0x0101004855725CFF937040894F497962944123</vt:lpwstr>
  </property>
  <property fmtid="{D5CDD505-2E9C-101B-9397-08002B2CF9AE}" pid="3" name="MediaServiceImageTags">
    <vt:lpwstr/>
  </property>
</Properties>
</file>
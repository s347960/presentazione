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70" r:id="rId5"/>
    <p:sldMasterId id="2147483682" r:id="rId6"/>
  </p:sldMasterIdLst>
  <p:notesMasterIdLst>
    <p:notesMasterId r:id="rId25"/>
  </p:notesMasterIdLst>
  <p:sldIdLst>
    <p:sldId id="257" r:id="rId7"/>
    <p:sldId id="325" r:id="rId8"/>
    <p:sldId id="312" r:id="rId9"/>
    <p:sldId id="265" r:id="rId10"/>
    <p:sldId id="319" r:id="rId11"/>
    <p:sldId id="320" r:id="rId12"/>
    <p:sldId id="283" r:id="rId13"/>
    <p:sldId id="309" r:id="rId14"/>
    <p:sldId id="262" r:id="rId15"/>
    <p:sldId id="313" r:id="rId16"/>
    <p:sldId id="311" r:id="rId17"/>
    <p:sldId id="321" r:id="rId18"/>
    <p:sldId id="322" r:id="rId19"/>
    <p:sldId id="328" r:id="rId20"/>
    <p:sldId id="316" r:id="rId21"/>
    <p:sldId id="324" r:id="rId22"/>
    <p:sldId id="327" r:id="rId23"/>
    <p:sldId id="298" r:id="rId2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D096607-3EDF-C748-F3C5-0BCE2BE7D64B}" name="Valdes  Francesco" initials="FV" userId="S::s336603@studenti.polito.it::9510d836-c34f-4b3d-99f7-d176dcd01aa2" providerId="AD"/>
  <p188:author id="{DE21A783-8E0F-8A53-51FB-2D350651DA5A}" name="Simula  Andrea" initials="SA" userId="S::s343740@studenti.polito.it::1f5ba827-a014-4841-819a-235f0f92f5e2" providerId="AD"/>
  <p188:author id="{11C6D9AC-1707-2834-E3D0-D89A4B228BE4}" name="Antonucci  Egle" initials="AE" userId="S::s347960@studenti.polito.it::328a1078-1085-4626-805a-fa72594303d8" providerId="AD"/>
  <p188:author id="{E19A88B8-85EA-6FCF-518D-BA63521E15FB}" name="Francesco Valdes" initials="FV" userId="Francesco Valdes" providerId="None"/>
  <p188:author id="{B1C6B2F6-15EB-135A-29F2-61BE7EBC3394}" name="Labarbuta  Sara" initials="SL" userId="S::s333938@studenti.polito.it::c39e784e-0fc8-4f77-863e-5b55f54a53a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Valdes" initials="FV" lastIdx="7" clrIdx="0">
    <p:extLst>
      <p:ext uri="{19B8F6BF-5375-455C-9EA6-DF929625EA0E}">
        <p15:presenceInfo xmlns:p15="http://schemas.microsoft.com/office/powerpoint/2012/main" userId="Francesco Vald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6AC9"/>
    <a:srgbClr val="000000"/>
    <a:srgbClr val="1212FF"/>
    <a:srgbClr val="FF6F6F"/>
    <a:srgbClr val="FFFFFF"/>
    <a:srgbClr val="00284B"/>
    <a:srgbClr val="185A7D"/>
    <a:srgbClr val="0E1C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87" d="100"/>
          <a:sy n="87" d="100"/>
        </p:scale>
        <p:origin x="288" y="8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31CDF-70D6-4AEF-91E2-1A078360BAF5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67167-11A0-4F1E-B4C2-F6C904BE8E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7786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fd36190b7a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fd36190b7a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>
          <a:extLst>
            <a:ext uri="{FF2B5EF4-FFF2-40B4-BE49-F238E27FC236}">
              <a16:creationId xmlns:a16="http://schemas.microsoft.com/office/drawing/2014/main" id="{CCE485FC-18FC-6F1A-6F54-EC9D2339D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fd36190b7a_0_120:notes">
            <a:extLst>
              <a:ext uri="{FF2B5EF4-FFF2-40B4-BE49-F238E27FC236}">
                <a16:creationId xmlns:a16="http://schemas.microsoft.com/office/drawing/2014/main" id="{BEA12C87-E9A7-20F5-66F5-DB44CD762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fd36190b7a_0_120:notes">
            <a:extLst>
              <a:ext uri="{FF2B5EF4-FFF2-40B4-BE49-F238E27FC236}">
                <a16:creationId xmlns:a16="http://schemas.microsoft.com/office/drawing/2014/main" id="{0B18E5F6-3170-E327-180C-A5B192A9D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63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>
          <a:extLst>
            <a:ext uri="{FF2B5EF4-FFF2-40B4-BE49-F238E27FC236}">
              <a16:creationId xmlns:a16="http://schemas.microsoft.com/office/drawing/2014/main" id="{E60B76AC-E569-4D07-311E-CA9B9B55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fd36190b7a_0_120:notes">
            <a:extLst>
              <a:ext uri="{FF2B5EF4-FFF2-40B4-BE49-F238E27FC236}">
                <a16:creationId xmlns:a16="http://schemas.microsoft.com/office/drawing/2014/main" id="{3B7B73C1-1E7F-60EA-E442-EC6F9048F0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fd36190b7a_0_120:notes">
            <a:extLst>
              <a:ext uri="{FF2B5EF4-FFF2-40B4-BE49-F238E27FC236}">
                <a16:creationId xmlns:a16="http://schemas.microsoft.com/office/drawing/2014/main" id="{F0EE7299-0219-EEDF-3619-68C9902685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106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fd36190b7a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fd36190b7a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fd36190b7a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fd36190b7a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67167-11A0-4F1E-B4C2-F6C904BE8E03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6190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ertura - Titolo presentazi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b" anchorCtr="0"/>
          <a:lstStyle>
            <a:lvl1pPr marL="0" indent="0">
              <a:buFontTx/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351360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 sezi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835A83-FEB5-48B4-8C7E-044BE53CC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25" y="2682222"/>
            <a:ext cx="1166495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2385FDE-6C5D-4896-92DC-B1ADC5389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5" y="5202238"/>
            <a:ext cx="11664950" cy="71446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EAFFE0D-0C9D-4A48-AED5-33CF7939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0" y="266400"/>
            <a:ext cx="1309846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22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 sezione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5">
            <a:extLst>
              <a:ext uri="{FF2B5EF4-FFF2-40B4-BE49-F238E27FC236}">
                <a16:creationId xmlns:a16="http://schemas.microsoft.com/office/drawing/2014/main" id="{467B1EFD-3A9D-457D-BBE0-7ACE87EB3F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78622" y="0"/>
            <a:ext cx="841337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altLang="ko-KR"/>
              <a:t>                                      </a:t>
            </a:r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r>
              <a:rPr lang="en-US" altLang="ko-KR"/>
              <a:t>  </a:t>
            </a:r>
            <a:endParaRPr lang="ko-KR" altLang="en-US"/>
          </a:p>
        </p:txBody>
      </p:sp>
      <p:sp>
        <p:nvSpPr>
          <p:cNvPr id="6" name="Shape 14">
            <a:extLst>
              <a:ext uri="{FF2B5EF4-FFF2-40B4-BE49-F238E27FC236}">
                <a16:creationId xmlns:a16="http://schemas.microsoft.com/office/drawing/2014/main" id="{E6CEB77F-C2FB-412D-ABD2-524F04C33F6A}"/>
              </a:ext>
            </a:extLst>
          </p:cNvPr>
          <p:cNvSpPr/>
          <p:nvPr userDrawn="1"/>
        </p:nvSpPr>
        <p:spPr>
          <a:xfrm flipH="1">
            <a:off x="-7127" y="-1"/>
            <a:ext cx="3779026" cy="6857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73D10D-42B2-4140-B143-9E1099C04D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defRPr sz="4000" b="1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titolo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98B74FA1-92E9-41CD-8A30-4D1772522A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sottotitolo</a:t>
            </a:r>
          </a:p>
        </p:txBody>
      </p:sp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687AE522-6203-4B27-B07D-312A2F226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5906" y="266400"/>
            <a:ext cx="1310643" cy="57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2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6F03F2-89AF-42A3-A2AB-51741EB9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B3A445-4E39-4C60-BF68-A49E85631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400" y="1548000"/>
            <a:ext cx="11664950" cy="4680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12524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central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10800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548000"/>
            <a:ext cx="11662075" cy="468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0675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99" y="180000"/>
            <a:ext cx="11662075" cy="1188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54102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432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ura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2F68884-7283-48EF-B315-53827BAF1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3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762000" y="334192"/>
            <a:ext cx="10668000" cy="6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525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CEA121-D4F4-AFB1-2345-C7D049792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6BBF7D7-D49F-ECBD-DC59-A96E2E737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E9F937-9DFB-09DD-AA67-4B3D7969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A8732A-BB68-46BF-0AFB-AFF1C081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2F4968-AB94-B47C-C5D5-E9C03555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77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BA28E2-1398-78AA-EBD8-D33C2C6F5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A3AA39-64D5-1628-362E-CB8355949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D6DB6A-8FCC-2096-31CB-A76E92843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E21815-5C86-C1DB-08B1-84AA72C5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D1D657-2A20-A7E5-93BA-7536E141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361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A090DA-76E4-4210-180C-38F0F485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625104-F349-5E4D-612A-4F25F697F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B2B4E5-505C-3480-E048-A91DDA8D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D34B75-DBC2-5C08-D802-9EC65696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285659-5E19-9BB5-9AF2-E2A2290E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956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1F525B-9A6F-EFE0-C0F5-B5DB8BF0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2B064E-6075-56F4-17B2-B95B4350D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8F99735-D3CD-1D5E-2017-BBD60125C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7ACCC6D-CC7F-F4A1-BE81-89369B95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F905935-460C-6888-8642-417E0CFA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8F5C22A-BB35-FFFF-C37B-8BC861E2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48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BDE178-D849-A7CD-D129-7BC399114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188252-0ED0-A896-3F9C-05DFDA8CB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FB9AC22-2DFD-EF90-F2D2-DDA69E78F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BE6B6A5-7DFD-EE94-CB95-FAABF0163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044DF8F-A6CB-AA98-AE52-F3CA7D199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82B0BE3-31C8-09A3-83B9-3A41FDF5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6A34304-E43B-03A1-4C0E-7498436E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C255B7E-1097-5346-7723-882505E7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29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935744-315A-FD7B-6284-8EB6AABE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BDAE383-2B02-96A2-76AE-FFC54B0DD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B0C1898-1A31-8ED1-32C6-1D93E8C96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A57E81C-60DC-DE3D-4B43-F6327647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619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DA3DFDF-ACDB-5C84-4CB3-D3766A16C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A11A769-47DB-E668-DC34-E75CBF1F4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452A54-0A3C-EDE7-B530-184A6363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789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E803C3-EFAA-1CC3-DB90-40AA58230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A95798-0FB5-9F77-9091-C901A047B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C4E4C06-080A-BF37-CF00-24ACB51A3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5CFDA23-4794-5C06-6CD3-0320FC9D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BB12D42-5E25-5395-D70E-85AF0A964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DDF37B-8271-DD6D-45E3-9FEE76A4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0076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5312CF-C1D4-80E8-655D-4D3FB99A8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33922B0-3194-115A-D1F7-5C0BA1822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CBFE518-6248-1DFB-4F73-36E03861B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AE9B10F-CF29-8B7C-D2C1-9C0949E9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71E0853-69C5-AFFF-8588-29BD995A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47D7E5-F257-2DF3-657C-36F2D3A8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4961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F467D3-BFE8-84AF-D470-3C5EAC12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120B97B-6A67-3D77-E066-27716B22C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9E8D8F-5B90-D4AB-85F5-8368F25E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D9E13A-65C8-B1A2-73FF-AF4F5688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E47770-7712-6948-C953-A2C245A3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5988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0B2C6C5-678F-8E05-A8F4-367C80384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66EB95F-6B85-BCEF-BCFB-3E3C8986A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44B9F6-141D-C864-F32E-A4EBC587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75EF0C-5224-5AB2-B5CF-87313148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BC8C5C-6F78-B109-FA94-B22D5A14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98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DE692E-DFD1-D62A-FB76-01B11C790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2F74D53-93EF-9876-2CBA-119CA8205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37281B-0985-4C2E-D1DE-5F7790A4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A6F0AAF-3412-31ED-2A7C-20FBFEA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F07095-AF22-DFC4-7D4C-CE603BF14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754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68D79B-DA0F-E6C1-35BD-7E307FDE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41629F-FAE5-6D7D-E815-42FC11DD2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62B666-24DE-82EE-D969-FD54064A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92C839-7FFB-FC75-7586-FFFF88A4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949D49-3631-7FF9-6753-1439290F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22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1C9543-17D1-EA14-7572-3F922967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1FF8F7-EE6C-19EB-FCF9-9A0F588E5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D013F5-2312-B60D-439F-CAE1E701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1C959A-ED53-06D1-4F05-09B46804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5C2096-6FDE-5F01-1946-7468571E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7686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EC5A52-9069-BE9E-8E34-259A73213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DE8868-839C-BDBC-A659-460EDE579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FA54D75-755A-3F61-5CF4-D8F7C3167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8BE9A11-A381-6731-5786-0C7C4B2C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2F03E87-05F8-8848-4FA5-9AAF4262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9387E04-00BB-7D3A-ECC7-ACA670E6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261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FD3637-B2A5-27D9-1BDD-B15DCBFF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5CB23E4-2ACB-9B9D-95F4-100810B18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CA2AEFC-B34F-322A-979A-1DE57BDD2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73030EE-7B3C-EE8B-FA38-BD7E89F9C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84B717C-93DB-3451-A8B8-AA88A22F6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EC7AD44-2609-6F3C-02AE-9F1525A9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1159DFE-653B-8C5F-6238-ACC40753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B372434-3787-DC2B-A6C2-D953B94AD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109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A05DF1-C5F2-B28A-CEF7-4A5783C7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49F99B8-6A9E-446A-4045-31FF83F33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8306094-A81E-24C3-3162-8A1EB7234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27E33CE-D29E-160D-7A29-20510377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1383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1161E5A-3FAC-9910-B9DE-83F981AD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EF48B12-F60C-A323-2C42-A81E3FFF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075122-A7EF-0FD1-3A35-B6D9272EF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339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AB4AEE-752A-4047-5AC1-F09C86D9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6EAE6A-FFD8-FF85-D64D-419939228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2DF64AC-AA2D-B1B0-8ED1-92D25AB57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06764B-2361-D2AC-88D5-38FB6FC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383AF9D-C241-7BF4-C2C2-6E452F31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09997A-99BD-C930-BB5B-A9F62BA0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6975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F83FD1-6A2D-6CE8-F579-114A58CD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BBF124B-2D53-3500-98EA-FCE744806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0091010-5F10-24BC-CFBF-CC23172EB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3587B6F-756B-8C69-683F-720946AF2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E66654-E189-5DE2-3306-8E703EBA0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4F1D76-F416-02DD-2B70-403F16B6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1303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F3C3B6-2964-22A4-D4E8-4902372C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0A3BAF1-D74E-4A0D-6D38-6912EB5BB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B42E636-BBF1-BAA9-E08F-7F9377B8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1FDE9D-9B21-E450-A9F2-FD45DB27A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C1EB19-7BAB-B97D-3453-8E222BAF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8594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AC84F44-7336-BC11-6278-73B7FAA0A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FBC00EE-AB41-635E-CE5E-9AE5301A3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F5FC73-5D75-BD83-CE6D-3D4AAA9F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A002BF-2B56-7E02-7D15-3CA6C62E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2CB888-3A0B-535E-9FA5-A474E4E3E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74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B7020CC-1F43-4307-885B-9C5B8595FB35}"/>
              </a:ext>
            </a:extLst>
          </p:cNvPr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1525B60-4CE1-4B14-BFEA-0C3F4F11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4950" cy="108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D3A30F-644A-447F-AE26-65EEFAD48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400" y="1533167"/>
            <a:ext cx="11664950" cy="468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B17C92E-8ADD-4880-9C12-BC8CB27C40E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6400800"/>
            <a:ext cx="81865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9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3" r:id="rId3"/>
    <p:sldLayoutId id="2147483650" r:id="rId4"/>
    <p:sldLayoutId id="2147483654" r:id="rId5"/>
    <p:sldLayoutId id="2147483664" r:id="rId6"/>
    <p:sldLayoutId id="2147483669" r:id="rId7"/>
    <p:sldLayoutId id="2147483652" r:id="rId8"/>
    <p:sldLayoutId id="2147483694" r:id="rId9"/>
  </p:sldLayoutIdLst>
  <p:hf hdr="0" ftr="0" dt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3600" b="1" kern="1200">
          <a:solidFill>
            <a:schemeClr val="tx2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5998156-AA1D-BBBC-73A6-C6E96B68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4AF7478-7885-4721-934A-4C6186DCB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7C3FA1-09A7-DEA9-BC1A-B22324396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7742C4-3F84-16B2-1A07-21231193B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FED905-EF30-89F5-97FE-9947541C5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21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1C223A8-5808-E6F1-7B89-C47EC7B7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2CD333E-6F3D-61F9-F101-D6E797C0E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3227AB-E5D6-9ADA-19E3-7AF0EAD00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AF750-697A-42EE-BA8B-A382A30B9D4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76815F-9E5D-5540-37F1-269E4C485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95D056-5766-0A2E-2148-CAE9E1BC3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23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hyperlink" Target="03%20-%20Donadello%20et%20al.%20-%202023%20-%20Embedded%20Digital%20Phase%20Noise%20Analyzer%20for%20Optical%20Frequency%20Metrology.pdf" TargetMode="Externa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d.com/document/1010289409/PyD3XX-Library-Guid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poincare_all.html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03%20-%20Donadello%20et%20al.%20-%202023%20-%20Embedded%20Digital%20Phase%20Noise%20Analyzer%20for%20Optical%20Frequency%20Metrology.pdf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9911FF0-5115-413C-A149-CF162B8BAC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4884" y="299846"/>
            <a:ext cx="10040815" cy="2997037"/>
          </a:xfrm>
        </p:spPr>
        <p:txBody>
          <a:bodyPr/>
          <a:lstStyle/>
          <a:p>
            <a:pPr algn="ctr"/>
            <a:r>
              <a:rPr lang="it-IT" sz="3200" dirty="0"/>
              <a:t>Acquisizione Sincronizzata per Dati di SOP e Fase</a:t>
            </a:r>
          </a:p>
          <a:p>
            <a:pPr algn="ctr"/>
            <a:r>
              <a:rPr lang="it-IT" sz="2400" dirty="0"/>
              <a:t>Validazione Sperimentale su Collegamento Urbano</a:t>
            </a:r>
            <a:r>
              <a:rPr lang="it-IT" sz="2400" dirty="0">
                <a:solidFill>
                  <a:srgbClr val="FFFFFF"/>
                </a:solidFill>
              </a:rPr>
              <a:t> </a:t>
            </a:r>
            <a:endParaRPr lang="it-IT" sz="240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1195D0B-8BF5-42BC-AF0D-9E67A4661F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3496" y="3452031"/>
            <a:ext cx="5350193" cy="2418730"/>
          </a:xfrm>
          <a:ln>
            <a:solidFill>
              <a:srgbClr val="00284B"/>
            </a:solidFill>
          </a:ln>
        </p:spPr>
        <p:txBody>
          <a:bodyPr/>
          <a:lstStyle/>
          <a:p>
            <a:pPr algn="ctr"/>
            <a:r>
              <a:rPr lang="it-IT" dirty="0" err="1"/>
              <a:t>Student</a:t>
            </a:r>
            <a:r>
              <a:rPr lang="it-IT" dirty="0"/>
              <a:t>:</a:t>
            </a:r>
          </a:p>
          <a:p>
            <a:pPr algn="ctr"/>
            <a:r>
              <a:rPr lang="it-IT" dirty="0">
                <a:solidFill>
                  <a:srgbClr val="FFFFFF"/>
                </a:solidFill>
              </a:rPr>
              <a:t>Egle Antonucci s347960</a:t>
            </a:r>
          </a:p>
          <a:p>
            <a:pPr algn="ctr"/>
            <a:endParaRPr lang="it-IT" dirty="0">
              <a:solidFill>
                <a:srgbClr val="FFFFFF"/>
              </a:solidFill>
            </a:endParaRPr>
          </a:p>
          <a:p>
            <a:pPr algn="ctr"/>
            <a:endParaRPr lang="it-IT" dirty="0">
              <a:solidFill>
                <a:srgbClr val="FFFFFF"/>
              </a:solidFill>
            </a:endParaRPr>
          </a:p>
          <a:p>
            <a:pPr algn="ctr"/>
            <a:endParaRPr lang="it-IT" dirty="0"/>
          </a:p>
        </p:txBody>
      </p:sp>
      <p:sp>
        <p:nvSpPr>
          <p:cNvPr id="4" name="Segnaposto testo 2">
            <a:extLst>
              <a:ext uri="{FF2B5EF4-FFF2-40B4-BE49-F238E27FC236}">
                <a16:creationId xmlns:a16="http://schemas.microsoft.com/office/drawing/2014/main" id="{F49CAC83-F9A4-F3FA-5F94-147CC8841FE7}"/>
              </a:ext>
            </a:extLst>
          </p:cNvPr>
          <p:cNvSpPr txBox="1">
            <a:spLocks/>
          </p:cNvSpPr>
          <p:nvPr/>
        </p:nvSpPr>
        <p:spPr>
          <a:xfrm>
            <a:off x="3416941" y="6041571"/>
            <a:ext cx="4992273" cy="5165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/>
              <a:t>A.Y. 2025-26</a:t>
            </a: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5B817CE-4F00-D732-F214-C30029668C62}"/>
              </a:ext>
            </a:extLst>
          </p:cNvPr>
          <p:cNvSpPr txBox="1">
            <a:spLocks/>
          </p:cNvSpPr>
          <p:nvPr/>
        </p:nvSpPr>
        <p:spPr>
          <a:xfrm>
            <a:off x="0" y="3718878"/>
            <a:ext cx="11664950" cy="7144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Full title of the project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4658435-E4E7-E307-9D74-E020543342F2}"/>
              </a:ext>
            </a:extLst>
          </p:cNvPr>
          <p:cNvSpPr/>
          <p:nvPr/>
        </p:nvSpPr>
        <p:spPr>
          <a:xfrm>
            <a:off x="6623496" y="5382944"/>
            <a:ext cx="1790219" cy="61993"/>
          </a:xfrm>
          <a:prstGeom prst="rect">
            <a:avLst/>
          </a:prstGeom>
          <a:solidFill>
            <a:srgbClr val="002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F0524A07-9646-DBFC-F50B-03FB04B60DDD}"/>
              </a:ext>
            </a:extLst>
          </p:cNvPr>
          <p:cNvSpPr txBox="1">
            <a:spLocks/>
          </p:cNvSpPr>
          <p:nvPr/>
        </p:nvSpPr>
        <p:spPr>
          <a:xfrm>
            <a:off x="0" y="3452031"/>
            <a:ext cx="5350193" cy="2418730"/>
          </a:xfrm>
          <a:prstGeom prst="rect">
            <a:avLst/>
          </a:prstGeom>
          <a:ln>
            <a:solidFill>
              <a:srgbClr val="00284B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dirty="0"/>
              <a:t>Professors:</a:t>
            </a:r>
          </a:p>
          <a:p>
            <a:pPr algn="ctr"/>
            <a:r>
              <a:rPr lang="it-IT" dirty="0"/>
              <a:t>Vittorio Curri</a:t>
            </a:r>
          </a:p>
          <a:p>
            <a:pPr algn="ctr"/>
            <a:r>
              <a:rPr lang="it-IT" dirty="0"/>
              <a:t>Cecilia Clivati </a:t>
            </a:r>
          </a:p>
          <a:p>
            <a:pPr algn="ctr"/>
            <a:endParaRPr lang="it-IT" dirty="0">
              <a:solidFill>
                <a:srgbClr val="FFFFFF"/>
              </a:solidFill>
            </a:endParaRP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90782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FBDDAA-5EE7-4ECA-9A44-C6567F551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295747"/>
            <a:ext cx="11664950" cy="1080000"/>
          </a:xfrm>
        </p:spPr>
        <p:txBody>
          <a:bodyPr/>
          <a:lstStyle/>
          <a:p>
            <a:r>
              <a:rPr lang="it-IT"/>
              <a:t>Obiettivo 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ACFBCC0-65F0-525F-B5AE-E3C8D23B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1" y="3035120"/>
            <a:ext cx="3888277" cy="149635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B1893F5-38D5-0F78-B4B1-A85631CB59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96" t="9747"/>
          <a:stretch>
            <a:fillRect/>
          </a:stretch>
        </p:blipFill>
        <p:spPr>
          <a:xfrm>
            <a:off x="5137076" y="3023000"/>
            <a:ext cx="2496968" cy="163851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1EE7CE6-8E7E-0D77-58A2-746835326B1F}"/>
              </a:ext>
            </a:extLst>
          </p:cNvPr>
          <p:cNvSpPr txBox="1"/>
          <p:nvPr/>
        </p:nvSpPr>
        <p:spPr>
          <a:xfrm>
            <a:off x="521677" y="4800095"/>
            <a:ext cx="3864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rgbClr val="404040"/>
                </a:solidFill>
                <a:latin typeface="Poppins" panose="020B0502040204020203" pitchFamily="2" charset="0"/>
              </a:rPr>
              <a:t>PM1000 </a:t>
            </a:r>
            <a:r>
              <a:rPr lang="it-IT" sz="2000" dirty="0" err="1">
                <a:solidFill>
                  <a:srgbClr val="404040"/>
                </a:solidFill>
                <a:latin typeface="Poppins" panose="020B0502040204020203" pitchFamily="2" charset="0"/>
              </a:rPr>
              <a:t>Polarimeter</a:t>
            </a:r>
            <a:r>
              <a:rPr lang="it-IT" sz="2000" dirty="0">
                <a:solidFill>
                  <a:srgbClr val="404040"/>
                </a:solidFill>
                <a:latin typeface="Poppins" panose="020B0502040204020203" pitchFamily="2" charset="0"/>
              </a:rPr>
              <a:t> </a:t>
            </a:r>
            <a:r>
              <a:rPr lang="it-IT" sz="2000" dirty="0" err="1">
                <a:solidFill>
                  <a:srgbClr val="404040"/>
                </a:solidFill>
                <a:latin typeface="Poppins" panose="020B0502040204020203" pitchFamily="2" charset="0"/>
              </a:rPr>
              <a:t>Novoptel</a:t>
            </a:r>
            <a:endParaRPr lang="it-IT" sz="2000" dirty="0">
              <a:solidFill>
                <a:srgbClr val="404040"/>
              </a:solidFill>
              <a:latin typeface="Poppins" panose="020B0502040204020203" pitchFamily="2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74446A5-5F89-6C29-3470-D9AE2D8EB5DC}"/>
              </a:ext>
            </a:extLst>
          </p:cNvPr>
          <p:cNvSpPr txBox="1"/>
          <p:nvPr/>
        </p:nvSpPr>
        <p:spPr>
          <a:xfrm>
            <a:off x="4494952" y="4800095"/>
            <a:ext cx="38641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0" i="0" dirty="0" err="1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RedPitaya</a:t>
            </a:r>
            <a:r>
              <a:rPr lang="it-IT" sz="2000" b="0" i="0" dirty="0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 </a:t>
            </a:r>
            <a:r>
              <a:rPr lang="it-IT" sz="2000" b="0" i="0" dirty="0" err="1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SIGNALlab</a:t>
            </a:r>
            <a:r>
              <a:rPr lang="it-IT" sz="2000" b="0" i="0" dirty="0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 250-12</a:t>
            </a:r>
            <a:endParaRPr lang="it-IT" sz="2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F00B2F2-2743-134D-FBA7-85FA2C29F0A6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B29C6C0E-AFE6-6B13-B3EC-ACDB21DFC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26923" r="3094" b="15641"/>
          <a:stretch>
            <a:fillRect/>
          </a:stretch>
        </p:blipFill>
        <p:spPr>
          <a:xfrm>
            <a:off x="8662153" y="2491991"/>
            <a:ext cx="1862572" cy="2039481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E091966-16A9-08F6-C2C1-7C4CF9804AB6}"/>
              </a:ext>
            </a:extLst>
          </p:cNvPr>
          <p:cNvSpPr txBox="1"/>
          <p:nvPr/>
        </p:nvSpPr>
        <p:spPr>
          <a:xfrm>
            <a:off x="8790443" y="4800095"/>
            <a:ext cx="1734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rgbClr val="404040"/>
                </a:solidFill>
                <a:latin typeface="Poppins" panose="020B0502040204020203" pitchFamily="2" charset="0"/>
              </a:rPr>
              <a:t>STM32H745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5EBA15B-7535-18B6-5666-3108FC5BAC60}"/>
              </a:ext>
            </a:extLst>
          </p:cNvPr>
          <p:cNvSpPr txBox="1"/>
          <p:nvPr/>
        </p:nvSpPr>
        <p:spPr>
          <a:xfrm>
            <a:off x="263525" y="1018365"/>
            <a:ext cx="11597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Sviluppare un sistema di acquisizione integrato e validato per la misura simultanea di SOP e fase su fibra, in cui un polarimetro e un analizzatore di fase operano sincronizzati su un'unica base temporale, progettato per esperimenti di lunga durata in condizioni reali.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6A48B2B-15D5-92C9-FFB4-8221684924CB}"/>
              </a:ext>
            </a:extLst>
          </p:cNvPr>
          <p:cNvSpPr txBox="1"/>
          <p:nvPr/>
        </p:nvSpPr>
        <p:spPr>
          <a:xfrm>
            <a:off x="0" y="590203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750" dirty="0"/>
              <a:t>Reference: </a:t>
            </a:r>
            <a:r>
              <a:rPr lang="it-IT" sz="1750" dirty="0">
                <a:hlinkClick r:id="rId5" action="ppaction://hlinkfile"/>
              </a:rPr>
              <a:t>Donadello et al. - 2023 - Embedded Digital </a:t>
            </a:r>
            <a:r>
              <a:rPr lang="it-IT" sz="1750" dirty="0" err="1">
                <a:hlinkClick r:id="rId5" action="ppaction://hlinkfile"/>
              </a:rPr>
              <a:t>Phase</a:t>
            </a:r>
            <a:r>
              <a:rPr lang="it-IT" sz="1750" dirty="0">
                <a:hlinkClick r:id="rId5" action="ppaction://hlinkfile"/>
              </a:rPr>
              <a:t> </a:t>
            </a:r>
            <a:r>
              <a:rPr lang="it-IT" sz="1750" dirty="0" err="1">
                <a:hlinkClick r:id="rId5" action="ppaction://hlinkfile"/>
              </a:rPr>
              <a:t>Noise</a:t>
            </a:r>
            <a:r>
              <a:rPr lang="it-IT" sz="1750" dirty="0">
                <a:hlinkClick r:id="rId5" action="ppaction://hlinkfile"/>
              </a:rPr>
              <a:t> Analyzer for Optical Frequency </a:t>
            </a:r>
            <a:r>
              <a:rPr lang="it-IT" sz="1750" dirty="0" err="1">
                <a:hlinkClick r:id="rId5" action="ppaction://hlinkfile"/>
              </a:rPr>
              <a:t>Metrology</a:t>
            </a:r>
            <a:r>
              <a:rPr lang="it-IT" sz="1750" dirty="0">
                <a:hlinkClick r:id="rId5" action="ppaction://hlinkfile"/>
              </a:rPr>
              <a:t> </a:t>
            </a:r>
            <a:endParaRPr lang="it-IT" sz="1750" dirty="0"/>
          </a:p>
        </p:txBody>
      </p:sp>
    </p:spTree>
    <p:extLst>
      <p:ext uri="{BB962C8B-B14F-4D97-AF65-F5344CB8AC3E}">
        <p14:creationId xmlns:p14="http://schemas.microsoft.com/office/powerpoint/2010/main" val="12002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E5BB38-2887-36EB-36F7-C7C26864C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Schema di </a:t>
            </a:r>
            <a:r>
              <a:rPr lang="it-IT" dirty="0" err="1"/>
              <a:t>timestamping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1B6DA38-280F-6DC3-BA85-00F8FDA92F99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D7475621-75B2-C3D5-2DFE-0EEB14DB0A7C}"/>
              </a:ext>
            </a:extLst>
          </p:cNvPr>
          <p:cNvSpPr/>
          <p:nvPr/>
        </p:nvSpPr>
        <p:spPr>
          <a:xfrm>
            <a:off x="2161238" y="3307666"/>
            <a:ext cx="703385" cy="738554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82FCD021-D2FC-B3E0-42A9-ABEA5B47EDD3}"/>
              </a:ext>
            </a:extLst>
          </p:cNvPr>
          <p:cNvCxnSpPr>
            <a:cxnSpLocks/>
          </p:cNvCxnSpPr>
          <p:nvPr/>
        </p:nvCxnSpPr>
        <p:spPr>
          <a:xfrm flipV="1">
            <a:off x="2864623" y="2621866"/>
            <a:ext cx="1415560" cy="1072661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17" name="Connettore 2 8">
            <a:extLst>
              <a:ext uri="{FF2B5EF4-FFF2-40B4-BE49-F238E27FC236}">
                <a16:creationId xmlns:a16="http://schemas.microsoft.com/office/drawing/2014/main" id="{53E15849-5A27-2666-D3AD-117CA1E17AB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89962" y="3876968"/>
            <a:ext cx="1072662" cy="707780"/>
          </a:xfrm>
          <a:prstGeom prst="bentConnector3">
            <a:avLst>
              <a:gd name="adj1" fmla="val 100000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69F4A346-81FE-D370-66EB-1A4A00C6DF72}"/>
              </a:ext>
            </a:extLst>
          </p:cNvPr>
          <p:cNvSpPr/>
          <p:nvPr/>
        </p:nvSpPr>
        <p:spPr>
          <a:xfrm>
            <a:off x="4485924" y="2317516"/>
            <a:ext cx="1415560" cy="608700"/>
          </a:xfrm>
          <a:prstGeom prst="round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B7E37F7-7C25-C181-A140-0E3FB144A642}"/>
              </a:ext>
            </a:extLst>
          </p:cNvPr>
          <p:cNvSpPr txBox="1"/>
          <p:nvPr/>
        </p:nvSpPr>
        <p:spPr>
          <a:xfrm>
            <a:off x="4464823" y="2416541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FPGA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D8628DF1-E71D-5A4A-DA90-49AEDE0BBC45}"/>
              </a:ext>
            </a:extLst>
          </p:cNvPr>
          <p:cNvSpPr/>
          <p:nvPr/>
        </p:nvSpPr>
        <p:spPr>
          <a:xfrm>
            <a:off x="4485924" y="4462840"/>
            <a:ext cx="1415560" cy="608700"/>
          </a:xfrm>
          <a:prstGeom prst="round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62C8844-8D35-D039-93D8-A86DA574FDC1}"/>
              </a:ext>
            </a:extLst>
          </p:cNvPr>
          <p:cNvSpPr txBox="1"/>
          <p:nvPr/>
        </p:nvSpPr>
        <p:spPr>
          <a:xfrm>
            <a:off x="4454271" y="4582523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STM32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955E9B01-E987-40A1-7D77-2808E824E579}"/>
              </a:ext>
            </a:extLst>
          </p:cNvPr>
          <p:cNvSpPr/>
          <p:nvPr/>
        </p:nvSpPr>
        <p:spPr>
          <a:xfrm>
            <a:off x="4310077" y="2155874"/>
            <a:ext cx="1767254" cy="3050929"/>
          </a:xfrm>
          <a:prstGeom prst="roundRect">
            <a:avLst/>
          </a:prstGeom>
          <a:noFill/>
          <a:ln w="3810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latin typeface="+mj-lt"/>
            </a:endParaRPr>
          </a:p>
        </p:txBody>
      </p:sp>
      <p:cxnSp>
        <p:nvCxnSpPr>
          <p:cNvPr id="30" name="Connettore 2 8">
            <a:extLst>
              <a:ext uri="{FF2B5EF4-FFF2-40B4-BE49-F238E27FC236}">
                <a16:creationId xmlns:a16="http://schemas.microsoft.com/office/drawing/2014/main" id="{B141780D-1047-6080-126C-5CF4C289812A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6056230" y="2607767"/>
            <a:ext cx="3004039" cy="14691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31" name="Connettore 2 8">
            <a:extLst>
              <a:ext uri="{FF2B5EF4-FFF2-40B4-BE49-F238E27FC236}">
                <a16:creationId xmlns:a16="http://schemas.microsoft.com/office/drawing/2014/main" id="{C3745524-41A4-F0D1-901D-A2C675CBE4F7}"/>
              </a:ext>
            </a:extLst>
          </p:cNvPr>
          <p:cNvCxnSpPr>
            <a:cxnSpLocks/>
          </p:cNvCxnSpPr>
          <p:nvPr/>
        </p:nvCxnSpPr>
        <p:spPr>
          <a:xfrm rot="5400000">
            <a:off x="5825812" y="2873829"/>
            <a:ext cx="2165983" cy="1620741"/>
          </a:xfrm>
          <a:prstGeom prst="bentConnector3">
            <a:avLst>
              <a:gd name="adj1" fmla="val 99956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48F6FCFB-EE1A-80FA-9BBF-3F25BBC665C7}"/>
              </a:ext>
            </a:extLst>
          </p:cNvPr>
          <p:cNvSpPr/>
          <p:nvPr/>
        </p:nvSpPr>
        <p:spPr>
          <a:xfrm>
            <a:off x="9060269" y="2318108"/>
            <a:ext cx="1415560" cy="608700"/>
          </a:xfrm>
          <a:prstGeom prst="round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CE75F37E-41D0-E14B-F76C-E43039DB9B5E}"/>
              </a:ext>
            </a:extLst>
          </p:cNvPr>
          <p:cNvSpPr txBox="1"/>
          <p:nvPr/>
        </p:nvSpPr>
        <p:spPr>
          <a:xfrm>
            <a:off x="9039168" y="2416541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PM1000</a:t>
            </a:r>
          </a:p>
        </p:txBody>
      </p: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C3FAB810-9C0F-6A4C-8B52-755DDB0B0F27}"/>
              </a:ext>
            </a:extLst>
          </p:cNvPr>
          <p:cNvGrpSpPr/>
          <p:nvPr/>
        </p:nvGrpSpPr>
        <p:grpSpPr>
          <a:xfrm>
            <a:off x="6433818" y="1357792"/>
            <a:ext cx="2114664" cy="1080001"/>
            <a:chOff x="7044576" y="3421380"/>
            <a:chExt cx="2366124" cy="1254539"/>
          </a:xfrm>
        </p:grpSpPr>
        <p:cxnSp>
          <p:nvCxnSpPr>
            <p:cNvPr id="51" name="Connettore diritto 50">
              <a:extLst>
                <a:ext uri="{FF2B5EF4-FFF2-40B4-BE49-F238E27FC236}">
                  <a16:creationId xmlns:a16="http://schemas.microsoft.com/office/drawing/2014/main" id="{1C429465-983D-2F69-9285-BA9E2746B569}"/>
                </a:ext>
              </a:extLst>
            </p:cNvPr>
            <p:cNvCxnSpPr>
              <a:cxnSpLocks/>
            </p:cNvCxnSpPr>
            <p:nvPr/>
          </p:nvCxnSpPr>
          <p:spPr>
            <a:xfrm>
              <a:off x="7865672" y="4668299"/>
              <a:ext cx="1545028" cy="0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Connettore diritto 52">
              <a:extLst>
                <a:ext uri="{FF2B5EF4-FFF2-40B4-BE49-F238E27FC236}">
                  <a16:creationId xmlns:a16="http://schemas.microsoft.com/office/drawing/2014/main" id="{DEAB9F97-08CD-E459-3F42-830B712437FD}"/>
                </a:ext>
              </a:extLst>
            </p:cNvPr>
            <p:cNvCxnSpPr>
              <a:cxnSpLocks/>
            </p:cNvCxnSpPr>
            <p:nvPr/>
          </p:nvCxnSpPr>
          <p:spPr>
            <a:xfrm>
              <a:off x="7509492" y="3429000"/>
              <a:ext cx="378748" cy="0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Connettore diritto 54">
              <a:extLst>
                <a:ext uri="{FF2B5EF4-FFF2-40B4-BE49-F238E27FC236}">
                  <a16:creationId xmlns:a16="http://schemas.microsoft.com/office/drawing/2014/main" id="{467C28B0-F813-B6C4-E0F1-AC9F617D5E5F}"/>
                </a:ext>
              </a:extLst>
            </p:cNvPr>
            <p:cNvCxnSpPr>
              <a:cxnSpLocks/>
            </p:cNvCxnSpPr>
            <p:nvPr/>
          </p:nvCxnSpPr>
          <p:spPr>
            <a:xfrm>
              <a:off x="7508045" y="3421380"/>
              <a:ext cx="0" cy="1246919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Connettore diritto 57">
              <a:extLst>
                <a:ext uri="{FF2B5EF4-FFF2-40B4-BE49-F238E27FC236}">
                  <a16:creationId xmlns:a16="http://schemas.microsoft.com/office/drawing/2014/main" id="{E453656D-66FB-0DF5-2875-44A8B49123E1}"/>
                </a:ext>
              </a:extLst>
            </p:cNvPr>
            <p:cNvCxnSpPr>
              <a:cxnSpLocks/>
            </p:cNvCxnSpPr>
            <p:nvPr/>
          </p:nvCxnSpPr>
          <p:spPr>
            <a:xfrm>
              <a:off x="7888240" y="3429000"/>
              <a:ext cx="0" cy="1246919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Connettore diritto 58">
              <a:extLst>
                <a:ext uri="{FF2B5EF4-FFF2-40B4-BE49-F238E27FC236}">
                  <a16:creationId xmlns:a16="http://schemas.microsoft.com/office/drawing/2014/main" id="{EA93AE29-9532-7368-4A47-93A18CAC168A}"/>
                </a:ext>
              </a:extLst>
            </p:cNvPr>
            <p:cNvCxnSpPr>
              <a:cxnSpLocks/>
            </p:cNvCxnSpPr>
            <p:nvPr/>
          </p:nvCxnSpPr>
          <p:spPr>
            <a:xfrm>
              <a:off x="7044576" y="4675919"/>
              <a:ext cx="486329" cy="0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70" name="Google Shape;465;p24">
            <a:extLst>
              <a:ext uri="{FF2B5EF4-FFF2-40B4-BE49-F238E27FC236}">
                <a16:creationId xmlns:a16="http://schemas.microsoft.com/office/drawing/2014/main" id="{FE355109-1DBB-83CA-D3EE-2A0D72068283}"/>
              </a:ext>
            </a:extLst>
          </p:cNvPr>
          <p:cNvCxnSpPr>
            <a:cxnSpLocks/>
          </p:cNvCxnSpPr>
          <p:nvPr/>
        </p:nvCxnSpPr>
        <p:spPr>
          <a:xfrm>
            <a:off x="7346321" y="1357792"/>
            <a:ext cx="0" cy="105218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52167497-3F44-DCF7-BA7B-A71852457236}"/>
              </a:ext>
            </a:extLst>
          </p:cNvPr>
          <p:cNvSpPr txBox="1"/>
          <p:nvPr/>
        </p:nvSpPr>
        <p:spPr>
          <a:xfrm>
            <a:off x="7332288" y="1697456"/>
            <a:ext cx="1706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 err="1"/>
              <a:t>Vpp</a:t>
            </a:r>
            <a:r>
              <a:rPr lang="it-IT" sz="1600" baseline="30000" dirty="0" err="1"/>
              <a:t>min</a:t>
            </a:r>
            <a:r>
              <a:rPr lang="it-IT" sz="1600" dirty="0"/>
              <a:t>= 1.5 V</a:t>
            </a:r>
            <a:r>
              <a:rPr lang="it-IT" sz="1600" baseline="30000" dirty="0"/>
              <a:t> 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B4E22CC7-46E9-A7AA-7E86-92B9B2ECF9EC}"/>
              </a:ext>
            </a:extLst>
          </p:cNvPr>
          <p:cNvSpPr txBox="1"/>
          <p:nvPr/>
        </p:nvSpPr>
        <p:spPr>
          <a:xfrm>
            <a:off x="2030698" y="4098884"/>
            <a:ext cx="1114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10 MHz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asellaDiTesto 76">
                <a:extLst>
                  <a:ext uri="{FF2B5EF4-FFF2-40B4-BE49-F238E27FC236}">
                    <a16:creationId xmlns:a16="http://schemas.microsoft.com/office/drawing/2014/main" id="{EA4D1491-8CC0-BEE2-993E-32D1CB0B83D3}"/>
                  </a:ext>
                </a:extLst>
              </p:cNvPr>
              <p:cNvSpPr txBox="1"/>
              <p:nvPr/>
            </p:nvSpPr>
            <p:spPr>
              <a:xfrm>
                <a:off x="2284701" y="3255002"/>
                <a:ext cx="4520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i="0" smtClean="0">
                          <a:solidFill>
                            <a:srgbClr val="516AC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m:oMathPara>
                </a14:m>
                <a:endParaRPr lang="it-IT" sz="2000" dirty="0">
                  <a:solidFill>
                    <a:srgbClr val="516AC9"/>
                  </a:solidFill>
                </a:endParaRPr>
              </a:p>
            </p:txBody>
          </p:sp>
        </mc:Choice>
        <mc:Fallback xmlns="">
          <p:sp>
            <p:nvSpPr>
              <p:cNvPr id="77" name="CasellaDiTesto 76">
                <a:extLst>
                  <a:ext uri="{FF2B5EF4-FFF2-40B4-BE49-F238E27FC236}">
                    <a16:creationId xmlns:a16="http://schemas.microsoft.com/office/drawing/2014/main" id="{EA4D1491-8CC0-BEE2-993E-32D1CB0B8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701" y="3255002"/>
                <a:ext cx="452065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5A885AB8-D984-E30C-862C-0D4DD8C4A54C}"/>
              </a:ext>
            </a:extLst>
          </p:cNvPr>
          <p:cNvSpPr txBox="1"/>
          <p:nvPr/>
        </p:nvSpPr>
        <p:spPr>
          <a:xfrm>
            <a:off x="4390502" y="1726701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fase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EE62450-76A4-5F37-9ED6-0E88AE586EF3}"/>
              </a:ext>
            </a:extLst>
          </p:cNvPr>
          <p:cNvSpPr txBox="1"/>
          <p:nvPr/>
        </p:nvSpPr>
        <p:spPr>
          <a:xfrm>
            <a:off x="9039167" y="1864289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Stokes</a:t>
            </a:r>
          </a:p>
        </p:txBody>
      </p:sp>
    </p:spTree>
    <p:extLst>
      <p:ext uri="{BB962C8B-B14F-4D97-AF65-F5344CB8AC3E}">
        <p14:creationId xmlns:p14="http://schemas.microsoft.com/office/powerpoint/2010/main" val="3631379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24"/>
          <p:cNvCxnSpPr>
            <a:stCxn id="460" idx="6"/>
            <a:endCxn id="461" idx="1"/>
          </p:cNvCxnSpPr>
          <p:nvPr/>
        </p:nvCxnSpPr>
        <p:spPr>
          <a:xfrm>
            <a:off x="1268917" y="1724897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24"/>
          <p:cNvCxnSpPr>
            <a:stCxn id="463" idx="6"/>
            <a:endCxn id="464" idx="1"/>
          </p:cNvCxnSpPr>
          <p:nvPr/>
        </p:nvCxnSpPr>
        <p:spPr>
          <a:xfrm>
            <a:off x="1268917" y="2635330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24"/>
          <p:cNvCxnSpPr>
            <a:stCxn id="466" idx="6"/>
            <a:endCxn id="467" idx="1"/>
          </p:cNvCxnSpPr>
          <p:nvPr/>
        </p:nvCxnSpPr>
        <p:spPr>
          <a:xfrm>
            <a:off x="1268917" y="3545764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8" name="Google Shape;468;p24"/>
          <p:cNvCxnSpPr>
            <a:stCxn id="469" idx="6"/>
            <a:endCxn id="470" idx="1"/>
          </p:cNvCxnSpPr>
          <p:nvPr/>
        </p:nvCxnSpPr>
        <p:spPr>
          <a:xfrm>
            <a:off x="1268917" y="4456197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24"/>
          <p:cNvCxnSpPr>
            <a:stCxn id="472" idx="6"/>
            <a:endCxn id="473" idx="1"/>
          </p:cNvCxnSpPr>
          <p:nvPr/>
        </p:nvCxnSpPr>
        <p:spPr>
          <a:xfrm>
            <a:off x="1268917" y="5366630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5" name="Google Shape;475;p24"/>
          <p:cNvSpPr txBox="1">
            <a:spLocks noGrp="1"/>
          </p:cNvSpPr>
          <p:nvPr>
            <p:ph type="title"/>
          </p:nvPr>
        </p:nvSpPr>
        <p:spPr>
          <a:xfrm>
            <a:off x="762000" y="334192"/>
            <a:ext cx="10668000" cy="63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dirty="0"/>
              <a:t>Architettura Software</a:t>
            </a:r>
            <a:endParaRPr dirty="0"/>
          </a:p>
        </p:txBody>
      </p:sp>
      <p:sp>
        <p:nvSpPr>
          <p:cNvPr id="461" name="Google Shape;461;p24"/>
          <p:cNvSpPr/>
          <p:nvPr/>
        </p:nvSpPr>
        <p:spPr>
          <a:xfrm>
            <a:off x="2093300" y="14717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Application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2093300" y="23821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Controllo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2093300" y="32925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Protocollo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2093300" y="42029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Trasporto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2093300" y="51133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Hardware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557717" y="1369297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557717" y="2279730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557717" y="3190164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557717" y="4100597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557717" y="5011030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94" name="Google Shape;494;p24"/>
          <p:cNvSpPr txBox="1"/>
          <p:nvPr/>
        </p:nvSpPr>
        <p:spPr>
          <a:xfrm>
            <a:off x="509600" y="1519721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5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5" name="Google Shape;495;p24"/>
          <p:cNvSpPr txBox="1"/>
          <p:nvPr/>
        </p:nvSpPr>
        <p:spPr>
          <a:xfrm>
            <a:off x="509600" y="2430154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6" name="Google Shape;496;p24"/>
          <p:cNvSpPr txBox="1"/>
          <p:nvPr/>
        </p:nvSpPr>
        <p:spPr>
          <a:xfrm>
            <a:off x="509600" y="3340588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3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7" name="Google Shape;497;p24"/>
          <p:cNvSpPr txBox="1"/>
          <p:nvPr/>
        </p:nvSpPr>
        <p:spPr>
          <a:xfrm>
            <a:off x="509600" y="4251021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8" name="Google Shape;498;p24"/>
          <p:cNvSpPr txBox="1"/>
          <p:nvPr/>
        </p:nvSpPr>
        <p:spPr>
          <a:xfrm>
            <a:off x="509600" y="5161454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1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" name="Google Shape;461;p24">
            <a:extLst>
              <a:ext uri="{FF2B5EF4-FFF2-40B4-BE49-F238E27FC236}">
                <a16:creationId xmlns:a16="http://schemas.microsoft.com/office/drawing/2014/main" id="{8F586888-0B19-A37F-7565-8D1BE35B9B83}"/>
              </a:ext>
            </a:extLst>
          </p:cNvPr>
          <p:cNvSpPr/>
          <p:nvPr/>
        </p:nvSpPr>
        <p:spPr>
          <a:xfrm>
            <a:off x="7351104" y="1964914"/>
            <a:ext cx="3062899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it-IT"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s</a:t>
            </a:r>
            <a:r>
              <a:rPr lang="en"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tart_recording()</a:t>
            </a:r>
            <a:endParaRPr sz="20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4130A1AF-D4FE-DFA3-12BC-0A8CDA54E44B}"/>
              </a:ext>
            </a:extLst>
          </p:cNvPr>
          <p:cNvCxnSpPr>
            <a:cxnSpLocks/>
          </p:cNvCxnSpPr>
          <p:nvPr/>
        </p:nvCxnSpPr>
        <p:spPr>
          <a:xfrm>
            <a:off x="8882553" y="2496620"/>
            <a:ext cx="0" cy="5546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Google Shape;461;p24">
            <a:extLst>
              <a:ext uri="{FF2B5EF4-FFF2-40B4-BE49-F238E27FC236}">
                <a16:creationId xmlns:a16="http://schemas.microsoft.com/office/drawing/2014/main" id="{43BF3AFD-04C3-9EAF-4CB2-9871AF296551}"/>
              </a:ext>
            </a:extLst>
          </p:cNvPr>
          <p:cNvSpPr/>
          <p:nvPr/>
        </p:nvSpPr>
        <p:spPr>
          <a:xfrm>
            <a:off x="7351103" y="3059849"/>
            <a:ext cx="3062899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it-IT" sz="2000" dirty="0" err="1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get_sdram_raw</a:t>
            </a:r>
            <a:r>
              <a:rPr lang="it-IT"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()</a:t>
            </a:r>
            <a:endParaRPr sz="20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28164663-34EE-D191-0AEE-11D03E343538}"/>
              </a:ext>
            </a:extLst>
          </p:cNvPr>
          <p:cNvCxnSpPr>
            <a:cxnSpLocks/>
          </p:cNvCxnSpPr>
          <p:nvPr/>
        </p:nvCxnSpPr>
        <p:spPr>
          <a:xfrm>
            <a:off x="8883568" y="3592120"/>
            <a:ext cx="0" cy="5546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Google Shape;461;p24">
            <a:extLst>
              <a:ext uri="{FF2B5EF4-FFF2-40B4-BE49-F238E27FC236}">
                <a16:creationId xmlns:a16="http://schemas.microsoft.com/office/drawing/2014/main" id="{7D58643B-A7D7-C9BA-D2D7-A0EB2ACD7EC6}"/>
              </a:ext>
            </a:extLst>
          </p:cNvPr>
          <p:cNvSpPr/>
          <p:nvPr/>
        </p:nvSpPr>
        <p:spPr>
          <a:xfrm>
            <a:off x="7351103" y="4165136"/>
            <a:ext cx="3062899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it-IT"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get_SOP_1PPS()</a:t>
            </a:r>
            <a:endParaRPr sz="20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0" name="Google Shape;461;p24">
            <a:extLst>
              <a:ext uri="{FF2B5EF4-FFF2-40B4-BE49-F238E27FC236}">
                <a16:creationId xmlns:a16="http://schemas.microsoft.com/office/drawing/2014/main" id="{76AA2C9B-FF65-B309-8F2F-8C82AE0AD8C2}"/>
              </a:ext>
            </a:extLst>
          </p:cNvPr>
          <p:cNvSpPr/>
          <p:nvPr/>
        </p:nvSpPr>
        <p:spPr>
          <a:xfrm>
            <a:off x="7389204" y="5260852"/>
            <a:ext cx="3062899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it-IT"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h5_hourly_writer()</a:t>
            </a:r>
            <a:endParaRPr sz="20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95E4EC84-ECFE-DC3F-76D7-193404B6697A}"/>
              </a:ext>
            </a:extLst>
          </p:cNvPr>
          <p:cNvCxnSpPr>
            <a:cxnSpLocks/>
          </p:cNvCxnSpPr>
          <p:nvPr/>
        </p:nvCxnSpPr>
        <p:spPr>
          <a:xfrm>
            <a:off x="8877708" y="4711677"/>
            <a:ext cx="0" cy="5546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Google Shape;459;p24">
            <a:extLst>
              <a:ext uri="{FF2B5EF4-FFF2-40B4-BE49-F238E27FC236}">
                <a16:creationId xmlns:a16="http://schemas.microsoft.com/office/drawing/2014/main" id="{3369F260-AA82-9391-CE7A-CF1D6411987D}"/>
              </a:ext>
            </a:extLst>
          </p:cNvPr>
          <p:cNvCxnSpPr>
            <a:cxnSpLocks/>
          </p:cNvCxnSpPr>
          <p:nvPr/>
        </p:nvCxnSpPr>
        <p:spPr>
          <a:xfrm>
            <a:off x="6708534" y="5514052"/>
            <a:ext cx="68067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459;p24">
            <a:extLst>
              <a:ext uri="{FF2B5EF4-FFF2-40B4-BE49-F238E27FC236}">
                <a16:creationId xmlns:a16="http://schemas.microsoft.com/office/drawing/2014/main" id="{1F0CD99D-8BDA-59F9-DBD2-8FF26EB2D288}"/>
              </a:ext>
            </a:extLst>
          </p:cNvPr>
          <p:cNvCxnSpPr>
            <a:cxnSpLocks/>
          </p:cNvCxnSpPr>
          <p:nvPr/>
        </p:nvCxnSpPr>
        <p:spPr>
          <a:xfrm>
            <a:off x="6715312" y="3307454"/>
            <a:ext cx="0" cy="221382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DAB620E3-F4EE-4E9F-AB11-3F1457B07923}"/>
              </a:ext>
            </a:extLst>
          </p:cNvPr>
          <p:cNvCxnSpPr>
            <a:cxnSpLocks/>
          </p:cNvCxnSpPr>
          <p:nvPr/>
        </p:nvCxnSpPr>
        <p:spPr>
          <a:xfrm>
            <a:off x="6715312" y="3307315"/>
            <a:ext cx="59161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2428D18-4A0F-12C6-ED19-60A613FF26C5}"/>
              </a:ext>
            </a:extLst>
          </p:cNvPr>
          <p:cNvSpPr txBox="1"/>
          <p:nvPr/>
        </p:nvSpPr>
        <p:spPr>
          <a:xfrm>
            <a:off x="5828976" y="1328555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u="sng" dirty="0" err="1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Main</a:t>
            </a:r>
            <a:r>
              <a:rPr lang="it-IT" sz="2400" u="sng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 </a:t>
            </a:r>
            <a:r>
              <a:rPr lang="it-IT" sz="2400" u="sng" dirty="0" err="1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acquisition</a:t>
            </a:r>
            <a:r>
              <a:rPr lang="it-IT" sz="2400" u="sng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 loop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7D22795-F169-C1B7-B5EB-6F3BA8DB78D6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>
          <a:extLst>
            <a:ext uri="{FF2B5EF4-FFF2-40B4-BE49-F238E27FC236}">
              <a16:creationId xmlns:a16="http://schemas.microsoft.com/office/drawing/2014/main" id="{45BCF53E-AB64-8704-FB60-2D86B74A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24">
            <a:extLst>
              <a:ext uri="{FF2B5EF4-FFF2-40B4-BE49-F238E27FC236}">
                <a16:creationId xmlns:a16="http://schemas.microsoft.com/office/drawing/2014/main" id="{216E95C1-15FF-55BC-733F-558A8BC746EB}"/>
              </a:ext>
            </a:extLst>
          </p:cNvPr>
          <p:cNvCxnSpPr>
            <a:stCxn id="460" idx="6"/>
            <a:endCxn id="461" idx="1"/>
          </p:cNvCxnSpPr>
          <p:nvPr/>
        </p:nvCxnSpPr>
        <p:spPr>
          <a:xfrm>
            <a:off x="1268917" y="1724897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24">
            <a:extLst>
              <a:ext uri="{FF2B5EF4-FFF2-40B4-BE49-F238E27FC236}">
                <a16:creationId xmlns:a16="http://schemas.microsoft.com/office/drawing/2014/main" id="{767D9E0A-B604-D312-8969-64E4D8412647}"/>
              </a:ext>
            </a:extLst>
          </p:cNvPr>
          <p:cNvCxnSpPr>
            <a:stCxn id="463" idx="6"/>
            <a:endCxn id="464" idx="1"/>
          </p:cNvCxnSpPr>
          <p:nvPr/>
        </p:nvCxnSpPr>
        <p:spPr>
          <a:xfrm>
            <a:off x="1268917" y="2635330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24">
            <a:extLst>
              <a:ext uri="{FF2B5EF4-FFF2-40B4-BE49-F238E27FC236}">
                <a16:creationId xmlns:a16="http://schemas.microsoft.com/office/drawing/2014/main" id="{B5753FFC-2317-18CD-26F6-DAF9CF6FEF88}"/>
              </a:ext>
            </a:extLst>
          </p:cNvPr>
          <p:cNvCxnSpPr>
            <a:stCxn id="466" idx="6"/>
            <a:endCxn id="467" idx="1"/>
          </p:cNvCxnSpPr>
          <p:nvPr/>
        </p:nvCxnSpPr>
        <p:spPr>
          <a:xfrm>
            <a:off x="1268917" y="3545764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8" name="Google Shape;468;p24">
            <a:extLst>
              <a:ext uri="{FF2B5EF4-FFF2-40B4-BE49-F238E27FC236}">
                <a16:creationId xmlns:a16="http://schemas.microsoft.com/office/drawing/2014/main" id="{92F79C1F-69CD-3F9C-8999-567C633F67BE}"/>
              </a:ext>
            </a:extLst>
          </p:cNvPr>
          <p:cNvCxnSpPr>
            <a:stCxn id="469" idx="6"/>
            <a:endCxn id="470" idx="1"/>
          </p:cNvCxnSpPr>
          <p:nvPr/>
        </p:nvCxnSpPr>
        <p:spPr>
          <a:xfrm>
            <a:off x="1268917" y="4456197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24">
            <a:extLst>
              <a:ext uri="{FF2B5EF4-FFF2-40B4-BE49-F238E27FC236}">
                <a16:creationId xmlns:a16="http://schemas.microsoft.com/office/drawing/2014/main" id="{A44E6792-36CF-632A-66E9-1EA11B6D018D}"/>
              </a:ext>
            </a:extLst>
          </p:cNvPr>
          <p:cNvCxnSpPr>
            <a:stCxn id="472" idx="6"/>
            <a:endCxn id="473" idx="1"/>
          </p:cNvCxnSpPr>
          <p:nvPr/>
        </p:nvCxnSpPr>
        <p:spPr>
          <a:xfrm>
            <a:off x="1268917" y="5366630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5" name="Google Shape;475;p24">
            <a:extLst>
              <a:ext uri="{FF2B5EF4-FFF2-40B4-BE49-F238E27FC236}">
                <a16:creationId xmlns:a16="http://schemas.microsoft.com/office/drawing/2014/main" id="{1BD384B5-3036-2CBA-7274-EABDDEE03D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334192"/>
            <a:ext cx="10668000" cy="63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dirty="0"/>
              <a:t>Architettura Software</a:t>
            </a:r>
            <a:endParaRPr dirty="0"/>
          </a:p>
        </p:txBody>
      </p:sp>
      <p:sp>
        <p:nvSpPr>
          <p:cNvPr id="461" name="Google Shape;461;p24">
            <a:extLst>
              <a:ext uri="{FF2B5EF4-FFF2-40B4-BE49-F238E27FC236}">
                <a16:creationId xmlns:a16="http://schemas.microsoft.com/office/drawing/2014/main" id="{44F99423-57CD-FF63-8983-DCEA57BDBD29}"/>
              </a:ext>
            </a:extLst>
          </p:cNvPr>
          <p:cNvSpPr/>
          <p:nvPr/>
        </p:nvSpPr>
        <p:spPr>
          <a:xfrm>
            <a:off x="2093300" y="14717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Application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64" name="Google Shape;464;p24">
            <a:extLst>
              <a:ext uri="{FF2B5EF4-FFF2-40B4-BE49-F238E27FC236}">
                <a16:creationId xmlns:a16="http://schemas.microsoft.com/office/drawing/2014/main" id="{87F23063-2884-4FDB-EFC7-3388B98BC1BA}"/>
              </a:ext>
            </a:extLst>
          </p:cNvPr>
          <p:cNvSpPr/>
          <p:nvPr/>
        </p:nvSpPr>
        <p:spPr>
          <a:xfrm>
            <a:off x="2093300" y="23821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Controllo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67" name="Google Shape;467;p24">
            <a:extLst>
              <a:ext uri="{FF2B5EF4-FFF2-40B4-BE49-F238E27FC236}">
                <a16:creationId xmlns:a16="http://schemas.microsoft.com/office/drawing/2014/main" id="{11564020-61E8-761B-7F5C-63700B3A88EA}"/>
              </a:ext>
            </a:extLst>
          </p:cNvPr>
          <p:cNvSpPr/>
          <p:nvPr/>
        </p:nvSpPr>
        <p:spPr>
          <a:xfrm>
            <a:off x="2093300" y="32925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Protocollo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70" name="Google Shape;470;p24">
            <a:extLst>
              <a:ext uri="{FF2B5EF4-FFF2-40B4-BE49-F238E27FC236}">
                <a16:creationId xmlns:a16="http://schemas.microsoft.com/office/drawing/2014/main" id="{16D97E33-291B-5369-C551-F759953B5C68}"/>
              </a:ext>
            </a:extLst>
          </p:cNvPr>
          <p:cNvSpPr/>
          <p:nvPr/>
        </p:nvSpPr>
        <p:spPr>
          <a:xfrm>
            <a:off x="2093300" y="42029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Trasporto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73" name="Google Shape;473;p24">
            <a:extLst>
              <a:ext uri="{FF2B5EF4-FFF2-40B4-BE49-F238E27FC236}">
                <a16:creationId xmlns:a16="http://schemas.microsoft.com/office/drawing/2014/main" id="{4EE5EA56-A6BA-BC00-09E9-1A1D349474F4}"/>
              </a:ext>
            </a:extLst>
          </p:cNvPr>
          <p:cNvSpPr/>
          <p:nvPr/>
        </p:nvSpPr>
        <p:spPr>
          <a:xfrm>
            <a:off x="2093300" y="51133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Hardware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60" name="Google Shape;460;p24">
            <a:extLst>
              <a:ext uri="{FF2B5EF4-FFF2-40B4-BE49-F238E27FC236}">
                <a16:creationId xmlns:a16="http://schemas.microsoft.com/office/drawing/2014/main" id="{868183B1-77A0-69CC-D9B2-48258A802894}"/>
              </a:ext>
            </a:extLst>
          </p:cNvPr>
          <p:cNvSpPr/>
          <p:nvPr/>
        </p:nvSpPr>
        <p:spPr>
          <a:xfrm>
            <a:off x="557717" y="1369297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63" name="Google Shape;463;p24">
            <a:extLst>
              <a:ext uri="{FF2B5EF4-FFF2-40B4-BE49-F238E27FC236}">
                <a16:creationId xmlns:a16="http://schemas.microsoft.com/office/drawing/2014/main" id="{1BB63091-3AB4-5014-8BD7-9B78F71E95E0}"/>
              </a:ext>
            </a:extLst>
          </p:cNvPr>
          <p:cNvSpPr/>
          <p:nvPr/>
        </p:nvSpPr>
        <p:spPr>
          <a:xfrm>
            <a:off x="557717" y="2279730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66" name="Google Shape;466;p24">
            <a:extLst>
              <a:ext uri="{FF2B5EF4-FFF2-40B4-BE49-F238E27FC236}">
                <a16:creationId xmlns:a16="http://schemas.microsoft.com/office/drawing/2014/main" id="{BABE5794-1FF1-31D9-7962-81B8DA3EC419}"/>
              </a:ext>
            </a:extLst>
          </p:cNvPr>
          <p:cNvSpPr/>
          <p:nvPr/>
        </p:nvSpPr>
        <p:spPr>
          <a:xfrm>
            <a:off x="557717" y="3190164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69" name="Google Shape;469;p24">
            <a:extLst>
              <a:ext uri="{FF2B5EF4-FFF2-40B4-BE49-F238E27FC236}">
                <a16:creationId xmlns:a16="http://schemas.microsoft.com/office/drawing/2014/main" id="{232457E4-C7BF-FE4F-7AFC-5E7F2CB66F5D}"/>
              </a:ext>
            </a:extLst>
          </p:cNvPr>
          <p:cNvSpPr/>
          <p:nvPr/>
        </p:nvSpPr>
        <p:spPr>
          <a:xfrm>
            <a:off x="557717" y="4100597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72" name="Google Shape;472;p24">
            <a:extLst>
              <a:ext uri="{FF2B5EF4-FFF2-40B4-BE49-F238E27FC236}">
                <a16:creationId xmlns:a16="http://schemas.microsoft.com/office/drawing/2014/main" id="{F1359E2A-6AE8-45B3-F49E-B5EAC2C7C004}"/>
              </a:ext>
            </a:extLst>
          </p:cNvPr>
          <p:cNvSpPr/>
          <p:nvPr/>
        </p:nvSpPr>
        <p:spPr>
          <a:xfrm>
            <a:off x="557717" y="5011030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94" name="Google Shape;494;p24">
            <a:extLst>
              <a:ext uri="{FF2B5EF4-FFF2-40B4-BE49-F238E27FC236}">
                <a16:creationId xmlns:a16="http://schemas.microsoft.com/office/drawing/2014/main" id="{25CCB727-F93E-26FD-BA57-5C6E5498D53E}"/>
              </a:ext>
            </a:extLst>
          </p:cNvPr>
          <p:cNvSpPr txBox="1"/>
          <p:nvPr/>
        </p:nvSpPr>
        <p:spPr>
          <a:xfrm>
            <a:off x="509600" y="1519721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5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5" name="Google Shape;495;p24">
            <a:extLst>
              <a:ext uri="{FF2B5EF4-FFF2-40B4-BE49-F238E27FC236}">
                <a16:creationId xmlns:a16="http://schemas.microsoft.com/office/drawing/2014/main" id="{C67AD1DE-1D7E-9D93-DB2C-93DC2A7E0EF9}"/>
              </a:ext>
            </a:extLst>
          </p:cNvPr>
          <p:cNvSpPr txBox="1"/>
          <p:nvPr/>
        </p:nvSpPr>
        <p:spPr>
          <a:xfrm>
            <a:off x="509600" y="2430154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6" name="Google Shape;496;p24">
            <a:extLst>
              <a:ext uri="{FF2B5EF4-FFF2-40B4-BE49-F238E27FC236}">
                <a16:creationId xmlns:a16="http://schemas.microsoft.com/office/drawing/2014/main" id="{43B24A44-1CAE-BD12-6AD6-2FA00D283DAF}"/>
              </a:ext>
            </a:extLst>
          </p:cNvPr>
          <p:cNvSpPr txBox="1"/>
          <p:nvPr/>
        </p:nvSpPr>
        <p:spPr>
          <a:xfrm>
            <a:off x="509600" y="3340588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3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7" name="Google Shape;497;p24">
            <a:extLst>
              <a:ext uri="{FF2B5EF4-FFF2-40B4-BE49-F238E27FC236}">
                <a16:creationId xmlns:a16="http://schemas.microsoft.com/office/drawing/2014/main" id="{D1C70224-1CD6-371E-7DF8-BE75F896788D}"/>
              </a:ext>
            </a:extLst>
          </p:cNvPr>
          <p:cNvSpPr txBox="1"/>
          <p:nvPr/>
        </p:nvSpPr>
        <p:spPr>
          <a:xfrm>
            <a:off x="509600" y="4251021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8" name="Google Shape;498;p24">
            <a:extLst>
              <a:ext uri="{FF2B5EF4-FFF2-40B4-BE49-F238E27FC236}">
                <a16:creationId xmlns:a16="http://schemas.microsoft.com/office/drawing/2014/main" id="{2972D6D7-6184-72E8-937A-7F514EA6E638}"/>
              </a:ext>
            </a:extLst>
          </p:cNvPr>
          <p:cNvSpPr txBox="1"/>
          <p:nvPr/>
        </p:nvSpPr>
        <p:spPr>
          <a:xfrm>
            <a:off x="509600" y="5161454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1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661ADE5-C138-AD37-1E99-D94A96D6FDBB}"/>
              </a:ext>
            </a:extLst>
          </p:cNvPr>
          <p:cNvSpPr/>
          <p:nvPr/>
        </p:nvSpPr>
        <p:spPr>
          <a:xfrm>
            <a:off x="5336931" y="1239516"/>
            <a:ext cx="6496309" cy="1649014"/>
          </a:xfrm>
          <a:prstGeom prst="roundRect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9DD0C1C-2A7A-D62D-2AFE-9B0486A94277}"/>
              </a:ext>
            </a:extLst>
          </p:cNvPr>
          <p:cNvSpPr txBox="1"/>
          <p:nvPr/>
        </p:nvSpPr>
        <p:spPr>
          <a:xfrm>
            <a:off x="5336931" y="1345931"/>
            <a:ext cx="64963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u="sng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Class PM1000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Configurazione                   </a:t>
            </a:r>
            <a:r>
              <a:rPr lang="it-IT" sz="2000" dirty="0" err="1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set_ME</a:t>
            </a:r>
            <a:r>
              <a:rPr lang="it-IT"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, </a:t>
            </a:r>
            <a:r>
              <a:rPr lang="it-IT" sz="2000" dirty="0" err="1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set_ATE</a:t>
            </a:r>
            <a:endParaRPr lang="it-IT" sz="20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Acquisizione                        </a:t>
            </a:r>
            <a:r>
              <a:rPr lang="it-IT" sz="2000" dirty="0" err="1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start_recording</a:t>
            </a:r>
            <a:endParaRPr lang="it-IT" sz="20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Lettura dati                          </a:t>
            </a:r>
            <a:r>
              <a:rPr lang="it-IT" sz="2000" dirty="0" err="1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get_rec_block</a:t>
            </a:r>
            <a:endParaRPr lang="it-IT" sz="20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3C51A18-3B58-1F1D-AD55-5F7BC5BA1AC1}"/>
              </a:ext>
            </a:extLst>
          </p:cNvPr>
          <p:cNvCxnSpPr>
            <a:cxnSpLocks/>
          </p:cNvCxnSpPr>
          <p:nvPr/>
        </p:nvCxnSpPr>
        <p:spPr>
          <a:xfrm>
            <a:off x="8102072" y="1886021"/>
            <a:ext cx="75846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8A5E2632-89FE-8671-7D92-761F50389C45}"/>
              </a:ext>
            </a:extLst>
          </p:cNvPr>
          <p:cNvCxnSpPr>
            <a:cxnSpLocks/>
          </p:cNvCxnSpPr>
          <p:nvPr/>
        </p:nvCxnSpPr>
        <p:spPr>
          <a:xfrm>
            <a:off x="8088924" y="2188700"/>
            <a:ext cx="75846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AAD9CF4D-465F-2578-B6AA-917F50B28725}"/>
              </a:ext>
            </a:extLst>
          </p:cNvPr>
          <p:cNvCxnSpPr>
            <a:cxnSpLocks/>
          </p:cNvCxnSpPr>
          <p:nvPr/>
        </p:nvCxnSpPr>
        <p:spPr>
          <a:xfrm>
            <a:off x="8088924" y="2476907"/>
            <a:ext cx="75846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36A7B869-673D-41CF-E840-3B5B5A57BF23}"/>
              </a:ext>
            </a:extLst>
          </p:cNvPr>
          <p:cNvSpPr/>
          <p:nvPr/>
        </p:nvSpPr>
        <p:spPr>
          <a:xfrm>
            <a:off x="5336931" y="3428620"/>
            <a:ext cx="6496309" cy="2303969"/>
          </a:xfrm>
          <a:prstGeom prst="round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latin typeface="+mj-lt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7B7099D-63E1-FAD2-3B84-383CCA30F243}"/>
              </a:ext>
            </a:extLst>
          </p:cNvPr>
          <p:cNvSpPr txBox="1"/>
          <p:nvPr/>
        </p:nvSpPr>
        <p:spPr>
          <a:xfrm>
            <a:off x="5336931" y="3573837"/>
            <a:ext cx="64963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u="sng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Class PM1000_transport PyD3XX 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090F91E6-CD8B-A4C8-765D-9843BD27437B}"/>
              </a:ext>
            </a:extLst>
          </p:cNvPr>
          <p:cNvSpPr/>
          <p:nvPr/>
        </p:nvSpPr>
        <p:spPr>
          <a:xfrm>
            <a:off x="6096000" y="4595502"/>
            <a:ext cx="5030678" cy="787926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8D0F699F-C9CA-C256-BA2C-F95B0DA984CD}"/>
              </a:ext>
            </a:extLst>
          </p:cNvPr>
          <p:cNvSpPr txBox="1"/>
          <p:nvPr/>
        </p:nvSpPr>
        <p:spPr>
          <a:xfrm>
            <a:off x="6017764" y="4057596"/>
            <a:ext cx="14354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 err="1">
                <a:latin typeface="+mj-lt"/>
                <a:sym typeface="Fira Sans Extra Condensed SemiBold"/>
              </a:rPr>
              <a:t>Packet</a:t>
            </a:r>
            <a:r>
              <a:rPr lang="it-IT" sz="1600" dirty="0">
                <a:latin typeface="+mj-lt"/>
                <a:sym typeface="Fira Sans Extra Condensed SemiBold"/>
              </a:rPr>
              <a:t>:</a:t>
            </a:r>
            <a:endParaRPr lang="it-IT" sz="1600" dirty="0">
              <a:latin typeface="+mj-lt"/>
            </a:endParaRP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1150FA36-B829-479D-EB97-F66341DF6F19}"/>
              </a:ext>
            </a:extLst>
          </p:cNvPr>
          <p:cNvCxnSpPr>
            <a:cxnSpLocks/>
          </p:cNvCxnSpPr>
          <p:nvPr/>
        </p:nvCxnSpPr>
        <p:spPr>
          <a:xfrm>
            <a:off x="7398737" y="4602431"/>
            <a:ext cx="0" cy="787926"/>
          </a:xfrm>
          <a:prstGeom prst="lin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4DA00C87-390F-FDB3-14D9-0D82F21F9C57}"/>
              </a:ext>
            </a:extLst>
          </p:cNvPr>
          <p:cNvCxnSpPr>
            <a:cxnSpLocks/>
          </p:cNvCxnSpPr>
          <p:nvPr/>
        </p:nvCxnSpPr>
        <p:spPr>
          <a:xfrm>
            <a:off x="8667762" y="4595502"/>
            <a:ext cx="0" cy="787926"/>
          </a:xfrm>
          <a:prstGeom prst="lin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68979331-7CB7-192B-E280-7BE6049D3FA8}"/>
              </a:ext>
            </a:extLst>
          </p:cNvPr>
          <p:cNvCxnSpPr>
            <a:cxnSpLocks/>
          </p:cNvCxnSpPr>
          <p:nvPr/>
        </p:nvCxnSpPr>
        <p:spPr>
          <a:xfrm>
            <a:off x="9954374" y="4602431"/>
            <a:ext cx="0" cy="787926"/>
          </a:xfrm>
          <a:prstGeom prst="lin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491C0703-E884-0778-197F-35932BCD98F3}"/>
              </a:ext>
            </a:extLst>
          </p:cNvPr>
          <p:cNvSpPr txBox="1"/>
          <p:nvPr/>
        </p:nvSpPr>
        <p:spPr>
          <a:xfrm>
            <a:off x="6284970" y="4706897"/>
            <a:ext cx="901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>
                <a:latin typeface="+mj-lt"/>
                <a:sym typeface="Fira Sans Extra Condensed SemiBold"/>
              </a:rPr>
              <a:t>CMD</a:t>
            </a:r>
          </a:p>
          <a:p>
            <a:pPr algn="ctr"/>
            <a:r>
              <a:rPr lang="it-IT" sz="1600" dirty="0">
                <a:latin typeface="+mj-lt"/>
                <a:sym typeface="Fira Sans Extra Condensed SemiBold"/>
              </a:rPr>
              <a:t>16 bit</a:t>
            </a:r>
            <a:endParaRPr lang="it-IT" sz="1600" dirty="0">
              <a:latin typeface="+mj-lt"/>
            </a:endParaRP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B6013175-EE3C-EF66-3F63-3A3A4E68723B}"/>
              </a:ext>
            </a:extLst>
          </p:cNvPr>
          <p:cNvSpPr txBox="1"/>
          <p:nvPr/>
        </p:nvSpPr>
        <p:spPr>
          <a:xfrm>
            <a:off x="7600684" y="4706896"/>
            <a:ext cx="901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>
                <a:latin typeface="+mj-lt"/>
                <a:sym typeface="Fira Sans Extra Condensed SemiBold"/>
              </a:rPr>
              <a:t>ADDR</a:t>
            </a:r>
          </a:p>
          <a:p>
            <a:pPr algn="ctr"/>
            <a:r>
              <a:rPr lang="it-IT" sz="1600" dirty="0">
                <a:latin typeface="+mj-lt"/>
                <a:sym typeface="Fira Sans Extra Condensed SemiBold"/>
              </a:rPr>
              <a:t>12 bit</a:t>
            </a:r>
            <a:endParaRPr lang="it-IT" sz="1600" dirty="0">
              <a:latin typeface="+mj-lt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84BFFAA-463D-CF3C-FAB0-7F7B490B061E}"/>
              </a:ext>
            </a:extLst>
          </p:cNvPr>
          <p:cNvSpPr txBox="1"/>
          <p:nvPr/>
        </p:nvSpPr>
        <p:spPr>
          <a:xfrm>
            <a:off x="8860533" y="4706896"/>
            <a:ext cx="901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>
                <a:latin typeface="+mj-lt"/>
                <a:sym typeface="Fira Sans Extra Condensed SemiBold"/>
              </a:rPr>
              <a:t>DATA</a:t>
            </a:r>
          </a:p>
          <a:p>
            <a:pPr algn="ctr"/>
            <a:r>
              <a:rPr lang="it-IT" sz="1600" dirty="0">
                <a:latin typeface="+mj-lt"/>
                <a:sym typeface="Fira Sans Extra Condensed SemiBold"/>
              </a:rPr>
              <a:t>16 bit</a:t>
            </a:r>
            <a:endParaRPr lang="it-IT" sz="1600" dirty="0">
              <a:latin typeface="+mj-lt"/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2FE980B5-30AD-D54C-3183-774D1B502CAB}"/>
              </a:ext>
            </a:extLst>
          </p:cNvPr>
          <p:cNvSpPr txBox="1"/>
          <p:nvPr/>
        </p:nvSpPr>
        <p:spPr>
          <a:xfrm>
            <a:off x="10100926" y="4706896"/>
            <a:ext cx="901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>
                <a:latin typeface="+mj-lt"/>
                <a:sym typeface="Fira Sans Extra Condensed SemiBold"/>
              </a:rPr>
              <a:t>CRC</a:t>
            </a:r>
          </a:p>
          <a:p>
            <a:pPr algn="ctr"/>
            <a:r>
              <a:rPr lang="it-IT" sz="1600" dirty="0">
                <a:latin typeface="+mj-lt"/>
                <a:sym typeface="Fira Sans Extra Condensed SemiBold"/>
              </a:rPr>
              <a:t>16 bit</a:t>
            </a:r>
            <a:endParaRPr lang="it-IT" sz="1600" dirty="0">
              <a:latin typeface="+mj-lt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D1E5AA5-2D2A-A137-807F-CD3D5500604F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23133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>
          <a:extLst>
            <a:ext uri="{FF2B5EF4-FFF2-40B4-BE49-F238E27FC236}">
              <a16:creationId xmlns:a16="http://schemas.microsoft.com/office/drawing/2014/main" id="{11BBC9BD-D43B-0BC1-1C15-A4B6D8D6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24">
            <a:extLst>
              <a:ext uri="{FF2B5EF4-FFF2-40B4-BE49-F238E27FC236}">
                <a16:creationId xmlns:a16="http://schemas.microsoft.com/office/drawing/2014/main" id="{64AF2A8E-E869-D149-CDA5-5CFACBCF85E9}"/>
              </a:ext>
            </a:extLst>
          </p:cNvPr>
          <p:cNvCxnSpPr>
            <a:stCxn id="460" idx="6"/>
            <a:endCxn id="461" idx="1"/>
          </p:cNvCxnSpPr>
          <p:nvPr/>
        </p:nvCxnSpPr>
        <p:spPr>
          <a:xfrm>
            <a:off x="1268917" y="1724897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24">
            <a:extLst>
              <a:ext uri="{FF2B5EF4-FFF2-40B4-BE49-F238E27FC236}">
                <a16:creationId xmlns:a16="http://schemas.microsoft.com/office/drawing/2014/main" id="{68062193-04E3-774A-4AB6-062543D7771D}"/>
              </a:ext>
            </a:extLst>
          </p:cNvPr>
          <p:cNvCxnSpPr>
            <a:stCxn id="463" idx="6"/>
            <a:endCxn id="464" idx="1"/>
          </p:cNvCxnSpPr>
          <p:nvPr/>
        </p:nvCxnSpPr>
        <p:spPr>
          <a:xfrm>
            <a:off x="1268917" y="2635330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24">
            <a:extLst>
              <a:ext uri="{FF2B5EF4-FFF2-40B4-BE49-F238E27FC236}">
                <a16:creationId xmlns:a16="http://schemas.microsoft.com/office/drawing/2014/main" id="{4207C343-DA99-805F-56D6-93BAEA0F4474}"/>
              </a:ext>
            </a:extLst>
          </p:cNvPr>
          <p:cNvCxnSpPr>
            <a:stCxn id="466" idx="6"/>
            <a:endCxn id="467" idx="1"/>
          </p:cNvCxnSpPr>
          <p:nvPr/>
        </p:nvCxnSpPr>
        <p:spPr>
          <a:xfrm>
            <a:off x="1268917" y="3545764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8" name="Google Shape;468;p24">
            <a:extLst>
              <a:ext uri="{FF2B5EF4-FFF2-40B4-BE49-F238E27FC236}">
                <a16:creationId xmlns:a16="http://schemas.microsoft.com/office/drawing/2014/main" id="{1F60EEFE-8A66-7B80-8E13-46267BF0EA20}"/>
              </a:ext>
            </a:extLst>
          </p:cNvPr>
          <p:cNvCxnSpPr>
            <a:stCxn id="469" idx="6"/>
            <a:endCxn id="470" idx="1"/>
          </p:cNvCxnSpPr>
          <p:nvPr/>
        </p:nvCxnSpPr>
        <p:spPr>
          <a:xfrm>
            <a:off x="1268917" y="4456197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24">
            <a:extLst>
              <a:ext uri="{FF2B5EF4-FFF2-40B4-BE49-F238E27FC236}">
                <a16:creationId xmlns:a16="http://schemas.microsoft.com/office/drawing/2014/main" id="{EF2A540B-6122-C9B0-917E-D4ED7A1E4D7C}"/>
              </a:ext>
            </a:extLst>
          </p:cNvPr>
          <p:cNvCxnSpPr>
            <a:stCxn id="472" idx="6"/>
            <a:endCxn id="473" idx="1"/>
          </p:cNvCxnSpPr>
          <p:nvPr/>
        </p:nvCxnSpPr>
        <p:spPr>
          <a:xfrm>
            <a:off x="1268917" y="5366630"/>
            <a:ext cx="82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5" name="Google Shape;475;p24">
            <a:extLst>
              <a:ext uri="{FF2B5EF4-FFF2-40B4-BE49-F238E27FC236}">
                <a16:creationId xmlns:a16="http://schemas.microsoft.com/office/drawing/2014/main" id="{C1D76D18-BE38-1CFC-6055-4E46D122CB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334192"/>
            <a:ext cx="10668000" cy="63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dirty="0"/>
              <a:t>Architettura Software</a:t>
            </a:r>
            <a:endParaRPr dirty="0"/>
          </a:p>
        </p:txBody>
      </p:sp>
      <p:sp>
        <p:nvSpPr>
          <p:cNvPr id="461" name="Google Shape;461;p24">
            <a:extLst>
              <a:ext uri="{FF2B5EF4-FFF2-40B4-BE49-F238E27FC236}">
                <a16:creationId xmlns:a16="http://schemas.microsoft.com/office/drawing/2014/main" id="{CF835BEB-AF49-B46C-32FC-D379B9A4C8F2}"/>
              </a:ext>
            </a:extLst>
          </p:cNvPr>
          <p:cNvSpPr/>
          <p:nvPr/>
        </p:nvSpPr>
        <p:spPr>
          <a:xfrm>
            <a:off x="2093300" y="14717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Application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64" name="Google Shape;464;p24">
            <a:extLst>
              <a:ext uri="{FF2B5EF4-FFF2-40B4-BE49-F238E27FC236}">
                <a16:creationId xmlns:a16="http://schemas.microsoft.com/office/drawing/2014/main" id="{9135E06B-2A7B-6380-54AA-33578B0AE131}"/>
              </a:ext>
            </a:extLst>
          </p:cNvPr>
          <p:cNvSpPr/>
          <p:nvPr/>
        </p:nvSpPr>
        <p:spPr>
          <a:xfrm>
            <a:off x="2093300" y="23821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Controllo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67" name="Google Shape;467;p24">
            <a:extLst>
              <a:ext uri="{FF2B5EF4-FFF2-40B4-BE49-F238E27FC236}">
                <a16:creationId xmlns:a16="http://schemas.microsoft.com/office/drawing/2014/main" id="{CE4E8316-A7E0-BAE8-C4D3-69A46176E470}"/>
              </a:ext>
            </a:extLst>
          </p:cNvPr>
          <p:cNvSpPr/>
          <p:nvPr/>
        </p:nvSpPr>
        <p:spPr>
          <a:xfrm>
            <a:off x="2093300" y="32925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Protocollo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70" name="Google Shape;470;p24">
            <a:extLst>
              <a:ext uri="{FF2B5EF4-FFF2-40B4-BE49-F238E27FC236}">
                <a16:creationId xmlns:a16="http://schemas.microsoft.com/office/drawing/2014/main" id="{760B32FC-8AB4-77E8-4523-239E1A23957C}"/>
              </a:ext>
            </a:extLst>
          </p:cNvPr>
          <p:cNvSpPr/>
          <p:nvPr/>
        </p:nvSpPr>
        <p:spPr>
          <a:xfrm>
            <a:off x="2093300" y="42029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Trasporto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73" name="Google Shape;473;p24">
            <a:extLst>
              <a:ext uri="{FF2B5EF4-FFF2-40B4-BE49-F238E27FC236}">
                <a16:creationId xmlns:a16="http://schemas.microsoft.com/office/drawing/2014/main" id="{A8D4C58D-5B4B-957A-3BD1-0018E32AACF7}"/>
              </a:ext>
            </a:extLst>
          </p:cNvPr>
          <p:cNvSpPr/>
          <p:nvPr/>
        </p:nvSpPr>
        <p:spPr>
          <a:xfrm>
            <a:off x="2093300" y="5113330"/>
            <a:ext cx="2580400" cy="5064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Hardware</a:t>
            </a:r>
            <a:endParaRPr sz="28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60" name="Google Shape;460;p24">
            <a:extLst>
              <a:ext uri="{FF2B5EF4-FFF2-40B4-BE49-F238E27FC236}">
                <a16:creationId xmlns:a16="http://schemas.microsoft.com/office/drawing/2014/main" id="{905DD971-28DB-6D48-ECF4-D51E5C2EB13B}"/>
              </a:ext>
            </a:extLst>
          </p:cNvPr>
          <p:cNvSpPr/>
          <p:nvPr/>
        </p:nvSpPr>
        <p:spPr>
          <a:xfrm>
            <a:off x="557717" y="1369297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63" name="Google Shape;463;p24">
            <a:extLst>
              <a:ext uri="{FF2B5EF4-FFF2-40B4-BE49-F238E27FC236}">
                <a16:creationId xmlns:a16="http://schemas.microsoft.com/office/drawing/2014/main" id="{19C6BB27-427E-64ED-3B22-7570371795FB}"/>
              </a:ext>
            </a:extLst>
          </p:cNvPr>
          <p:cNvSpPr/>
          <p:nvPr/>
        </p:nvSpPr>
        <p:spPr>
          <a:xfrm>
            <a:off x="557717" y="2279730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66" name="Google Shape;466;p24">
            <a:extLst>
              <a:ext uri="{FF2B5EF4-FFF2-40B4-BE49-F238E27FC236}">
                <a16:creationId xmlns:a16="http://schemas.microsoft.com/office/drawing/2014/main" id="{ABB6BB0F-B457-154A-372F-6718724CF44B}"/>
              </a:ext>
            </a:extLst>
          </p:cNvPr>
          <p:cNvSpPr/>
          <p:nvPr/>
        </p:nvSpPr>
        <p:spPr>
          <a:xfrm>
            <a:off x="557717" y="3190164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69" name="Google Shape;469;p24">
            <a:extLst>
              <a:ext uri="{FF2B5EF4-FFF2-40B4-BE49-F238E27FC236}">
                <a16:creationId xmlns:a16="http://schemas.microsoft.com/office/drawing/2014/main" id="{1A2D5C57-32EB-B1BE-7116-D52AD112CC47}"/>
              </a:ext>
            </a:extLst>
          </p:cNvPr>
          <p:cNvSpPr/>
          <p:nvPr/>
        </p:nvSpPr>
        <p:spPr>
          <a:xfrm>
            <a:off x="557717" y="4100597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72" name="Google Shape;472;p24">
            <a:extLst>
              <a:ext uri="{FF2B5EF4-FFF2-40B4-BE49-F238E27FC236}">
                <a16:creationId xmlns:a16="http://schemas.microsoft.com/office/drawing/2014/main" id="{7553BF6E-A715-B1A3-3DF4-518707093015}"/>
              </a:ext>
            </a:extLst>
          </p:cNvPr>
          <p:cNvSpPr/>
          <p:nvPr/>
        </p:nvSpPr>
        <p:spPr>
          <a:xfrm>
            <a:off x="557717" y="5011030"/>
            <a:ext cx="711200" cy="71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000">
              <a:latin typeface="+mj-lt"/>
            </a:endParaRPr>
          </a:p>
        </p:txBody>
      </p:sp>
      <p:sp>
        <p:nvSpPr>
          <p:cNvPr id="494" name="Google Shape;494;p24">
            <a:extLst>
              <a:ext uri="{FF2B5EF4-FFF2-40B4-BE49-F238E27FC236}">
                <a16:creationId xmlns:a16="http://schemas.microsoft.com/office/drawing/2014/main" id="{D409E60A-4D9E-BF3B-BC88-AC957B3E55AF}"/>
              </a:ext>
            </a:extLst>
          </p:cNvPr>
          <p:cNvSpPr txBox="1"/>
          <p:nvPr/>
        </p:nvSpPr>
        <p:spPr>
          <a:xfrm>
            <a:off x="509600" y="1519721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5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5" name="Google Shape;495;p24">
            <a:extLst>
              <a:ext uri="{FF2B5EF4-FFF2-40B4-BE49-F238E27FC236}">
                <a16:creationId xmlns:a16="http://schemas.microsoft.com/office/drawing/2014/main" id="{78D5D686-8D70-9C5D-A89B-E84F945FCAD1}"/>
              </a:ext>
            </a:extLst>
          </p:cNvPr>
          <p:cNvSpPr txBox="1"/>
          <p:nvPr/>
        </p:nvSpPr>
        <p:spPr>
          <a:xfrm>
            <a:off x="509600" y="2430154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6" name="Google Shape;496;p24">
            <a:extLst>
              <a:ext uri="{FF2B5EF4-FFF2-40B4-BE49-F238E27FC236}">
                <a16:creationId xmlns:a16="http://schemas.microsoft.com/office/drawing/2014/main" id="{14A65FB6-D9AE-3B77-080C-1DDF9036B3D0}"/>
              </a:ext>
            </a:extLst>
          </p:cNvPr>
          <p:cNvSpPr txBox="1"/>
          <p:nvPr/>
        </p:nvSpPr>
        <p:spPr>
          <a:xfrm>
            <a:off x="509600" y="3340588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3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7" name="Google Shape;497;p24">
            <a:extLst>
              <a:ext uri="{FF2B5EF4-FFF2-40B4-BE49-F238E27FC236}">
                <a16:creationId xmlns:a16="http://schemas.microsoft.com/office/drawing/2014/main" id="{FC22E8D3-9AC8-B28E-4AD1-5B1AABE8205F}"/>
              </a:ext>
            </a:extLst>
          </p:cNvPr>
          <p:cNvSpPr txBox="1"/>
          <p:nvPr/>
        </p:nvSpPr>
        <p:spPr>
          <a:xfrm>
            <a:off x="509600" y="4251021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8" name="Google Shape;498;p24">
            <a:extLst>
              <a:ext uri="{FF2B5EF4-FFF2-40B4-BE49-F238E27FC236}">
                <a16:creationId xmlns:a16="http://schemas.microsoft.com/office/drawing/2014/main" id="{17F4A2E5-D6A3-E704-D98E-DB050F9299E3}"/>
              </a:ext>
            </a:extLst>
          </p:cNvPr>
          <p:cNvSpPr txBox="1"/>
          <p:nvPr/>
        </p:nvSpPr>
        <p:spPr>
          <a:xfrm>
            <a:off x="509600" y="5161454"/>
            <a:ext cx="80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dirty="0">
                <a:solidFill>
                  <a:schemeClr val="dk1"/>
                </a:solidFill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1</a:t>
            </a:r>
            <a:endParaRPr sz="2800" dirty="0">
              <a:solidFill>
                <a:schemeClr val="dk1"/>
              </a:solidFill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4D22627B-F0B2-D239-DB4D-54807DB933A1}"/>
              </a:ext>
            </a:extLst>
          </p:cNvPr>
          <p:cNvSpPr txBox="1"/>
          <p:nvPr/>
        </p:nvSpPr>
        <p:spPr>
          <a:xfrm>
            <a:off x="5450200" y="2055063"/>
            <a:ext cx="6097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u="sng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PyD3XX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537984A-C798-0951-3C2E-D0C9462EBEA4}"/>
              </a:ext>
            </a:extLst>
          </p:cNvPr>
          <p:cNvSpPr/>
          <p:nvPr/>
        </p:nvSpPr>
        <p:spPr>
          <a:xfrm>
            <a:off x="5336930" y="1919960"/>
            <a:ext cx="6496309" cy="2536237"/>
          </a:xfrm>
          <a:prstGeom prst="round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latin typeface="+mj-lt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94017D8-8C59-1902-8019-AD26766151CB}"/>
              </a:ext>
            </a:extLst>
          </p:cNvPr>
          <p:cNvSpPr txBox="1"/>
          <p:nvPr/>
        </p:nvSpPr>
        <p:spPr>
          <a:xfrm>
            <a:off x="5492829" y="2571714"/>
            <a:ext cx="6184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API principali: </a:t>
            </a:r>
            <a:r>
              <a:rPr lang="it-IT" dirty="0" err="1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FT_create</a:t>
            </a:r>
            <a:r>
              <a:rPr lang="it-IT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, </a:t>
            </a:r>
            <a:r>
              <a:rPr lang="it-IT" dirty="0" err="1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FT_WritePipe</a:t>
            </a:r>
            <a:r>
              <a:rPr lang="it-IT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, </a:t>
            </a:r>
            <a:r>
              <a:rPr lang="it-IT" dirty="0" err="1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FT_ReadPipe</a:t>
            </a:r>
            <a:endParaRPr lang="it-IT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endParaRPr lang="it-IT" dirty="0">
              <a:latin typeface="+mj-lt"/>
              <a:sym typeface="Fira Sans Extra Condensed SemiBold"/>
            </a:endParaRPr>
          </a:p>
          <a:p>
            <a:r>
              <a:rPr lang="it-IT" dirty="0" err="1">
                <a:latin typeface="+mj-lt"/>
                <a:sym typeface="Fira Sans Extra Condensed SemiBold"/>
              </a:rPr>
              <a:t>Reference:</a:t>
            </a:r>
            <a:r>
              <a:rPr lang="it-IT" dirty="0" err="1">
                <a:latin typeface="+mj-lt"/>
                <a:sym typeface="Fira Sans Extra Condensed SemiBold"/>
                <a:hlinkClick r:id="rId3"/>
              </a:rPr>
              <a:t>https</a:t>
            </a:r>
            <a:r>
              <a:rPr lang="it-IT" dirty="0">
                <a:latin typeface="+mj-lt"/>
                <a:sym typeface="Fira Sans Extra Condensed SemiBold"/>
                <a:hlinkClick r:id="rId3"/>
              </a:rPr>
              <a:t>://www.scribd.com/document/1010289409/PyD3XX-Library-Guide</a:t>
            </a:r>
            <a:endParaRPr lang="it-IT" dirty="0">
              <a:latin typeface="+mj-lt"/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9F8FA7E5-0C53-D941-773F-1E94DC400C47}"/>
              </a:ext>
            </a:extLst>
          </p:cNvPr>
          <p:cNvSpPr/>
          <p:nvPr/>
        </p:nvSpPr>
        <p:spPr>
          <a:xfrm>
            <a:off x="5336930" y="5011030"/>
            <a:ext cx="6496309" cy="608700"/>
          </a:xfrm>
          <a:prstGeom prst="round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714BEF6-F256-6214-A3AC-D990B78AC261}"/>
              </a:ext>
            </a:extLst>
          </p:cNvPr>
          <p:cNvSpPr txBox="1"/>
          <p:nvPr/>
        </p:nvSpPr>
        <p:spPr>
          <a:xfrm>
            <a:off x="5536819" y="5096115"/>
            <a:ext cx="6097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dirty="0">
                <a:latin typeface="+mj-lt"/>
              </a:rPr>
              <a:t>PM1000 + USB3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38B0468-CA86-2920-6980-A7E89AC6163A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5715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681FE5B9-90A0-F8C9-CD51-29C61A155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715" y="1612370"/>
            <a:ext cx="3065953" cy="447558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1DB33BE-0F46-ADD2-52EF-2FAC841B684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3E3E3"/>
              </a:clrFrom>
              <a:clrTo>
                <a:srgbClr val="E3E3E3">
                  <a:alpha val="0"/>
                </a:srgbClr>
              </a:clrTo>
            </a:clrChange>
          </a:blip>
          <a:srcRect l="1148" t="14679" r="68359"/>
          <a:stretch>
            <a:fillRect/>
          </a:stretch>
        </p:blipFill>
        <p:spPr>
          <a:xfrm>
            <a:off x="1511569" y="1556791"/>
            <a:ext cx="2366947" cy="340329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C749F48-E1CE-BC99-31C5-62A8A1F5F0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33"/>
          <a:stretch>
            <a:fillRect/>
          </a:stretch>
        </p:blipFill>
        <p:spPr>
          <a:xfrm>
            <a:off x="8875143" y="626936"/>
            <a:ext cx="2366946" cy="5288187"/>
          </a:xfrm>
          <a:prstGeom prst="rect">
            <a:avLst/>
          </a:prstGeom>
        </p:spPr>
      </p:pic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37CDF296-16E5-EE61-5EA3-8C3772065F1E}"/>
              </a:ext>
            </a:extLst>
          </p:cNvPr>
          <p:cNvSpPr/>
          <p:nvPr/>
        </p:nvSpPr>
        <p:spPr>
          <a:xfrm>
            <a:off x="1300480" y="1450447"/>
            <a:ext cx="2702560" cy="3606800"/>
          </a:xfrm>
          <a:prstGeom prst="round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3067">
              <a:solidFill>
                <a:schemeClr val="tx1"/>
              </a:solidFill>
              <a:latin typeface="Fira Sans Extra Condensed SemiBold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C5D578D2-AD26-FF9C-1E70-B6EB2D35EDBF}"/>
              </a:ext>
            </a:extLst>
          </p:cNvPr>
          <p:cNvSpPr/>
          <p:nvPr/>
        </p:nvSpPr>
        <p:spPr>
          <a:xfrm>
            <a:off x="8687016" y="555815"/>
            <a:ext cx="2702560" cy="5288187"/>
          </a:xfrm>
          <a:prstGeom prst="round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3067">
              <a:solidFill>
                <a:schemeClr val="tx1"/>
              </a:solidFill>
              <a:latin typeface="Fira Sans Extra Condensed SemiBold"/>
            </a:endParaRP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E2F1B7E2-4F56-ECE4-1F14-A88B61DBAF12}"/>
              </a:ext>
            </a:extLst>
          </p:cNvPr>
          <p:cNvCxnSpPr>
            <a:cxnSpLocks/>
          </p:cNvCxnSpPr>
          <p:nvPr/>
        </p:nvCxnSpPr>
        <p:spPr>
          <a:xfrm flipH="1">
            <a:off x="4003040" y="1774930"/>
            <a:ext cx="95895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52A93EDC-00C1-9B8F-57B7-109703C01222}"/>
              </a:ext>
            </a:extLst>
          </p:cNvPr>
          <p:cNvCxnSpPr>
            <a:cxnSpLocks/>
          </p:cNvCxnSpPr>
          <p:nvPr/>
        </p:nvCxnSpPr>
        <p:spPr>
          <a:xfrm>
            <a:off x="7359755" y="2077297"/>
            <a:ext cx="132726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itolo 21">
            <a:extLst>
              <a:ext uri="{FF2B5EF4-FFF2-40B4-BE49-F238E27FC236}">
                <a16:creationId xmlns:a16="http://schemas.microsoft.com/office/drawing/2014/main" id="{E315AF38-21DF-4FDD-BDD4-1F69C650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file .h5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6C3D3F9-CB52-91A5-B354-FECD44CC6ADE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3FCBC-32AF-DA25-6EA6-661C9C63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4950" cy="591255"/>
          </a:xfrm>
        </p:spPr>
        <p:txBody>
          <a:bodyPr/>
          <a:lstStyle/>
          <a:p>
            <a:r>
              <a:rPr lang="it-IT" dirty="0"/>
              <a:t>Index-</a:t>
            </a:r>
            <a:r>
              <a:rPr lang="it-IT" dirty="0" err="1"/>
              <a:t>based</a:t>
            </a:r>
            <a:r>
              <a:rPr lang="it-IT" dirty="0"/>
              <a:t> Sample Loss </a:t>
            </a:r>
            <a:r>
              <a:rPr lang="it-IT" dirty="0" err="1"/>
              <a:t>Detection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34B8A6A-B9D8-E488-4FFF-AD331B3BC051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B35488B-3968-35D0-7B83-975DA975EB98}"/>
              </a:ext>
            </a:extLst>
          </p:cNvPr>
          <p:cNvSpPr/>
          <p:nvPr/>
        </p:nvSpPr>
        <p:spPr>
          <a:xfrm>
            <a:off x="1030385" y="1790049"/>
            <a:ext cx="10109469" cy="1127051"/>
          </a:xfrm>
          <a:prstGeom prst="round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2C862AB5-E2EC-131B-E1D4-600839FC872E}"/>
              </a:ext>
            </a:extLst>
          </p:cNvPr>
          <p:cNvCxnSpPr>
            <a:cxnSpLocks/>
          </p:cNvCxnSpPr>
          <p:nvPr/>
        </p:nvCxnSpPr>
        <p:spPr>
          <a:xfrm>
            <a:off x="2497015" y="1812687"/>
            <a:ext cx="0" cy="1104414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48561F15-C4B3-D7B4-EE5A-B3E02DE9E1C1}"/>
              </a:ext>
            </a:extLst>
          </p:cNvPr>
          <p:cNvCxnSpPr>
            <a:cxnSpLocks/>
          </p:cNvCxnSpPr>
          <p:nvPr/>
        </p:nvCxnSpPr>
        <p:spPr>
          <a:xfrm flipH="1">
            <a:off x="3941884" y="1790049"/>
            <a:ext cx="18385" cy="1139354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C982F144-AAFA-FFBC-F60D-6F6970BAFF28}"/>
              </a:ext>
            </a:extLst>
          </p:cNvPr>
          <p:cNvCxnSpPr>
            <a:cxnSpLocks/>
          </p:cNvCxnSpPr>
          <p:nvPr/>
        </p:nvCxnSpPr>
        <p:spPr>
          <a:xfrm>
            <a:off x="5375020" y="1790049"/>
            <a:ext cx="0" cy="1138780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39909FEA-A893-DAE7-055C-3C5BF14DD837}"/>
              </a:ext>
            </a:extLst>
          </p:cNvPr>
          <p:cNvCxnSpPr>
            <a:cxnSpLocks/>
          </p:cNvCxnSpPr>
          <p:nvPr/>
        </p:nvCxnSpPr>
        <p:spPr>
          <a:xfrm>
            <a:off x="6831775" y="1790049"/>
            <a:ext cx="2779" cy="1127052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FB0FD85-9B5F-9E22-BC90-3BB3A3F1EFE8}"/>
              </a:ext>
            </a:extLst>
          </p:cNvPr>
          <p:cNvCxnSpPr>
            <a:cxnSpLocks/>
          </p:cNvCxnSpPr>
          <p:nvPr/>
        </p:nvCxnSpPr>
        <p:spPr>
          <a:xfrm>
            <a:off x="8267700" y="1790049"/>
            <a:ext cx="0" cy="1127052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6183FD63-78A5-8C43-8674-F924CF018056}"/>
              </a:ext>
            </a:extLst>
          </p:cNvPr>
          <p:cNvCxnSpPr>
            <a:cxnSpLocks/>
          </p:cNvCxnSpPr>
          <p:nvPr/>
        </p:nvCxnSpPr>
        <p:spPr>
          <a:xfrm>
            <a:off x="9700846" y="1790049"/>
            <a:ext cx="0" cy="1138780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0D1CE44-2921-FE20-3357-D3D5CAD85526}"/>
              </a:ext>
            </a:extLst>
          </p:cNvPr>
          <p:cNvSpPr txBox="1"/>
          <p:nvPr/>
        </p:nvSpPr>
        <p:spPr>
          <a:xfrm>
            <a:off x="5159866" y="1390802"/>
            <a:ext cx="247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Memory buffer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14ADF0F-33F9-A918-341D-66748B1F4006}"/>
              </a:ext>
            </a:extLst>
          </p:cNvPr>
          <p:cNvSpPr txBox="1"/>
          <p:nvPr/>
        </p:nvSpPr>
        <p:spPr>
          <a:xfrm>
            <a:off x="1295467" y="2163977"/>
            <a:ext cx="1002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Block 0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32F427E-0061-6D62-D321-14C317CA2C5F}"/>
              </a:ext>
            </a:extLst>
          </p:cNvPr>
          <p:cNvSpPr txBox="1"/>
          <p:nvPr/>
        </p:nvSpPr>
        <p:spPr>
          <a:xfrm>
            <a:off x="2788694" y="2166942"/>
            <a:ext cx="1002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Block 1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D1C488A-1A74-A563-355E-6E86F869FD8D}"/>
              </a:ext>
            </a:extLst>
          </p:cNvPr>
          <p:cNvSpPr txBox="1"/>
          <p:nvPr/>
        </p:nvSpPr>
        <p:spPr>
          <a:xfrm>
            <a:off x="4157029" y="2158431"/>
            <a:ext cx="1002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Block 2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4FB0C16-2EFB-8D16-67F7-3717CC849563}"/>
              </a:ext>
            </a:extLst>
          </p:cNvPr>
          <p:cNvSpPr txBox="1"/>
          <p:nvPr/>
        </p:nvSpPr>
        <p:spPr>
          <a:xfrm>
            <a:off x="9708832" y="2019931"/>
            <a:ext cx="14067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Block N</a:t>
            </a:r>
          </a:p>
          <a:p>
            <a:pPr algn="ctr"/>
            <a:r>
              <a:rPr lang="it-IT" dirty="0">
                <a:latin typeface="+mj-lt"/>
              </a:rPr>
              <a:t>N = 2</a:t>
            </a:r>
            <a:r>
              <a:rPr lang="it-IT" baseline="30000" dirty="0">
                <a:latin typeface="+mj-lt"/>
              </a:rPr>
              <a:t>27-ME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1C0610D-BF1D-D4FD-D9C0-4FFED95AEA6A}"/>
              </a:ext>
            </a:extLst>
          </p:cNvPr>
          <p:cNvSpPr txBox="1"/>
          <p:nvPr/>
        </p:nvSpPr>
        <p:spPr>
          <a:xfrm>
            <a:off x="5594582" y="2087741"/>
            <a:ext cx="1002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…</a:t>
            </a: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ACA50A16-5A6A-9A39-7A89-2660FD271968}"/>
              </a:ext>
            </a:extLst>
          </p:cNvPr>
          <p:cNvCxnSpPr>
            <a:cxnSpLocks/>
          </p:cNvCxnSpPr>
          <p:nvPr/>
        </p:nvCxnSpPr>
        <p:spPr>
          <a:xfrm>
            <a:off x="1052146" y="3134557"/>
            <a:ext cx="1389770" cy="0"/>
          </a:xfrm>
          <a:prstGeom prst="lin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17EF634D-2D34-5774-8628-D0C4EBF72E97}"/>
              </a:ext>
            </a:extLst>
          </p:cNvPr>
          <p:cNvCxnSpPr>
            <a:cxnSpLocks/>
          </p:cNvCxnSpPr>
          <p:nvPr/>
        </p:nvCxnSpPr>
        <p:spPr>
          <a:xfrm>
            <a:off x="1062263" y="1390802"/>
            <a:ext cx="0" cy="402122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6BB8AD2D-48B7-7CB8-8987-C46E99303039}"/>
              </a:ext>
            </a:extLst>
          </p:cNvPr>
          <p:cNvSpPr txBox="1"/>
          <p:nvPr/>
        </p:nvSpPr>
        <p:spPr>
          <a:xfrm>
            <a:off x="413283" y="1036064"/>
            <a:ext cx="162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Start_time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612E5CC3-53AE-FE63-022D-8E0BA1B32D00}"/>
                  </a:ext>
                </a:extLst>
              </p:cNvPr>
              <p:cNvSpPr txBox="1"/>
              <p:nvPr/>
            </p:nvSpPr>
            <p:spPr>
              <a:xfrm>
                <a:off x="8985380" y="871452"/>
                <a:ext cx="3089978" cy="609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dirty="0" err="1"/>
                  <a:t>Time_xo</a:t>
                </a:r>
                <a:r>
                  <a:rPr lang="it-IT" dirty="0"/>
                  <a:t> = </a:t>
                </a:r>
                <a:r>
                  <a:rPr lang="it-IT" dirty="0" err="1"/>
                  <a:t>start_time</a:t>
                </a:r>
                <a:r>
                  <a:rPr lang="it-IT" dirty="0"/>
                  <a:t> +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it-IT" i="0">
                                <a:latin typeface="+mj-lt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it-IT" i="0">
                                <a:latin typeface="+mj-lt"/>
                              </a:rPr>
                              <m:t>∗</m:t>
                            </m:r>
                            <m:r>
                              <m:rPr>
                                <m:nor/>
                              </m:rPr>
                              <a:rPr lang="it-IT" i="0">
                                <a:latin typeface="+mj-lt"/>
                              </a:rPr>
                              <m:t>n</m:t>
                            </m:r>
                          </m:num>
                          <m:den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it-IT" i="0">
                                    <a:latin typeface="+mj-lt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it-IT" i="0">
                                    <a:latin typeface="+mj-lt"/>
                                  </a:rPr>
                                  <m:t>s</m:t>
                                </m:r>
                              </m:sub>
                            </m:sSub>
                          </m:den>
                        </m:f>
                      </m:e>
                    </m:box>
                  </m:oMath>
                </a14:m>
                <a:endParaRPr lang="it-IT" dirty="0">
                  <a:latin typeface="+mj-lt"/>
                </a:endParaRPr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612E5CC3-53AE-FE63-022D-8E0BA1B32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5380" y="871452"/>
                <a:ext cx="3089978" cy="609398"/>
              </a:xfrm>
              <a:prstGeom prst="rect">
                <a:avLst/>
              </a:prstGeom>
              <a:blipFill>
                <a:blip r:embed="rId2"/>
                <a:stretch>
                  <a:fillRect l="-15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8E90CED4-DCEA-E792-B9FA-F4E55C6C52E6}"/>
              </a:ext>
            </a:extLst>
          </p:cNvPr>
          <p:cNvCxnSpPr>
            <a:cxnSpLocks/>
          </p:cNvCxnSpPr>
          <p:nvPr/>
        </p:nvCxnSpPr>
        <p:spPr>
          <a:xfrm>
            <a:off x="1043878" y="3005360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240B1034-6D43-6322-E3E1-7E602DAF08C4}"/>
              </a:ext>
            </a:extLst>
          </p:cNvPr>
          <p:cNvCxnSpPr>
            <a:cxnSpLocks/>
          </p:cNvCxnSpPr>
          <p:nvPr/>
        </p:nvCxnSpPr>
        <p:spPr>
          <a:xfrm>
            <a:off x="1313928" y="3005360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8A4C7797-9602-CB83-12FE-E6A3907ABC1D}"/>
              </a:ext>
            </a:extLst>
          </p:cNvPr>
          <p:cNvCxnSpPr>
            <a:cxnSpLocks/>
          </p:cNvCxnSpPr>
          <p:nvPr/>
        </p:nvCxnSpPr>
        <p:spPr>
          <a:xfrm>
            <a:off x="1594769" y="3005360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6FB47561-7A9F-7987-122B-51EB0461F0F2}"/>
              </a:ext>
            </a:extLst>
          </p:cNvPr>
          <p:cNvCxnSpPr>
            <a:cxnSpLocks/>
          </p:cNvCxnSpPr>
          <p:nvPr/>
        </p:nvCxnSpPr>
        <p:spPr>
          <a:xfrm>
            <a:off x="2441916" y="3005360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07E7D11-6D5C-DCB7-41D8-6E4A8E0C1DEC}"/>
              </a:ext>
            </a:extLst>
          </p:cNvPr>
          <p:cNvSpPr txBox="1"/>
          <p:nvPr/>
        </p:nvSpPr>
        <p:spPr>
          <a:xfrm>
            <a:off x="898903" y="3252325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0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FAAEEC5C-AD4A-92C5-DE88-D2C0B421712C}"/>
              </a:ext>
            </a:extLst>
          </p:cNvPr>
          <p:cNvSpPr txBox="1"/>
          <p:nvPr/>
        </p:nvSpPr>
        <p:spPr>
          <a:xfrm>
            <a:off x="1165317" y="3245763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4F4B743F-D15D-D874-AFC8-5ABB29FAF377}"/>
              </a:ext>
            </a:extLst>
          </p:cNvPr>
          <p:cNvSpPr txBox="1"/>
          <p:nvPr/>
        </p:nvSpPr>
        <p:spPr>
          <a:xfrm>
            <a:off x="1439998" y="3245763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2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3E75E277-8CD3-728A-1167-F004C802CF2D}"/>
              </a:ext>
            </a:extLst>
          </p:cNvPr>
          <p:cNvSpPr txBox="1"/>
          <p:nvPr/>
        </p:nvSpPr>
        <p:spPr>
          <a:xfrm>
            <a:off x="2153370" y="3259839"/>
            <a:ext cx="9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n=2</a:t>
            </a:r>
            <a:r>
              <a:rPr lang="it-IT" baseline="30000" dirty="0"/>
              <a:t>ME</a:t>
            </a:r>
            <a:r>
              <a:rPr lang="it-IT" dirty="0"/>
              <a:t> 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78E5D875-A6B9-51A4-D9CE-C18A2E50327D}"/>
              </a:ext>
            </a:extLst>
          </p:cNvPr>
          <p:cNvSpPr txBox="1"/>
          <p:nvPr/>
        </p:nvSpPr>
        <p:spPr>
          <a:xfrm>
            <a:off x="1803632" y="3172870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…</a:t>
            </a:r>
          </a:p>
        </p:txBody>
      </p:sp>
      <p:cxnSp>
        <p:nvCxnSpPr>
          <p:cNvPr id="96" name="Connettore diritto 95">
            <a:extLst>
              <a:ext uri="{FF2B5EF4-FFF2-40B4-BE49-F238E27FC236}">
                <a16:creationId xmlns:a16="http://schemas.microsoft.com/office/drawing/2014/main" id="{AC9ED750-41A5-AD44-28CA-543D57FCA7E2}"/>
              </a:ext>
            </a:extLst>
          </p:cNvPr>
          <p:cNvCxnSpPr>
            <a:cxnSpLocks/>
          </p:cNvCxnSpPr>
          <p:nvPr/>
        </p:nvCxnSpPr>
        <p:spPr>
          <a:xfrm>
            <a:off x="1070531" y="4414951"/>
            <a:ext cx="5782408" cy="0"/>
          </a:xfrm>
          <a:prstGeom prst="line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Connettore diritto 96">
            <a:extLst>
              <a:ext uri="{FF2B5EF4-FFF2-40B4-BE49-F238E27FC236}">
                <a16:creationId xmlns:a16="http://schemas.microsoft.com/office/drawing/2014/main" id="{98AACA92-D05F-4D0C-D316-E539149FE597}"/>
              </a:ext>
            </a:extLst>
          </p:cNvPr>
          <p:cNvCxnSpPr>
            <a:cxnSpLocks/>
          </p:cNvCxnSpPr>
          <p:nvPr/>
        </p:nvCxnSpPr>
        <p:spPr>
          <a:xfrm>
            <a:off x="1062263" y="4285754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BA7EEFBB-A878-BA7F-B7CD-4296B792A762}"/>
              </a:ext>
            </a:extLst>
          </p:cNvPr>
          <p:cNvCxnSpPr>
            <a:cxnSpLocks/>
          </p:cNvCxnSpPr>
          <p:nvPr/>
        </p:nvCxnSpPr>
        <p:spPr>
          <a:xfrm>
            <a:off x="1332313" y="4285754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8D95C4CA-4661-7A67-3BC0-D9CE9F0EF12D}"/>
              </a:ext>
            </a:extLst>
          </p:cNvPr>
          <p:cNvCxnSpPr>
            <a:cxnSpLocks/>
          </p:cNvCxnSpPr>
          <p:nvPr/>
        </p:nvCxnSpPr>
        <p:spPr>
          <a:xfrm>
            <a:off x="1613154" y="4285754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Connettore diritto 99">
            <a:extLst>
              <a:ext uri="{FF2B5EF4-FFF2-40B4-BE49-F238E27FC236}">
                <a16:creationId xmlns:a16="http://schemas.microsoft.com/office/drawing/2014/main" id="{4A97A1B6-DFC7-0E7C-F47A-ED5E6E566EE0}"/>
              </a:ext>
            </a:extLst>
          </p:cNvPr>
          <p:cNvCxnSpPr>
            <a:cxnSpLocks/>
          </p:cNvCxnSpPr>
          <p:nvPr/>
        </p:nvCxnSpPr>
        <p:spPr>
          <a:xfrm>
            <a:off x="2460301" y="4285754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CasellaDiTesto 100">
            <a:extLst>
              <a:ext uri="{FF2B5EF4-FFF2-40B4-BE49-F238E27FC236}">
                <a16:creationId xmlns:a16="http://schemas.microsoft.com/office/drawing/2014/main" id="{D832025D-E730-6C49-3EBE-5592BCDB0E62}"/>
              </a:ext>
            </a:extLst>
          </p:cNvPr>
          <p:cNvSpPr txBox="1"/>
          <p:nvPr/>
        </p:nvSpPr>
        <p:spPr>
          <a:xfrm>
            <a:off x="917288" y="4532719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0</a:t>
            </a:r>
          </a:p>
        </p:txBody>
      </p:sp>
      <p:sp>
        <p:nvSpPr>
          <p:cNvPr id="102" name="CasellaDiTesto 101">
            <a:extLst>
              <a:ext uri="{FF2B5EF4-FFF2-40B4-BE49-F238E27FC236}">
                <a16:creationId xmlns:a16="http://schemas.microsoft.com/office/drawing/2014/main" id="{0952DFD6-D14A-5574-A4AB-346BB6EA1065}"/>
              </a:ext>
            </a:extLst>
          </p:cNvPr>
          <p:cNvSpPr txBox="1"/>
          <p:nvPr/>
        </p:nvSpPr>
        <p:spPr>
          <a:xfrm>
            <a:off x="1183702" y="4526157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459355BD-33AE-3C8F-CCB9-F867C417BE09}"/>
              </a:ext>
            </a:extLst>
          </p:cNvPr>
          <p:cNvSpPr txBox="1"/>
          <p:nvPr/>
        </p:nvSpPr>
        <p:spPr>
          <a:xfrm>
            <a:off x="1458383" y="4526157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2</a:t>
            </a: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6290B53F-4A1A-F23E-79E3-C3925D7D8976}"/>
              </a:ext>
            </a:extLst>
          </p:cNvPr>
          <p:cNvSpPr txBox="1"/>
          <p:nvPr/>
        </p:nvSpPr>
        <p:spPr>
          <a:xfrm>
            <a:off x="2293251" y="4524502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n</a:t>
            </a:r>
          </a:p>
        </p:txBody>
      </p: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3F70099A-6C80-7BAC-CD83-76ED0AD175A8}"/>
              </a:ext>
            </a:extLst>
          </p:cNvPr>
          <p:cNvSpPr txBox="1"/>
          <p:nvPr/>
        </p:nvSpPr>
        <p:spPr>
          <a:xfrm>
            <a:off x="1822017" y="4453264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…</a:t>
            </a:r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71067339-235B-7E31-D17F-FE60699031D3}"/>
              </a:ext>
            </a:extLst>
          </p:cNvPr>
          <p:cNvSpPr txBox="1"/>
          <p:nvPr/>
        </p:nvSpPr>
        <p:spPr>
          <a:xfrm>
            <a:off x="2545513" y="4532719"/>
            <a:ext cx="828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n+1</a:t>
            </a:r>
          </a:p>
        </p:txBody>
      </p:sp>
      <p:sp>
        <p:nvSpPr>
          <p:cNvPr id="115" name="CasellaDiTesto 114">
            <a:extLst>
              <a:ext uri="{FF2B5EF4-FFF2-40B4-BE49-F238E27FC236}">
                <a16:creationId xmlns:a16="http://schemas.microsoft.com/office/drawing/2014/main" id="{9B6FD998-D7DA-8156-733C-A41537C924F7}"/>
              </a:ext>
            </a:extLst>
          </p:cNvPr>
          <p:cNvSpPr txBox="1"/>
          <p:nvPr/>
        </p:nvSpPr>
        <p:spPr>
          <a:xfrm>
            <a:off x="574091" y="3245763"/>
            <a:ext cx="651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j =</a:t>
            </a:r>
          </a:p>
        </p:txBody>
      </p:sp>
      <p:sp>
        <p:nvSpPr>
          <p:cNvPr id="116" name="CasellaDiTesto 115">
            <a:extLst>
              <a:ext uri="{FF2B5EF4-FFF2-40B4-BE49-F238E27FC236}">
                <a16:creationId xmlns:a16="http://schemas.microsoft.com/office/drawing/2014/main" id="{02C49389-B988-B80E-5E1F-F02AB6F096A3}"/>
              </a:ext>
            </a:extLst>
          </p:cNvPr>
          <p:cNvSpPr txBox="1"/>
          <p:nvPr/>
        </p:nvSpPr>
        <p:spPr>
          <a:xfrm>
            <a:off x="3921476" y="4847440"/>
            <a:ext cx="323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Index_real</a:t>
            </a:r>
            <a:r>
              <a:rPr lang="it-IT" dirty="0"/>
              <a:t> = </a:t>
            </a:r>
            <a:r>
              <a:rPr lang="it-IT" dirty="0" err="1"/>
              <a:t>block_id</a:t>
            </a:r>
            <a:r>
              <a:rPr lang="it-IT" dirty="0"/>
              <a:t>*n + j </a:t>
            </a:r>
          </a:p>
        </p:txBody>
      </p:sp>
      <p:sp>
        <p:nvSpPr>
          <p:cNvPr id="117" name="CasellaDiTesto 116">
            <a:extLst>
              <a:ext uri="{FF2B5EF4-FFF2-40B4-BE49-F238E27FC236}">
                <a16:creationId xmlns:a16="http://schemas.microsoft.com/office/drawing/2014/main" id="{83311902-D975-F414-427D-D9195EA1F6F1}"/>
              </a:ext>
            </a:extLst>
          </p:cNvPr>
          <p:cNvSpPr txBox="1"/>
          <p:nvPr/>
        </p:nvSpPr>
        <p:spPr>
          <a:xfrm>
            <a:off x="7017788" y="2158431"/>
            <a:ext cx="1141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block_id</a:t>
            </a:r>
            <a:endParaRPr lang="it-IT" dirty="0"/>
          </a:p>
        </p:txBody>
      </p:sp>
      <p:sp>
        <p:nvSpPr>
          <p:cNvPr id="118" name="CasellaDiTesto 117">
            <a:extLst>
              <a:ext uri="{FF2B5EF4-FFF2-40B4-BE49-F238E27FC236}">
                <a16:creationId xmlns:a16="http://schemas.microsoft.com/office/drawing/2014/main" id="{8338419D-E35A-D8C0-C70F-4B3F4D166C5B}"/>
              </a:ext>
            </a:extLst>
          </p:cNvPr>
          <p:cNvSpPr txBox="1"/>
          <p:nvPr/>
        </p:nvSpPr>
        <p:spPr>
          <a:xfrm>
            <a:off x="8529271" y="2158431"/>
            <a:ext cx="1002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…</a:t>
            </a:r>
          </a:p>
        </p:txBody>
      </p:sp>
      <p:cxnSp>
        <p:nvCxnSpPr>
          <p:cNvPr id="119" name="Connettore 2 118">
            <a:extLst>
              <a:ext uri="{FF2B5EF4-FFF2-40B4-BE49-F238E27FC236}">
                <a16:creationId xmlns:a16="http://schemas.microsoft.com/office/drawing/2014/main" id="{E9B952F2-B0B8-8BA4-D3DD-9AFB7B5FC4B6}"/>
              </a:ext>
            </a:extLst>
          </p:cNvPr>
          <p:cNvCxnSpPr>
            <a:cxnSpLocks/>
          </p:cNvCxnSpPr>
          <p:nvPr/>
        </p:nvCxnSpPr>
        <p:spPr>
          <a:xfrm flipV="1">
            <a:off x="6096000" y="2934919"/>
            <a:ext cx="0" cy="310844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sp>
        <p:nvSpPr>
          <p:cNvPr id="126" name="CasellaDiTesto 125">
            <a:extLst>
              <a:ext uri="{FF2B5EF4-FFF2-40B4-BE49-F238E27FC236}">
                <a16:creationId xmlns:a16="http://schemas.microsoft.com/office/drawing/2014/main" id="{1F443ABF-009E-D360-47C5-0091D6F1B750}"/>
              </a:ext>
            </a:extLst>
          </p:cNvPr>
          <p:cNvSpPr txBox="1"/>
          <p:nvPr/>
        </p:nvSpPr>
        <p:spPr>
          <a:xfrm>
            <a:off x="5669446" y="3244708"/>
            <a:ext cx="83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write</a:t>
            </a:r>
            <a:endParaRPr lang="it-IT" dirty="0"/>
          </a:p>
        </p:txBody>
      </p:sp>
      <p:sp>
        <p:nvSpPr>
          <p:cNvPr id="127" name="CasellaDiTesto 126">
            <a:extLst>
              <a:ext uri="{FF2B5EF4-FFF2-40B4-BE49-F238E27FC236}">
                <a16:creationId xmlns:a16="http://schemas.microsoft.com/office/drawing/2014/main" id="{DC2A3AC5-A2A7-ABEF-FC82-35319E9B0525}"/>
              </a:ext>
            </a:extLst>
          </p:cNvPr>
          <p:cNvSpPr txBox="1"/>
          <p:nvPr/>
        </p:nvSpPr>
        <p:spPr>
          <a:xfrm>
            <a:off x="8569707" y="3244708"/>
            <a:ext cx="83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read</a:t>
            </a:r>
            <a:endParaRPr lang="it-IT" dirty="0"/>
          </a:p>
        </p:txBody>
      </p:sp>
      <p:cxnSp>
        <p:nvCxnSpPr>
          <p:cNvPr id="130" name="Connettore diritto 129">
            <a:extLst>
              <a:ext uri="{FF2B5EF4-FFF2-40B4-BE49-F238E27FC236}">
                <a16:creationId xmlns:a16="http://schemas.microsoft.com/office/drawing/2014/main" id="{3C54A963-5438-BCB5-B7B8-7AAB29705590}"/>
              </a:ext>
            </a:extLst>
          </p:cNvPr>
          <p:cNvCxnSpPr>
            <a:cxnSpLocks/>
          </p:cNvCxnSpPr>
          <p:nvPr/>
        </p:nvCxnSpPr>
        <p:spPr>
          <a:xfrm>
            <a:off x="2788694" y="4285754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" name="Connettore diritto 131">
            <a:extLst>
              <a:ext uri="{FF2B5EF4-FFF2-40B4-BE49-F238E27FC236}">
                <a16:creationId xmlns:a16="http://schemas.microsoft.com/office/drawing/2014/main" id="{CA987989-F2F1-3A72-9D3C-49C6ABDAEDD2}"/>
              </a:ext>
            </a:extLst>
          </p:cNvPr>
          <p:cNvCxnSpPr>
            <a:cxnSpLocks/>
          </p:cNvCxnSpPr>
          <p:nvPr/>
        </p:nvCxnSpPr>
        <p:spPr>
          <a:xfrm>
            <a:off x="3960269" y="4301207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" name="Connettore diritto 132">
            <a:extLst>
              <a:ext uri="{FF2B5EF4-FFF2-40B4-BE49-F238E27FC236}">
                <a16:creationId xmlns:a16="http://schemas.microsoft.com/office/drawing/2014/main" id="{6B5765C0-3555-2A0D-D214-3D690AC0D121}"/>
              </a:ext>
            </a:extLst>
          </p:cNvPr>
          <p:cNvCxnSpPr>
            <a:cxnSpLocks/>
          </p:cNvCxnSpPr>
          <p:nvPr/>
        </p:nvCxnSpPr>
        <p:spPr>
          <a:xfrm>
            <a:off x="5393405" y="4301207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" name="Connettore diritto 133">
            <a:extLst>
              <a:ext uri="{FF2B5EF4-FFF2-40B4-BE49-F238E27FC236}">
                <a16:creationId xmlns:a16="http://schemas.microsoft.com/office/drawing/2014/main" id="{C21F3790-AF60-A38F-7E4E-B894D2A40DFF}"/>
              </a:ext>
            </a:extLst>
          </p:cNvPr>
          <p:cNvCxnSpPr>
            <a:cxnSpLocks/>
          </p:cNvCxnSpPr>
          <p:nvPr/>
        </p:nvCxnSpPr>
        <p:spPr>
          <a:xfrm>
            <a:off x="6840043" y="4293587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Connettore diritto 134">
            <a:extLst>
              <a:ext uri="{FF2B5EF4-FFF2-40B4-BE49-F238E27FC236}">
                <a16:creationId xmlns:a16="http://schemas.microsoft.com/office/drawing/2014/main" id="{F310DEDA-7F2D-455A-1E1C-41700BE20C79}"/>
              </a:ext>
            </a:extLst>
          </p:cNvPr>
          <p:cNvCxnSpPr>
            <a:cxnSpLocks/>
          </p:cNvCxnSpPr>
          <p:nvPr/>
        </p:nvCxnSpPr>
        <p:spPr>
          <a:xfrm>
            <a:off x="1030385" y="5504611"/>
            <a:ext cx="5782408" cy="0"/>
          </a:xfrm>
          <a:prstGeom prst="lin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" name="Connettore 2 136">
            <a:extLst>
              <a:ext uri="{FF2B5EF4-FFF2-40B4-BE49-F238E27FC236}">
                <a16:creationId xmlns:a16="http://schemas.microsoft.com/office/drawing/2014/main" id="{B1CC5C7D-FD6B-B067-2889-568A7AD15355}"/>
              </a:ext>
            </a:extLst>
          </p:cNvPr>
          <p:cNvCxnSpPr>
            <a:cxnSpLocks/>
          </p:cNvCxnSpPr>
          <p:nvPr/>
        </p:nvCxnSpPr>
        <p:spPr>
          <a:xfrm>
            <a:off x="11133990" y="1358012"/>
            <a:ext cx="0" cy="402122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140" name="Connettore 2 139">
            <a:extLst>
              <a:ext uri="{FF2B5EF4-FFF2-40B4-BE49-F238E27FC236}">
                <a16:creationId xmlns:a16="http://schemas.microsoft.com/office/drawing/2014/main" id="{4039AE2B-D3C0-F536-0DBE-6E59AF79F604}"/>
              </a:ext>
            </a:extLst>
          </p:cNvPr>
          <p:cNvCxnSpPr>
            <a:cxnSpLocks/>
          </p:cNvCxnSpPr>
          <p:nvPr/>
        </p:nvCxnSpPr>
        <p:spPr>
          <a:xfrm flipV="1">
            <a:off x="5403565" y="4571177"/>
            <a:ext cx="0" cy="276263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144" name="Connettore diritto 143">
            <a:extLst>
              <a:ext uri="{FF2B5EF4-FFF2-40B4-BE49-F238E27FC236}">
                <a16:creationId xmlns:a16="http://schemas.microsoft.com/office/drawing/2014/main" id="{1E381A50-71DD-D439-7053-787E658E759C}"/>
              </a:ext>
            </a:extLst>
          </p:cNvPr>
          <p:cNvCxnSpPr>
            <a:cxnSpLocks/>
          </p:cNvCxnSpPr>
          <p:nvPr/>
        </p:nvCxnSpPr>
        <p:spPr>
          <a:xfrm>
            <a:off x="1053995" y="5384486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" name="Connettore diritto 144">
            <a:extLst>
              <a:ext uri="{FF2B5EF4-FFF2-40B4-BE49-F238E27FC236}">
                <a16:creationId xmlns:a16="http://schemas.microsoft.com/office/drawing/2014/main" id="{C4EAB80C-D9D2-BBC3-E155-5FBCFFEFACB5}"/>
              </a:ext>
            </a:extLst>
          </p:cNvPr>
          <p:cNvCxnSpPr>
            <a:cxnSpLocks/>
          </p:cNvCxnSpPr>
          <p:nvPr/>
        </p:nvCxnSpPr>
        <p:spPr>
          <a:xfrm>
            <a:off x="1324045" y="5384486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" name="Connettore diritto 145">
            <a:extLst>
              <a:ext uri="{FF2B5EF4-FFF2-40B4-BE49-F238E27FC236}">
                <a16:creationId xmlns:a16="http://schemas.microsoft.com/office/drawing/2014/main" id="{CB4A9FB2-4CE0-0872-CF18-AE803BD22349}"/>
              </a:ext>
            </a:extLst>
          </p:cNvPr>
          <p:cNvCxnSpPr>
            <a:cxnSpLocks/>
          </p:cNvCxnSpPr>
          <p:nvPr/>
        </p:nvCxnSpPr>
        <p:spPr>
          <a:xfrm>
            <a:off x="1604886" y="5384486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" name="Connettore diritto 146">
            <a:extLst>
              <a:ext uri="{FF2B5EF4-FFF2-40B4-BE49-F238E27FC236}">
                <a16:creationId xmlns:a16="http://schemas.microsoft.com/office/drawing/2014/main" id="{154EF45A-03F2-30B3-20D5-F978AC0F6402}"/>
              </a:ext>
            </a:extLst>
          </p:cNvPr>
          <p:cNvCxnSpPr>
            <a:cxnSpLocks/>
          </p:cNvCxnSpPr>
          <p:nvPr/>
        </p:nvCxnSpPr>
        <p:spPr>
          <a:xfrm>
            <a:off x="2452033" y="5384486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CasellaDiTesto 147">
            <a:extLst>
              <a:ext uri="{FF2B5EF4-FFF2-40B4-BE49-F238E27FC236}">
                <a16:creationId xmlns:a16="http://schemas.microsoft.com/office/drawing/2014/main" id="{DE30A3BA-3DBA-1827-3E65-56CE61E6550E}"/>
              </a:ext>
            </a:extLst>
          </p:cNvPr>
          <p:cNvSpPr txBox="1"/>
          <p:nvPr/>
        </p:nvSpPr>
        <p:spPr>
          <a:xfrm>
            <a:off x="909020" y="5631451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0</a:t>
            </a:r>
          </a:p>
        </p:txBody>
      </p:sp>
      <p:sp>
        <p:nvSpPr>
          <p:cNvPr id="149" name="CasellaDiTesto 148">
            <a:extLst>
              <a:ext uri="{FF2B5EF4-FFF2-40B4-BE49-F238E27FC236}">
                <a16:creationId xmlns:a16="http://schemas.microsoft.com/office/drawing/2014/main" id="{026384E4-13FE-FDB9-D33B-85D47A3CCA57}"/>
              </a:ext>
            </a:extLst>
          </p:cNvPr>
          <p:cNvSpPr txBox="1"/>
          <p:nvPr/>
        </p:nvSpPr>
        <p:spPr>
          <a:xfrm>
            <a:off x="1175434" y="5624889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50" name="CasellaDiTesto 149">
            <a:extLst>
              <a:ext uri="{FF2B5EF4-FFF2-40B4-BE49-F238E27FC236}">
                <a16:creationId xmlns:a16="http://schemas.microsoft.com/office/drawing/2014/main" id="{88AC15E9-8DD3-D473-E627-5F9CEB2D8D60}"/>
              </a:ext>
            </a:extLst>
          </p:cNvPr>
          <p:cNvSpPr txBox="1"/>
          <p:nvPr/>
        </p:nvSpPr>
        <p:spPr>
          <a:xfrm>
            <a:off x="1450115" y="5624889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2</a:t>
            </a:r>
          </a:p>
        </p:txBody>
      </p:sp>
      <p:sp>
        <p:nvSpPr>
          <p:cNvPr id="152" name="CasellaDiTesto 151">
            <a:extLst>
              <a:ext uri="{FF2B5EF4-FFF2-40B4-BE49-F238E27FC236}">
                <a16:creationId xmlns:a16="http://schemas.microsoft.com/office/drawing/2014/main" id="{F31FE17A-A47C-3866-91C3-96609C954081}"/>
              </a:ext>
            </a:extLst>
          </p:cNvPr>
          <p:cNvSpPr txBox="1"/>
          <p:nvPr/>
        </p:nvSpPr>
        <p:spPr>
          <a:xfrm>
            <a:off x="1813749" y="5551996"/>
            <a:ext cx="306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…</a:t>
            </a:r>
          </a:p>
        </p:txBody>
      </p:sp>
      <p:sp>
        <p:nvSpPr>
          <p:cNvPr id="153" name="CasellaDiTesto 152">
            <a:extLst>
              <a:ext uri="{FF2B5EF4-FFF2-40B4-BE49-F238E27FC236}">
                <a16:creationId xmlns:a16="http://schemas.microsoft.com/office/drawing/2014/main" id="{2FF13395-F574-C5C8-CB67-34BBAD558289}"/>
              </a:ext>
            </a:extLst>
          </p:cNvPr>
          <p:cNvSpPr txBox="1"/>
          <p:nvPr/>
        </p:nvSpPr>
        <p:spPr>
          <a:xfrm>
            <a:off x="2537245" y="5631451"/>
            <a:ext cx="828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n+1</a:t>
            </a:r>
          </a:p>
        </p:txBody>
      </p:sp>
      <p:sp>
        <p:nvSpPr>
          <p:cNvPr id="154" name="CasellaDiTesto 153">
            <a:extLst>
              <a:ext uri="{FF2B5EF4-FFF2-40B4-BE49-F238E27FC236}">
                <a16:creationId xmlns:a16="http://schemas.microsoft.com/office/drawing/2014/main" id="{A4A738D7-4F12-DB04-31C6-8FDDD6E6FB99}"/>
              </a:ext>
            </a:extLst>
          </p:cNvPr>
          <p:cNvSpPr txBox="1"/>
          <p:nvPr/>
        </p:nvSpPr>
        <p:spPr>
          <a:xfrm>
            <a:off x="4168167" y="5898787"/>
            <a:ext cx="2213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Index_ideal</a:t>
            </a:r>
            <a:r>
              <a:rPr lang="it-IT" dirty="0"/>
              <a:t> += 1  </a:t>
            </a:r>
          </a:p>
        </p:txBody>
      </p:sp>
      <p:cxnSp>
        <p:nvCxnSpPr>
          <p:cNvPr id="155" name="Connettore diritto 154">
            <a:extLst>
              <a:ext uri="{FF2B5EF4-FFF2-40B4-BE49-F238E27FC236}">
                <a16:creationId xmlns:a16="http://schemas.microsoft.com/office/drawing/2014/main" id="{8F997435-DAF5-CF1B-DEAC-FAF1FF1F7702}"/>
              </a:ext>
            </a:extLst>
          </p:cNvPr>
          <p:cNvCxnSpPr>
            <a:cxnSpLocks/>
          </p:cNvCxnSpPr>
          <p:nvPr/>
        </p:nvCxnSpPr>
        <p:spPr>
          <a:xfrm>
            <a:off x="2780426" y="5384486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Connettore diritto 155">
            <a:extLst>
              <a:ext uri="{FF2B5EF4-FFF2-40B4-BE49-F238E27FC236}">
                <a16:creationId xmlns:a16="http://schemas.microsoft.com/office/drawing/2014/main" id="{F63AC746-E0BE-C2C4-F405-8745A24167C3}"/>
              </a:ext>
            </a:extLst>
          </p:cNvPr>
          <p:cNvCxnSpPr>
            <a:cxnSpLocks/>
          </p:cNvCxnSpPr>
          <p:nvPr/>
        </p:nvCxnSpPr>
        <p:spPr>
          <a:xfrm>
            <a:off x="3952001" y="5399939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Connettore diritto 156">
            <a:extLst>
              <a:ext uri="{FF2B5EF4-FFF2-40B4-BE49-F238E27FC236}">
                <a16:creationId xmlns:a16="http://schemas.microsoft.com/office/drawing/2014/main" id="{3F751011-32C3-B3F7-47DA-1A667477F1BD}"/>
              </a:ext>
            </a:extLst>
          </p:cNvPr>
          <p:cNvCxnSpPr>
            <a:cxnSpLocks/>
          </p:cNvCxnSpPr>
          <p:nvPr/>
        </p:nvCxnSpPr>
        <p:spPr>
          <a:xfrm>
            <a:off x="5385137" y="5399939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Connettore diritto 157">
            <a:extLst>
              <a:ext uri="{FF2B5EF4-FFF2-40B4-BE49-F238E27FC236}">
                <a16:creationId xmlns:a16="http://schemas.microsoft.com/office/drawing/2014/main" id="{596FF58D-97DD-E904-636A-3F9C1764D302}"/>
              </a:ext>
            </a:extLst>
          </p:cNvPr>
          <p:cNvCxnSpPr>
            <a:cxnSpLocks/>
          </p:cNvCxnSpPr>
          <p:nvPr/>
        </p:nvCxnSpPr>
        <p:spPr>
          <a:xfrm>
            <a:off x="6831775" y="5392319"/>
            <a:ext cx="0" cy="258394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Connettore 2 158">
            <a:extLst>
              <a:ext uri="{FF2B5EF4-FFF2-40B4-BE49-F238E27FC236}">
                <a16:creationId xmlns:a16="http://schemas.microsoft.com/office/drawing/2014/main" id="{E47EBCE3-C027-A8B6-0189-EFEF65593BFF}"/>
              </a:ext>
            </a:extLst>
          </p:cNvPr>
          <p:cNvCxnSpPr>
            <a:cxnSpLocks/>
          </p:cNvCxnSpPr>
          <p:nvPr/>
        </p:nvCxnSpPr>
        <p:spPr>
          <a:xfrm flipV="1">
            <a:off x="5130309" y="5677985"/>
            <a:ext cx="0" cy="276263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162" name="Connettore 2 161">
            <a:extLst>
              <a:ext uri="{FF2B5EF4-FFF2-40B4-BE49-F238E27FC236}">
                <a16:creationId xmlns:a16="http://schemas.microsoft.com/office/drawing/2014/main" id="{E6233982-2215-D881-DAB3-8017D052CA60}"/>
              </a:ext>
            </a:extLst>
          </p:cNvPr>
          <p:cNvCxnSpPr>
            <a:cxnSpLocks/>
          </p:cNvCxnSpPr>
          <p:nvPr/>
        </p:nvCxnSpPr>
        <p:spPr>
          <a:xfrm>
            <a:off x="8985380" y="2920450"/>
            <a:ext cx="0" cy="368277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</p:spTree>
    <p:extLst>
      <p:ext uri="{BB962C8B-B14F-4D97-AF65-F5344CB8AC3E}">
        <p14:creationId xmlns:p14="http://schemas.microsoft.com/office/powerpoint/2010/main" val="1908617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7" name="Google Shape;277;p21"/>
          <p:cNvCxnSpPr>
            <a:cxnSpLocks/>
            <a:stCxn id="28" idx="4"/>
            <a:endCxn id="331" idx="3"/>
          </p:cNvCxnSpPr>
          <p:nvPr/>
        </p:nvCxnSpPr>
        <p:spPr>
          <a:xfrm rot="5400000">
            <a:off x="3050897" y="2640919"/>
            <a:ext cx="559964" cy="750074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</p:spPr>
      </p:cxnSp>
      <p:sp>
        <p:nvSpPr>
          <p:cNvPr id="275" name="Google Shape;275;p21"/>
          <p:cNvSpPr/>
          <p:nvPr/>
        </p:nvSpPr>
        <p:spPr>
          <a:xfrm>
            <a:off x="4461029" y="2103715"/>
            <a:ext cx="2195319" cy="603531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it-IT"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T</a:t>
            </a:r>
            <a:r>
              <a:rPr lang="en"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imer_NTP</a:t>
            </a:r>
            <a:endParaRPr sz="2000" dirty="0">
              <a:latin typeface="+mj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30" name="Google Shape;330;p21"/>
          <p:cNvGrpSpPr/>
          <p:nvPr/>
        </p:nvGrpSpPr>
        <p:grpSpPr>
          <a:xfrm>
            <a:off x="269442" y="3080746"/>
            <a:ext cx="2686400" cy="1457708"/>
            <a:chOff x="876838" y="3504838"/>
            <a:chExt cx="1680300" cy="1286384"/>
          </a:xfrm>
        </p:grpSpPr>
        <p:sp>
          <p:nvSpPr>
            <p:cNvPr id="331" name="Google Shape;331;p21"/>
            <p:cNvSpPr/>
            <p:nvPr/>
          </p:nvSpPr>
          <p:spPr>
            <a:xfrm>
              <a:off x="876838" y="3504838"/>
              <a:ext cx="1680300" cy="379800"/>
            </a:xfrm>
            <a:prstGeom prst="roundRect">
              <a:avLst>
                <a:gd name="adj" fmla="val 50000"/>
              </a:avLst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t-IT" sz="2000">
                  <a:latin typeface="+mj-lt"/>
                  <a:sym typeface="Fira Sans Extra Condensed SemiBold"/>
                </a:rPr>
                <a:t>S</a:t>
              </a:r>
              <a:r>
                <a:rPr lang="en" sz="2000" dirty="0">
                  <a:latin typeface="+mj-lt"/>
                  <a:sym typeface="Fira Sans Extra Condensed SemiBold"/>
                </a:rPr>
                <a:t>tart_time_NTP</a:t>
              </a:r>
              <a:endParaRPr sz="2000" dirty="0">
                <a:latin typeface="+mj-lt"/>
                <a:sym typeface="Fira Sans Extra Condensed SemiBold"/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876838" y="3956663"/>
              <a:ext cx="1680300" cy="834559"/>
            </a:xfrm>
            <a:prstGeom prst="roundRect">
              <a:avLst>
                <a:gd name="adj" fmla="val 50000"/>
              </a:avLst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dirty="0">
                  <a:latin typeface="+mj-lt"/>
                  <a:sym typeface="Roboto"/>
                </a:rPr>
                <a:t>Misurato alla creazione del gruppo</a:t>
              </a:r>
              <a:endParaRPr dirty="0">
                <a:latin typeface="+mj-lt"/>
                <a:sym typeface="Roboto"/>
              </a:endParaRPr>
            </a:p>
          </p:txBody>
        </p:sp>
      </p:grpSp>
      <p:grpSp>
        <p:nvGrpSpPr>
          <p:cNvPr id="333" name="Google Shape;333;p21"/>
          <p:cNvGrpSpPr/>
          <p:nvPr/>
        </p:nvGrpSpPr>
        <p:grpSpPr>
          <a:xfrm>
            <a:off x="260650" y="1260000"/>
            <a:ext cx="2771433" cy="1471633"/>
            <a:chOff x="2788738" y="3504838"/>
            <a:chExt cx="1680325" cy="1103725"/>
          </a:xfrm>
        </p:grpSpPr>
        <p:sp>
          <p:nvSpPr>
            <p:cNvPr id="334" name="Google Shape;334;p21"/>
            <p:cNvSpPr/>
            <p:nvPr/>
          </p:nvSpPr>
          <p:spPr>
            <a:xfrm>
              <a:off x="2788763" y="3504838"/>
              <a:ext cx="1680300" cy="379800"/>
            </a:xfrm>
            <a:prstGeom prst="roundRect">
              <a:avLst>
                <a:gd name="adj" fmla="val 50000"/>
              </a:avLst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t-IT" sz="2000" dirty="0">
                  <a:latin typeface="+mj-lt"/>
                  <a:ea typeface="Fira Sans Extra Condensed SemiBold"/>
                  <a:cs typeface="Fira Sans Extra Condensed SemiBold"/>
                  <a:sym typeface="Fira Sans Extra Condensed SemiBold"/>
                </a:rPr>
                <a:t>E</a:t>
              </a:r>
              <a:r>
                <a:rPr lang="en" sz="2000" dirty="0">
                  <a:latin typeface="+mj-lt"/>
                  <a:ea typeface="Fira Sans Extra Condensed SemiBold"/>
                  <a:cs typeface="Fira Sans Extra Condensed SemiBold"/>
                  <a:sym typeface="Fira Sans Extra Condensed SemiBold"/>
                </a:rPr>
                <a:t>nd_time_NTP</a:t>
              </a:r>
              <a:endParaRPr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2788738" y="3956663"/>
              <a:ext cx="1680300" cy="651900"/>
            </a:xfrm>
            <a:prstGeom prst="roundRect">
              <a:avLst>
                <a:gd name="adj" fmla="val 50000"/>
              </a:avLst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600" dirty="0">
                  <a:solidFill>
                    <a:schemeClr val="dk1"/>
                  </a:solidFill>
                  <a:latin typeface="+mj-lt"/>
                  <a:ea typeface="Roboto"/>
                  <a:cs typeface="Roboto"/>
                  <a:sym typeface="Roboto"/>
                </a:rPr>
                <a:t>Misurato alla chiusura dell’ultimo blocco del gruppo</a:t>
              </a:r>
              <a:endParaRPr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9" name="Google Shape;339;p21"/>
          <p:cNvGrpSpPr/>
          <p:nvPr/>
        </p:nvGrpSpPr>
        <p:grpSpPr>
          <a:xfrm>
            <a:off x="4399290" y="4164297"/>
            <a:ext cx="2271501" cy="1326051"/>
            <a:chOff x="6418320" y="3125038"/>
            <a:chExt cx="2014800" cy="998639"/>
          </a:xfrm>
        </p:grpSpPr>
        <p:sp>
          <p:nvSpPr>
            <p:cNvPr id="340" name="Google Shape;340;p21"/>
            <p:cNvSpPr/>
            <p:nvPr/>
          </p:nvSpPr>
          <p:spPr>
            <a:xfrm>
              <a:off x="6418320" y="3125038"/>
              <a:ext cx="2014800" cy="379800"/>
            </a:xfrm>
            <a:prstGeom prst="roundRect">
              <a:avLst>
                <a:gd name="adj" fmla="val 50000"/>
              </a:avLst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t-IT" sz="2000" dirty="0">
                  <a:latin typeface="+mj-lt"/>
                  <a:ea typeface="Fira Sans Extra Condensed SemiBold"/>
                  <a:cs typeface="Fira Sans Extra Condensed SemiBold"/>
                  <a:sym typeface="Fira Sans Extra Condensed SemiBold"/>
                </a:rPr>
                <a:t>T</a:t>
              </a:r>
              <a:r>
                <a:rPr lang="en" sz="2000" dirty="0">
                  <a:latin typeface="+mj-lt"/>
                  <a:ea typeface="Fira Sans Extra Condensed SemiBold"/>
                  <a:cs typeface="Fira Sans Extra Condensed SemiBold"/>
                  <a:sym typeface="Fira Sans Extra Condensed SemiBold"/>
                </a:rPr>
                <a:t>imer_xo</a:t>
              </a:r>
              <a:endParaRPr sz="20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6418320" y="3559907"/>
              <a:ext cx="2014800" cy="563770"/>
            </a:xfrm>
            <a:prstGeom prst="roundRect">
              <a:avLst>
                <a:gd name="adj" fmla="val 50000"/>
              </a:avLst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t-IT" sz="2000" dirty="0" err="1">
                  <a:solidFill>
                    <a:schemeClr val="dk1"/>
                  </a:solidFill>
                  <a:latin typeface="+mj-lt"/>
                  <a:ea typeface="Roboto"/>
                  <a:cs typeface="Roboto"/>
                  <a:sym typeface="Roboto"/>
                </a:rPr>
                <a:t>Tot_samples</a:t>
              </a:r>
              <a:r>
                <a:rPr lang="it-IT" sz="2000" dirty="0">
                  <a:solidFill>
                    <a:schemeClr val="dk1"/>
                  </a:solidFill>
                  <a:latin typeface="+mj-lt"/>
                  <a:ea typeface="Roboto"/>
                  <a:cs typeface="Roboto"/>
                  <a:sym typeface="Roboto"/>
                </a:rPr>
                <a:t>/</a:t>
              </a:r>
              <a:r>
                <a:rPr lang="it-IT" sz="2000" dirty="0" err="1">
                  <a:solidFill>
                    <a:schemeClr val="dk1"/>
                  </a:solidFill>
                  <a:latin typeface="+mj-lt"/>
                  <a:ea typeface="Roboto"/>
                  <a:cs typeface="Roboto"/>
                  <a:sym typeface="Roboto"/>
                </a:rPr>
                <a:t>fs</a:t>
              </a:r>
              <a:r>
                <a:rPr lang="it-IT" sz="2000" dirty="0">
                  <a:solidFill>
                    <a:schemeClr val="dk1"/>
                  </a:solidFill>
                  <a:latin typeface="+mj-lt"/>
                  <a:ea typeface="Roboto"/>
                  <a:cs typeface="Roboto"/>
                  <a:sym typeface="Roboto"/>
                </a:rPr>
                <a:t> </a:t>
              </a:r>
              <a:endParaRPr sz="20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" name="Titolo 1">
            <a:extLst>
              <a:ext uri="{FF2B5EF4-FFF2-40B4-BE49-F238E27FC236}">
                <a16:creationId xmlns:a16="http://schemas.microsoft.com/office/drawing/2014/main" id="{F0015234-A55C-26C9-C995-37988803E020}"/>
              </a:ext>
            </a:extLst>
          </p:cNvPr>
          <p:cNvSpPr txBox="1">
            <a:spLocks/>
          </p:cNvSpPr>
          <p:nvPr/>
        </p:nvSpPr>
        <p:spPr>
          <a:xfrm>
            <a:off x="266400" y="180000"/>
            <a:ext cx="11664950" cy="1080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 kern="120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it-IT"/>
              <a:t>Time-based Sample Loss Detection</a:t>
            </a:r>
            <a:endParaRPr lang="it-IT" dirty="0"/>
          </a:p>
        </p:txBody>
      </p:sp>
      <p:sp>
        <p:nvSpPr>
          <p:cNvPr id="28" name="Google Shape;280;p21">
            <a:extLst>
              <a:ext uri="{FF2B5EF4-FFF2-40B4-BE49-F238E27FC236}">
                <a16:creationId xmlns:a16="http://schemas.microsoft.com/office/drawing/2014/main" id="{93580071-D985-521F-FE92-75C04A85D34E}"/>
              </a:ext>
            </a:extLst>
          </p:cNvPr>
          <p:cNvSpPr/>
          <p:nvPr/>
        </p:nvSpPr>
        <p:spPr>
          <a:xfrm>
            <a:off x="3377408" y="2074989"/>
            <a:ext cx="657015" cy="660985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77D20B4-81D0-E8DF-4370-EF537B5168CF}"/>
              </a:ext>
            </a:extLst>
          </p:cNvPr>
          <p:cNvSpPr txBox="1"/>
          <p:nvPr/>
        </p:nvSpPr>
        <p:spPr>
          <a:xfrm>
            <a:off x="3523449" y="1964362"/>
            <a:ext cx="2370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4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-</a:t>
            </a:r>
            <a:endParaRPr lang="it-IT" sz="4400" dirty="0">
              <a:latin typeface="+mj-lt"/>
            </a:endParaRPr>
          </a:p>
        </p:txBody>
      </p: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A8C7F56D-B6BF-7689-E2A4-6A1C3B63AB6B}"/>
              </a:ext>
            </a:extLst>
          </p:cNvPr>
          <p:cNvCxnSpPr>
            <a:cxnSpLocks/>
            <a:stCxn id="28" idx="6"/>
            <a:endCxn id="275" idx="1"/>
          </p:cNvCxnSpPr>
          <p:nvPr/>
        </p:nvCxnSpPr>
        <p:spPr>
          <a:xfrm flipV="1">
            <a:off x="4034423" y="2405481"/>
            <a:ext cx="426606" cy="1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56" name="Google Shape;277;p21">
            <a:extLst>
              <a:ext uri="{FF2B5EF4-FFF2-40B4-BE49-F238E27FC236}">
                <a16:creationId xmlns:a16="http://schemas.microsoft.com/office/drawing/2014/main" id="{5786A760-E4AA-5DEE-8546-8514A5E7B2D7}"/>
              </a:ext>
            </a:extLst>
          </p:cNvPr>
          <p:cNvCxnSpPr>
            <a:cxnSpLocks/>
            <a:stCxn id="57" idx="4"/>
          </p:cNvCxnSpPr>
          <p:nvPr/>
        </p:nvCxnSpPr>
        <p:spPr>
          <a:xfrm rot="5400000">
            <a:off x="6472643" y="3808840"/>
            <a:ext cx="815928" cy="399308"/>
          </a:xfrm>
          <a:prstGeom prst="bentConnector3">
            <a:avLst>
              <a:gd name="adj1" fmla="val 101054"/>
            </a:avLst>
          </a:prstGeom>
          <a:noFill/>
          <a:ln w="19050" cap="flat" cmpd="sng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</p:spPr>
      </p:cxnSp>
      <p:sp>
        <p:nvSpPr>
          <p:cNvPr id="57" name="Google Shape;280;p21">
            <a:extLst>
              <a:ext uri="{FF2B5EF4-FFF2-40B4-BE49-F238E27FC236}">
                <a16:creationId xmlns:a16="http://schemas.microsoft.com/office/drawing/2014/main" id="{02CE060C-914C-84C8-D988-21D07E965DB0}"/>
              </a:ext>
            </a:extLst>
          </p:cNvPr>
          <p:cNvSpPr/>
          <p:nvPr/>
        </p:nvSpPr>
        <p:spPr>
          <a:xfrm>
            <a:off x="6751753" y="2939545"/>
            <a:ext cx="657015" cy="660985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F1F1873E-7747-9DCD-9133-4D297C23A9B4}"/>
              </a:ext>
            </a:extLst>
          </p:cNvPr>
          <p:cNvSpPr txBox="1"/>
          <p:nvPr/>
        </p:nvSpPr>
        <p:spPr>
          <a:xfrm>
            <a:off x="6909015" y="2814589"/>
            <a:ext cx="2794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4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-</a:t>
            </a:r>
            <a:endParaRPr lang="it-IT" sz="4400" dirty="0">
              <a:latin typeface="+mj-lt"/>
            </a:endParaRP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ED5E6B7B-04E3-CEBB-0A0C-9A07A952ADFA}"/>
              </a:ext>
            </a:extLst>
          </p:cNvPr>
          <p:cNvCxnSpPr>
            <a:cxnSpLocks/>
          </p:cNvCxnSpPr>
          <p:nvPr/>
        </p:nvCxnSpPr>
        <p:spPr>
          <a:xfrm>
            <a:off x="7408768" y="3249888"/>
            <a:ext cx="373792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0" name="Connettore 2 48">
            <a:extLst>
              <a:ext uri="{FF2B5EF4-FFF2-40B4-BE49-F238E27FC236}">
                <a16:creationId xmlns:a16="http://schemas.microsoft.com/office/drawing/2014/main" id="{7412AEEC-0A73-1B7B-E540-9FEFC3C4E9AC}"/>
              </a:ext>
            </a:extLst>
          </p:cNvPr>
          <p:cNvCxnSpPr>
            <a:cxnSpLocks/>
            <a:stCxn id="275" idx="3"/>
            <a:endCxn id="57" idx="0"/>
          </p:cNvCxnSpPr>
          <p:nvPr/>
        </p:nvCxnSpPr>
        <p:spPr>
          <a:xfrm>
            <a:off x="6656348" y="2405481"/>
            <a:ext cx="423913" cy="534064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CasellaDiTesto 267">
                <a:extLst>
                  <a:ext uri="{FF2B5EF4-FFF2-40B4-BE49-F238E27FC236}">
                    <a16:creationId xmlns:a16="http://schemas.microsoft.com/office/drawing/2014/main" id="{581320A2-7C43-DCE0-A1A7-D31D34366976}"/>
                  </a:ext>
                </a:extLst>
              </p:cNvPr>
              <p:cNvSpPr txBox="1"/>
              <p:nvPr/>
            </p:nvSpPr>
            <p:spPr>
              <a:xfrm>
                <a:off x="7665844" y="3429000"/>
                <a:ext cx="2800858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it-IT" sz="1800" b="0" i="1" smtClean="0">
                              <a:latin typeface="Cambria Math" panose="02040503050406030204" pitchFamily="18" charset="0"/>
                              <a:sym typeface="Fira Sans Extra Condensed SemiBol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sz="1800" b="0" i="1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Nessun</m:t>
                              </m:r>
                              <m: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blocco</m:t>
                              </m:r>
                              <m: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perso</m:t>
                              </m:r>
                              <m: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      </m:t>
                              </m:r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se</m:t>
                              </m:r>
                              <m: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diff</m:t>
                              </m:r>
                              <m: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t</m:t>
                              </m:r>
                              <m: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block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Blocchi</m:t>
                              </m:r>
                              <m: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persi</m:t>
                              </m:r>
                              <m: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se</m:t>
                              </m:r>
                              <m: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diff</m:t>
                              </m:r>
                              <m: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t</m:t>
                              </m:r>
                              <m: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  <a:sym typeface="Fira Sans Extra Condensed SemiBold"/>
                                </a:rPr>
                                <m:t>block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it-IT" dirty="0">
                  <a:latin typeface="+mj-lt"/>
                </a:endParaRPr>
              </a:p>
            </p:txBody>
          </p:sp>
        </mc:Choice>
        <mc:Fallback xmlns="">
          <p:sp>
            <p:nvSpPr>
              <p:cNvPr id="268" name="CasellaDiTesto 267">
                <a:extLst>
                  <a:ext uri="{FF2B5EF4-FFF2-40B4-BE49-F238E27FC236}">
                    <a16:creationId xmlns:a16="http://schemas.microsoft.com/office/drawing/2014/main" id="{581320A2-7C43-DCE0-A1A7-D31D34366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844" y="3429000"/>
                <a:ext cx="2800858" cy="710194"/>
              </a:xfrm>
              <a:prstGeom prst="rect">
                <a:avLst/>
              </a:prstGeom>
              <a:blipFill>
                <a:blip r:embed="rId3"/>
                <a:stretch>
                  <a:fillRect r="-470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9" name="Connettore 2 48">
            <a:extLst>
              <a:ext uri="{FF2B5EF4-FFF2-40B4-BE49-F238E27FC236}">
                <a16:creationId xmlns:a16="http://schemas.microsoft.com/office/drawing/2014/main" id="{E0AAEB31-C3FF-C3F7-DC53-7291ECDFE109}"/>
              </a:ext>
            </a:extLst>
          </p:cNvPr>
          <p:cNvCxnSpPr>
            <a:cxnSpLocks/>
          </p:cNvCxnSpPr>
          <p:nvPr/>
        </p:nvCxnSpPr>
        <p:spPr>
          <a:xfrm>
            <a:off x="3033147" y="1498288"/>
            <a:ext cx="672768" cy="587326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81" name="CasellaDiTesto 380">
            <a:extLst>
              <a:ext uri="{FF2B5EF4-FFF2-40B4-BE49-F238E27FC236}">
                <a16:creationId xmlns:a16="http://schemas.microsoft.com/office/drawing/2014/main" id="{FC17A70C-5B51-D476-6B79-3610AC8704DD}"/>
              </a:ext>
            </a:extLst>
          </p:cNvPr>
          <p:cNvSpPr txBox="1"/>
          <p:nvPr/>
        </p:nvSpPr>
        <p:spPr>
          <a:xfrm>
            <a:off x="7782560" y="3052532"/>
            <a:ext cx="3047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dirty="0">
                <a:latin typeface="+mj-lt"/>
                <a:ea typeface="Fira Sans Extra Condensed SemiBold"/>
                <a:cs typeface="Fira Sans Extra Condensed SemiBold"/>
                <a:sym typeface="Fira Sans Extra Condensed SemiBold"/>
              </a:rPr>
              <a:t>diff</a:t>
            </a:r>
            <a:endParaRPr lang="it-IT" dirty="0">
              <a:latin typeface="+mj-lt"/>
            </a:endParaRPr>
          </a:p>
        </p:txBody>
      </p:sp>
      <p:sp>
        <p:nvSpPr>
          <p:cNvPr id="383" name="CasellaDiTesto 382">
            <a:extLst>
              <a:ext uri="{FF2B5EF4-FFF2-40B4-BE49-F238E27FC236}">
                <a16:creationId xmlns:a16="http://schemas.microsoft.com/office/drawing/2014/main" id="{F28AA0F8-20CC-11CA-690A-0E14EA0E38F0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9E53D4-FE9E-8C30-8790-54381DD1C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Sistema di acquisizione SOP e fase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02F96C-851F-510B-8B13-1B183DBF50D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02133" y="720000"/>
            <a:ext cx="6224748" cy="5276609"/>
          </a:xfrm>
          <a:prstGeom prst="rect">
            <a:avLst/>
          </a:prstGeom>
        </p:spPr>
      </p:pic>
      <p:cxnSp>
        <p:nvCxnSpPr>
          <p:cNvPr id="5" name="Google Shape;462;p24">
            <a:extLst>
              <a:ext uri="{FF2B5EF4-FFF2-40B4-BE49-F238E27FC236}">
                <a16:creationId xmlns:a16="http://schemas.microsoft.com/office/drawing/2014/main" id="{94C7117A-6727-45D5-EBE2-50C31AC679C4}"/>
              </a:ext>
            </a:extLst>
          </p:cNvPr>
          <p:cNvCxnSpPr/>
          <p:nvPr/>
        </p:nvCxnSpPr>
        <p:spPr>
          <a:xfrm>
            <a:off x="345724" y="5343361"/>
            <a:ext cx="82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462;p24">
            <a:extLst>
              <a:ext uri="{FF2B5EF4-FFF2-40B4-BE49-F238E27FC236}">
                <a16:creationId xmlns:a16="http://schemas.microsoft.com/office/drawing/2014/main" id="{3F8FD27B-09B4-88B4-7AEC-74317F1F0F23}"/>
              </a:ext>
            </a:extLst>
          </p:cNvPr>
          <p:cNvCxnSpPr/>
          <p:nvPr/>
        </p:nvCxnSpPr>
        <p:spPr>
          <a:xfrm>
            <a:off x="345724" y="5800561"/>
            <a:ext cx="824400" cy="0"/>
          </a:xfrm>
          <a:prstGeom prst="straightConnector1">
            <a:avLst/>
          </a:prstGeom>
          <a:noFill/>
          <a:ln w="19050" cap="flat" cmpd="sng">
            <a:solidFill>
              <a:srgbClr val="1212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E2B0D47-43DD-E977-E60D-B0FB5C9A13A9}"/>
              </a:ext>
            </a:extLst>
          </p:cNvPr>
          <p:cNvSpPr txBox="1"/>
          <p:nvPr/>
        </p:nvSpPr>
        <p:spPr>
          <a:xfrm>
            <a:off x="1168852" y="5134632"/>
            <a:ext cx="217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Optical link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AAB9B2E-901B-877D-078B-A75E4F5D7668}"/>
              </a:ext>
            </a:extLst>
          </p:cNvPr>
          <p:cNvSpPr txBox="1"/>
          <p:nvPr/>
        </p:nvSpPr>
        <p:spPr>
          <a:xfrm>
            <a:off x="1168853" y="5605173"/>
            <a:ext cx="233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Electrical</a:t>
            </a:r>
            <a:r>
              <a:rPr lang="it-IT" dirty="0"/>
              <a:t> link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1C25742-25F1-93E6-AAA4-29F679856539}"/>
              </a:ext>
            </a:extLst>
          </p:cNvPr>
          <p:cNvSpPr txBox="1"/>
          <p:nvPr/>
        </p:nvSpPr>
        <p:spPr>
          <a:xfrm>
            <a:off x="5920740" y="6434160"/>
            <a:ext cx="52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5480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5CB9D1-5B06-5469-3C50-5EE7E88AE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hlinkClick r:id="rId2" action="ppaction://hlinkfile"/>
              </a:rPr>
              <a:t>Performance in High-Sensitivity mode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5B140A0-253B-13BE-BDB6-D42425C66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391" y="898619"/>
            <a:ext cx="8097218" cy="506076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32F0073-B76D-6BA5-7CE8-5A78116C8E8F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13969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1551B-9F9D-8B82-CF5B-76F1E91BB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8C1FF9-7AFA-F9DA-199E-8CF9B52EC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SOP fibra urbana </a:t>
            </a:r>
            <a:r>
              <a:rPr lang="it-IT" dirty="0" err="1"/>
              <a:t>INRiM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2C740A2-E310-4921-5359-D9EB811DECC5}"/>
              </a:ext>
            </a:extLst>
          </p:cNvPr>
          <p:cNvSpPr txBox="1"/>
          <p:nvPr/>
        </p:nvSpPr>
        <p:spPr>
          <a:xfrm>
            <a:off x="5920740" y="6434160"/>
            <a:ext cx="642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1B527E2-C89C-A2F3-4720-6B4A7EA6B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736600"/>
            <a:ext cx="8077200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85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0A85-8C66-988D-E25C-0C5D1C101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">
            <a:extLst>
              <a:ext uri="{FF2B5EF4-FFF2-40B4-BE49-F238E27FC236}">
                <a16:creationId xmlns:a16="http://schemas.microsoft.com/office/drawing/2014/main" id="{351995F4-C6D7-B83A-6ECA-DDDFA79A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4950" cy="1080000"/>
          </a:xfrm>
        </p:spPr>
        <p:txBody>
          <a:bodyPr/>
          <a:lstStyle/>
          <a:p>
            <a:r>
              <a:rPr lang="it-IT" dirty="0"/>
              <a:t>Misure di fase FPGA – STM32 su fibra urbana </a:t>
            </a:r>
            <a:r>
              <a:rPr lang="it-IT" dirty="0" err="1"/>
              <a:t>INRiM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9508264-776B-074A-CA95-ECB4C9610A02}"/>
              </a:ext>
            </a:extLst>
          </p:cNvPr>
          <p:cNvSpPr txBox="1"/>
          <p:nvPr/>
        </p:nvSpPr>
        <p:spPr>
          <a:xfrm>
            <a:off x="260650" y="764034"/>
            <a:ext cx="7034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FPGA dataset: 20260619_13_17_30, 20260619_14_17_30</a:t>
            </a:r>
          </a:p>
          <a:p>
            <a:r>
              <a:rPr lang="it-IT" dirty="0"/>
              <a:t>STM32 dataset: 1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F2FAF30-5D79-073C-E9E1-140C05643B4F}"/>
              </a:ext>
            </a:extLst>
          </p:cNvPr>
          <p:cNvSpPr txBox="1"/>
          <p:nvPr/>
        </p:nvSpPr>
        <p:spPr>
          <a:xfrm>
            <a:off x="5920740" y="6434160"/>
            <a:ext cx="541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12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1E8E7F4-825A-40E5-2F5D-47D665B99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9"/>
          <a:stretch>
            <a:fillRect/>
          </a:stretch>
        </p:blipFill>
        <p:spPr>
          <a:xfrm>
            <a:off x="790575" y="1441308"/>
            <a:ext cx="10610850" cy="466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81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647AC981-8FC9-12DC-FE0E-FA269B095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0"/>
          <a:stretch>
            <a:fillRect/>
          </a:stretch>
        </p:blipFill>
        <p:spPr>
          <a:xfrm>
            <a:off x="805475" y="1196281"/>
            <a:ext cx="10581050" cy="4668188"/>
          </a:xfrm>
          <a:prstGeom prst="rect">
            <a:avLst/>
          </a:prstGeom>
        </p:spPr>
      </p:pic>
      <p:sp>
        <p:nvSpPr>
          <p:cNvPr id="4" name="Titolo 1">
            <a:extLst>
              <a:ext uri="{FF2B5EF4-FFF2-40B4-BE49-F238E27FC236}">
                <a16:creationId xmlns:a16="http://schemas.microsoft.com/office/drawing/2014/main" id="{00BF9DF0-03D3-0DDC-B153-3E3D21E89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9727"/>
            <a:ext cx="11661775" cy="606425"/>
          </a:xfrm>
        </p:spPr>
        <p:txBody>
          <a:bodyPr/>
          <a:lstStyle/>
          <a:p>
            <a:r>
              <a:rPr lang="it-IT" dirty="0"/>
              <a:t>Misure di fase FPGA – STM32 su fibra urbana </a:t>
            </a:r>
            <a:r>
              <a:rPr lang="it-IT" dirty="0" err="1"/>
              <a:t>INRiM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7E5E999-9757-E691-7B50-82ADDC88A082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20565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1F2CD7-C054-4178-C821-FD11F38DE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Misure di fase FPGA – STM32 su fibra urbana </a:t>
            </a:r>
            <a:r>
              <a:rPr lang="it-IT" dirty="0" err="1"/>
              <a:t>INRiM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BBF30F4-7C2A-7DB2-95D6-0885FA5D6C19}"/>
              </a:ext>
            </a:extLst>
          </p:cNvPr>
          <p:cNvSpPr txBox="1"/>
          <p:nvPr/>
        </p:nvSpPr>
        <p:spPr>
          <a:xfrm>
            <a:off x="5920740" y="6434160"/>
            <a:ext cx="72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5F14973-B645-5CB4-9135-3FF42CFBE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2" t="8346" r="7316" b="4298"/>
          <a:stretch>
            <a:fillRect/>
          </a:stretch>
        </p:blipFill>
        <p:spPr>
          <a:xfrm>
            <a:off x="1301261" y="896814"/>
            <a:ext cx="9363809" cy="524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69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9421F-36CE-9E41-BD55-CABDD87B2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">
            <a:extLst>
              <a:ext uri="{FF2B5EF4-FFF2-40B4-BE49-F238E27FC236}">
                <a16:creationId xmlns:a16="http://schemas.microsoft.com/office/drawing/2014/main" id="{4F5A25F8-CA57-D29B-066B-A0E6DE7C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4950" cy="1080000"/>
          </a:xfrm>
        </p:spPr>
        <p:txBody>
          <a:bodyPr/>
          <a:lstStyle/>
          <a:p>
            <a:r>
              <a:rPr lang="it-IT" dirty="0"/>
              <a:t>Misure di fase FPGA – STM32 su fibra urbana </a:t>
            </a:r>
            <a:r>
              <a:rPr lang="it-IT" dirty="0" err="1"/>
              <a:t>INRiM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D630410-D347-7DF1-19FE-799764A352E3}"/>
              </a:ext>
            </a:extLst>
          </p:cNvPr>
          <p:cNvSpPr txBox="1"/>
          <p:nvPr/>
        </p:nvSpPr>
        <p:spPr>
          <a:xfrm>
            <a:off x="5920740" y="6434160"/>
            <a:ext cx="45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13</a:t>
            </a:r>
          </a:p>
        </p:txBody>
      </p:sp>
      <p:pic>
        <p:nvPicPr>
          <p:cNvPr id="2" name="Segnaposto contenuto 4">
            <a:extLst>
              <a:ext uri="{FF2B5EF4-FFF2-40B4-BE49-F238E27FC236}">
                <a16:creationId xmlns:a16="http://schemas.microsoft.com/office/drawing/2014/main" id="{7AF3A277-D13E-BB3E-788A-C4A7ED416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2" b="2765"/>
          <a:stretch>
            <a:fillRect/>
          </a:stretch>
        </p:blipFill>
        <p:spPr>
          <a:xfrm>
            <a:off x="1630503" y="931785"/>
            <a:ext cx="8930994" cy="499443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A86DC78-A514-9BE0-8A59-6A68F506E5F9}"/>
              </a:ext>
            </a:extLst>
          </p:cNvPr>
          <p:cNvSpPr txBox="1"/>
          <p:nvPr/>
        </p:nvSpPr>
        <p:spPr>
          <a:xfrm>
            <a:off x="266401" y="5926215"/>
            <a:ext cx="11603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Reference: </a:t>
            </a:r>
            <a:r>
              <a:rPr lang="it-IT" sz="1600" dirty="0">
                <a:hlinkClick r:id="rId3" action="ppaction://hlinkfile"/>
              </a:rPr>
              <a:t>Donadello et al. - 2023 - Embedded Digital </a:t>
            </a:r>
            <a:r>
              <a:rPr lang="it-IT" sz="1600" dirty="0" err="1">
                <a:hlinkClick r:id="rId3" action="ppaction://hlinkfile"/>
              </a:rPr>
              <a:t>Phase</a:t>
            </a:r>
            <a:r>
              <a:rPr lang="it-IT" sz="1600" dirty="0">
                <a:hlinkClick r:id="rId3" action="ppaction://hlinkfile"/>
              </a:rPr>
              <a:t> </a:t>
            </a:r>
            <a:r>
              <a:rPr lang="it-IT" sz="1600" dirty="0" err="1">
                <a:hlinkClick r:id="rId3" action="ppaction://hlinkfile"/>
              </a:rPr>
              <a:t>Noise</a:t>
            </a:r>
            <a:r>
              <a:rPr lang="it-IT" sz="1600" dirty="0">
                <a:hlinkClick r:id="rId3" action="ppaction://hlinkfile"/>
              </a:rPr>
              <a:t> Analyzer for Optical Frequency </a:t>
            </a:r>
            <a:r>
              <a:rPr lang="it-IT" sz="1600" dirty="0" err="1">
                <a:hlinkClick r:id="rId3" action="ppaction://hlinkfile"/>
              </a:rPr>
              <a:t>Metrology</a:t>
            </a:r>
            <a:r>
              <a:rPr lang="it-IT" sz="1600" dirty="0">
                <a:hlinkClick r:id="rId3" action="ppaction://hlinkfile"/>
              </a:rPr>
              <a:t> 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4223474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B0904-3B4C-6923-3F41-3A1B8BB7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FFT sullo zoom con residui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ACB3521-4D40-92CD-E521-7A72547A94A4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F33FE863-53ED-8D84-9A52-7323AE31E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987" y="1064974"/>
            <a:ext cx="9042026" cy="503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82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32A1-F5F3-B742-D559-E164C4A3D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25" y="3033550"/>
            <a:ext cx="11664950" cy="790899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it-IT" b="1" kern="1200">
                <a:latin typeface="+mj-lt"/>
                <a:ea typeface="+mj-ea"/>
                <a:cs typeface="+mj-cs"/>
              </a:rPr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548438611"/>
      </p:ext>
    </p:extLst>
  </p:cSld>
  <p:clrMapOvr>
    <a:masterClrMapping/>
  </p:clrMapOvr>
</p:sld>
</file>

<file path=ppt/theme/theme1.xml><?xml version="1.0" encoding="utf-8"?>
<a:theme xmlns:a="http://schemas.openxmlformats.org/drawingml/2006/main" name="PoliTO Layout Generico TITOLO BLU">
  <a:themeElements>
    <a:clrScheme name="Personalizzato 1">
      <a:dk1>
        <a:srgbClr val="212745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55725CFF937040894F497962944123" ma:contentTypeVersion="12" ma:contentTypeDescription="Create a new document." ma:contentTypeScope="" ma:versionID="7a0e623862b5493cb3745d6796d6e55f">
  <xsd:schema xmlns:xsd="http://www.w3.org/2001/XMLSchema" xmlns:xs="http://www.w3.org/2001/XMLSchema" xmlns:p="http://schemas.microsoft.com/office/2006/metadata/properties" xmlns:ns3="e1991b7f-6b7d-449b-b767-f5f786c869d3" targetNamespace="http://schemas.microsoft.com/office/2006/metadata/properties" ma:root="true" ma:fieldsID="6c1c622ae9065d5d3394d8a852b1f736" ns3:_="">
    <xsd:import namespace="e1991b7f-6b7d-449b-b767-f5f786c869d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LengthInSeconds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991b7f-6b7d-449b-b767-f5f786c869d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991b7f-6b7d-449b-b767-f5f786c869d3" xsi:nil="true"/>
  </documentManagement>
</p:properties>
</file>

<file path=customXml/itemProps1.xml><?xml version="1.0" encoding="utf-8"?>
<ds:datastoreItem xmlns:ds="http://schemas.openxmlformats.org/officeDocument/2006/customXml" ds:itemID="{C49F161D-94DE-4FB8-B032-342C52D425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A029C0-35CF-4CF5-BA61-F48A3501E8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991b7f-6b7d-449b-b767-f5f786c869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ABA873-0994-4738-95F5-BEAE2390D7EB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e1991b7f-6b7d-449b-b767-f5f786c869d3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7765</TotalTime>
  <Words>492</Words>
  <Application>Microsoft Office PowerPoint</Application>
  <PresentationFormat>Widescreen</PresentationFormat>
  <Paragraphs>159</Paragraphs>
  <Slides>18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18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Century Gothic</vt:lpstr>
      <vt:lpstr>Fira Sans Extra Condensed SemiBold</vt:lpstr>
      <vt:lpstr>Poppins</vt:lpstr>
      <vt:lpstr>PoliTO Layout Generico TITOLO BLU</vt:lpstr>
      <vt:lpstr>Personalizza struttura</vt:lpstr>
      <vt:lpstr>1_Personalizza struttura</vt:lpstr>
      <vt:lpstr>Presentazione standard di PowerPoint</vt:lpstr>
      <vt:lpstr>Obiettivo </vt:lpstr>
      <vt:lpstr>Schema di timestamping</vt:lpstr>
      <vt:lpstr>Architettura Software</vt:lpstr>
      <vt:lpstr>Architettura Software</vt:lpstr>
      <vt:lpstr>Architettura Software</vt:lpstr>
      <vt:lpstr>Struttura file .h5</vt:lpstr>
      <vt:lpstr>Index-based Sample Loss Detection</vt:lpstr>
      <vt:lpstr>Presentazione standard di PowerPoint</vt:lpstr>
      <vt:lpstr>Sistema di acquisizione SOP e fase</vt:lpstr>
      <vt:lpstr>Performance in High-Sensitivity mode</vt:lpstr>
      <vt:lpstr>SOP fibra urbana INRiM</vt:lpstr>
      <vt:lpstr>Misure di fase FPGA – STM32 su fibra urbana INRiM</vt:lpstr>
      <vt:lpstr>Misure di fase FPGA – STM32 su fibra urbana INRiM</vt:lpstr>
      <vt:lpstr>Misure di fase FPGA – STM32 su fibra urbana INRiM</vt:lpstr>
      <vt:lpstr>Misure di fase FPGA – STM32 su fibra urbana INRiM</vt:lpstr>
      <vt:lpstr>FFT sullo zoom con residui</vt:lpstr>
      <vt:lpstr>THANKS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Cavaliere  Monica</dc:creator>
  <cp:lastModifiedBy>Antonucci  Egle</cp:lastModifiedBy>
  <cp:revision>23</cp:revision>
  <cp:lastPrinted>2026-02-17T15:42:05Z</cp:lastPrinted>
  <dcterms:created xsi:type="dcterms:W3CDTF">2021-12-06T14:02:46Z</dcterms:created>
  <dcterms:modified xsi:type="dcterms:W3CDTF">2026-06-23T11:31:46Z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0x0101004855725CFF937040894F497962944123</vt:lpwstr>
  </property>
  <property fmtid="{D5CDD505-2E9C-101B-9397-08002B2CF9AE}" pid="3" name="MediaServiceImageTags">
    <vt:lpwstr/>
  </property>
</Properties>
</file>
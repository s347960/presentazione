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0" r:id="rId5"/>
    <p:sldMasterId id="2147483682" r:id="rId6"/>
  </p:sldMasterIdLst>
  <p:notesMasterIdLst>
    <p:notesMasterId r:id="rId33"/>
  </p:notesMasterIdLst>
  <p:sldIdLst>
    <p:sldId id="257" r:id="rId7"/>
    <p:sldId id="325" r:id="rId8"/>
    <p:sldId id="312" r:id="rId9"/>
    <p:sldId id="330" r:id="rId10"/>
    <p:sldId id="338" r:id="rId11"/>
    <p:sldId id="339" r:id="rId12"/>
    <p:sldId id="340" r:id="rId13"/>
    <p:sldId id="348" r:id="rId14"/>
    <p:sldId id="353" r:id="rId15"/>
    <p:sldId id="354" r:id="rId16"/>
    <p:sldId id="355" r:id="rId17"/>
    <p:sldId id="332" r:id="rId18"/>
    <p:sldId id="345" r:id="rId19"/>
    <p:sldId id="344" r:id="rId20"/>
    <p:sldId id="349" r:id="rId21"/>
    <p:sldId id="333" r:id="rId22"/>
    <p:sldId id="334" r:id="rId23"/>
    <p:sldId id="350" r:id="rId24"/>
    <p:sldId id="352" r:id="rId25"/>
    <p:sldId id="331" r:id="rId26"/>
    <p:sldId id="343" r:id="rId27"/>
    <p:sldId id="347" r:id="rId28"/>
    <p:sldId id="336" r:id="rId29"/>
    <p:sldId id="341" r:id="rId30"/>
    <p:sldId id="337" r:id="rId31"/>
    <p:sldId id="298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096607-3EDF-C748-F3C5-0BCE2BE7D64B}" name="Valdes  Francesco" initials="FV" userId="S::s336603@studenti.polito.it::9510d836-c34f-4b3d-99f7-d176dcd01aa2" providerId="AD"/>
  <p188:author id="{DE21A783-8E0F-8A53-51FB-2D350651DA5A}" name="Simula  Andrea" initials="SA" userId="S::s343740@studenti.polito.it::1f5ba827-a014-4841-819a-235f0f92f5e2" providerId="AD"/>
  <p188:author id="{11C6D9AC-1707-2834-E3D0-D89A4B228BE4}" name="Antonucci  Egle" initials="AE" userId="S::s347960@studenti.polito.it::328a1078-1085-4626-805a-fa72594303d8" providerId="AD"/>
  <p188:author id="{E19A88B8-85EA-6FCF-518D-BA63521E15FB}" name="Francesco Valdes" initials="FV" userId="Francesco Valdes" providerId="None"/>
  <p188:author id="{B1C6B2F6-15EB-135A-29F2-61BE7EBC3394}" name="Labarbuta  Sara" initials="SL" userId="S::s333938@studenti.polito.it::c39e784e-0fc8-4f77-863e-5b55f54a53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Valdes" initials="FV" lastIdx="7" clrIdx="0">
    <p:extLst>
      <p:ext uri="{19B8F6BF-5375-455C-9EA6-DF929625EA0E}">
        <p15:presenceInfo xmlns:p15="http://schemas.microsoft.com/office/powerpoint/2012/main" userId="Francesco Vald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45"/>
    <a:srgbClr val="F14124"/>
    <a:srgbClr val="516AC9"/>
    <a:srgbClr val="000000"/>
    <a:srgbClr val="1212FF"/>
    <a:srgbClr val="FF6F6F"/>
    <a:srgbClr val="FFFFFF"/>
    <a:srgbClr val="00284B"/>
    <a:srgbClr val="185A7D"/>
    <a:srgbClr val="0E1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84674-2D3B-4537-984E-65CD2544A6FE}" v="91" dt="2026-09-02T20:16:01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1CDF-70D6-4AEF-91E2-1A078360BAF5}" type="datetimeFigureOut">
              <a:rPr lang="it-IT" smtClean="0"/>
              <a:t>07/09/2026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67167-11A0-4F1E-B4C2-F6C904BE8E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78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51360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 se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35A83-FEB5-48B4-8C7E-044BE53C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682222"/>
            <a:ext cx="1166495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385FDE-6C5D-4896-92DC-B1ADC5389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5202238"/>
            <a:ext cx="11664950" cy="7144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AFFE0D-0C9D-4A48-AED5-33CF7939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0" y="266400"/>
            <a:ext cx="130984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ko-KR"/>
              <a:t>                                      </a:t>
            </a:r>
            <a:r>
              <a:rPr lang="en-US" altLang="ko-KR" err="1"/>
              <a:t>Inserisci</a:t>
            </a:r>
            <a:r>
              <a:rPr lang="en-US" altLang="ko-KR"/>
              <a:t> </a:t>
            </a:r>
            <a:r>
              <a:rPr lang="en-US" altLang="ko-KR" err="1"/>
              <a:t>immagine</a:t>
            </a:r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Fare clic per modificare gli stili del titolo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Fare clic per modificare gli stili del sottotitolo</a:t>
            </a:r>
          </a:p>
        </p:txBody>
      </p:sp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687AE522-6203-4B27-B07D-312A2F22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906" y="266400"/>
            <a:ext cx="1310643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2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F03F2-89AF-42A3-A2AB-51741EB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B3A445-4E39-4C60-BF68-A49E8563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400" y="1548000"/>
            <a:ext cx="11664950" cy="4680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2524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0675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10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43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EA121-D4F4-AFB1-2345-C7D049792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BBF7D7-D49F-ECBD-DC59-A96E2E737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E9F937-9DFB-09DD-AA67-4B3D796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8732A-BB68-46BF-0AFB-AFF1C081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2F4968-AB94-B47C-C5D5-E9C03555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77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BA28E2-1398-78AA-EBD8-D33C2C6F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A3AA39-64D5-1628-362E-CB835594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D6DB6A-8FCC-2096-31CB-A76E9284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E21815-5C86-C1DB-08B1-84AA72C5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D1D657-2A20-A7E5-93BA-7536E141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36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090DA-76E4-4210-180C-38F0F485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625104-F349-5E4D-612A-4F25F697F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B2B4E5-505C-3480-E048-A91DDA8D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D34B75-DBC2-5C08-D802-9EC65696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285659-5E19-9BB5-9AF2-E2A2290E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956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F525B-9A6F-EFE0-C0F5-B5DB8BF0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2B064E-6075-56F4-17B2-B95B4350D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F99735-D3CD-1D5E-2017-BBD60125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ACCC6D-CC7F-F4A1-BE81-89369B95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905935-460C-6888-8642-417E0CFA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F5C22A-BB35-FFFF-C37B-8BC861E2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48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DE178-D849-A7CD-D129-7BC39911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188252-0ED0-A896-3F9C-05DFDA8C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B9AC22-2DFD-EF90-F2D2-DDA69E78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BE6B6A5-7DFD-EE94-CB95-FAABF0163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44DF8F-A6CB-AA98-AE52-F3CA7D19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2B0BE3-31C8-09A3-83B9-3A41FDF5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6A34304-E43B-03A1-4C0E-7498436E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C255B7E-1097-5346-7723-882505E7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9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35744-315A-FD7B-6284-8EB6AABE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DAE383-2B02-96A2-76AE-FFC54B0D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0C1898-1A31-8ED1-32C6-1D93E8C9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57E81C-60DC-DE3D-4B43-F6327647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619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A3DFDF-ACDB-5C84-4CB3-D3766A16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11A769-47DB-E668-DC34-E75CBF1F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452A54-0A3C-EDE7-B530-184A6363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789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803C3-EFAA-1CC3-DB90-40AA5823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A95798-0FB5-9F77-9091-C901A047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4E4C06-080A-BF37-CF00-24ACB51A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CFDA23-4794-5C06-6CD3-0320FC9D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B12D42-5E25-5395-D70E-85AF0A96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DDF37B-8271-DD6D-45E3-9FEE76A4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007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312CF-C1D4-80E8-655D-4D3FB99A8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3922B0-3194-115A-D1F7-5C0BA1822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BFE518-6248-1DFB-4F73-36E03861B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E9B10F-CF29-8B7C-D2C1-9C0949E9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1E0853-69C5-AFFF-8588-29BD995A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47D7E5-F257-2DF3-657C-36F2D3A8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49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F467D3-BFE8-84AF-D470-3C5EAC12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20B97B-6A67-3D77-E066-27716B22C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E8D8F-5B90-D4AB-85F5-8368F25E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D9E13A-65C8-B1A2-73FF-AF4F5688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E47770-7712-6948-C953-A2C245A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98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0B2C6C5-678F-8E05-A8F4-367C80384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66EB95F-6B85-BCEF-BCFB-3E3C8986A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4B9F6-141D-C864-F32E-A4EBC587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75EF0C-5224-5AB2-B5CF-87313148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BC8C5C-6F78-B109-FA94-B22D5A14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9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DE692E-DFD1-D62A-FB76-01B11C79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F74D53-93EF-9876-2CBA-119CA820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37281B-0985-4C2E-D1DE-5F7790A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6F0AAF-3412-31ED-2A7C-20FBFEA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F07095-AF22-DFC4-7D4C-CE603BF1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754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8D79B-DA0F-E6C1-35BD-7E307FDE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41629F-FAE5-6D7D-E815-42FC11DD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62B666-24DE-82EE-D969-FD54064A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92C839-7FFB-FC75-7586-FFFF88A4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949D49-3631-7FF9-6753-1439290F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225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C9543-17D1-EA14-7572-3F922967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1FF8F7-EE6C-19EB-FCF9-9A0F588E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D013F5-2312-B60D-439F-CAE1E701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1C959A-ED53-06D1-4F05-09B46804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5C2096-6FDE-5F01-1946-7468571E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768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C5A52-9069-BE9E-8E34-259A7321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DE8868-839C-BDBC-A659-460EDE57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A54D75-755A-3F61-5CF4-D8F7C3167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BE9A11-A381-6731-5786-0C7C4B2C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F03E87-05F8-8848-4FA5-9AAF4262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387E04-00BB-7D3A-ECC7-ACA670E6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6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FD3637-B2A5-27D9-1BDD-B15DCBFF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5CB23E4-2ACB-9B9D-95F4-100810B1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A2AEFC-B34F-322A-979A-1DE57BDD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3030EE-7B3C-EE8B-FA38-BD7E89F9C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4B717C-93DB-3451-A8B8-AA88A22F6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C7AD44-2609-6F3C-02AE-9F1525A9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159DFE-653B-8C5F-6238-ACC40753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372434-3787-DC2B-A6C2-D953B94A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109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A05DF1-C5F2-B28A-CEF7-4A5783C7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49F99B8-6A9E-446A-4045-31FF83F3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306094-A81E-24C3-3162-8A1EB723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7E33CE-D29E-160D-7A29-20510377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383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1161E5A-3FAC-9910-B9DE-83F981AD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EF48B12-F60C-A323-2C42-A81E3FFF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075122-A7EF-0FD1-3A35-B6D9272E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3396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B4AEE-752A-4047-5AC1-F09C86D9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6EAE6A-FFD8-FF85-D64D-41993922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2DF64AC-AA2D-B1B0-8ED1-92D25AB5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06764B-2361-D2AC-88D5-38FB6FC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83AF9D-C241-7BF4-C2C2-6E452F31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09997A-99BD-C930-BB5B-A9F62BA0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697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F83FD1-6A2D-6CE8-F579-114A58C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BBF124B-2D53-3500-98EA-FCE744806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0091010-5F10-24BC-CFBF-CC23172EB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587B6F-756B-8C69-683F-720946AF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E66654-E189-5DE2-3306-8E703EBA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4F1D76-F416-02DD-2B70-403F16B6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30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3C3B6-2964-22A4-D4E8-4902372C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A3BAF1-D74E-4A0D-6D38-6912EB5BB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42E636-BBF1-BAA9-E08F-7F9377B8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1FDE9D-9B21-E450-A9F2-FD45DB27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C1EB19-7BAB-B97D-3453-8E222BAF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859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AC84F44-7336-BC11-6278-73B7FAA0A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FBC00EE-AB41-635E-CE5E-9AE5301A3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F5FC73-5D75-BD83-CE6D-3D4AAA9F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A002BF-2B56-7E02-7D15-3CA6C62E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2CB888-3A0B-535E-9FA5-A474E4E3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4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B7020CC-1F43-4307-885B-9C5B8595FB35}"/>
              </a:ext>
            </a:extLst>
          </p:cNvPr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525B60-4CE1-4B14-BFEA-0C3F4F11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D3A30F-644A-447F-AE26-65EEFAD4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17C92E-8ADD-4880-9C12-BC8CB27C40E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400800"/>
            <a:ext cx="8186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0" r:id="rId4"/>
    <p:sldLayoutId id="2147483654" r:id="rId5"/>
    <p:sldLayoutId id="2147483664" r:id="rId6"/>
    <p:sldLayoutId id="2147483669" r:id="rId7"/>
    <p:sldLayoutId id="2147483652" r:id="rId8"/>
  </p:sldLayoutIdLst>
  <p:hf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998156-AA1D-BBBC-73A6-C6E96B68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AF7478-7885-4721-934A-4C6186DCB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7C3FA1-09A7-DEA9-BC1A-B22324396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7742C4-3F84-16B2-1A07-21231193B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ED905-EF30-89F5-97FE-9947541C5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6856D-B2AF-4904-A6A1-AEDA9836873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C223A8-5808-E6F1-7B89-C47EC7B7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CD333E-6F3D-61F9-F101-D6E797C0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227AB-E5D6-9ADA-19E3-7AF0EAD00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AF750-697A-42EE-BA8B-A382A30B9D4A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76815F-9E5D-5540-37F1-269E4C485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95D056-5766-0A2E-2148-CAE9E1BC3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DADDB-8F6C-44DC-A85A-50910ABB5A9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03%20-%20Donadello%20et%20al.%20-%202023%20-%20Embedded%20Digital%20Phase%20Noise%20Analyzer%20for%20Optical%20Frequency%20Metrology.pdf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6.png"/><Relationship Id="rId7" Type="http://schemas.openxmlformats.org/officeDocument/2006/relationships/image" Target="../media/image180.png"/><Relationship Id="rId12" Type="http://schemas.openxmlformats.org/officeDocument/2006/relationships/image" Target="../media/image2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9911FF0-5115-413C-A149-CF162B8BA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884" y="299846"/>
            <a:ext cx="10040815" cy="2997037"/>
          </a:xfrm>
        </p:spPr>
        <p:txBody>
          <a:bodyPr/>
          <a:lstStyle/>
          <a:p>
            <a:pPr algn="ctr"/>
            <a:r>
              <a:rPr lang="en-GB" sz="2400" dirty="0" err="1"/>
              <a:t>Sviluppo</a:t>
            </a:r>
            <a:r>
              <a:rPr lang="en-GB" sz="2400" noProof="0" dirty="0"/>
              <a:t> e </a:t>
            </a:r>
            <a:r>
              <a:rPr lang="en-GB" sz="2400" noProof="0" dirty="0" err="1"/>
              <a:t>validazione</a:t>
            </a:r>
            <a:r>
              <a:rPr lang="en-GB" sz="2400" noProof="0" dirty="0"/>
              <a:t> di un </a:t>
            </a:r>
            <a:r>
              <a:rPr lang="en-GB" sz="2400" noProof="0" dirty="0" err="1"/>
              <a:t>sistema</a:t>
            </a:r>
            <a:r>
              <a:rPr lang="en-GB" sz="2400" noProof="0" dirty="0"/>
              <a:t> </a:t>
            </a:r>
            <a:r>
              <a:rPr lang="en-GB" sz="2400" noProof="0" dirty="0" err="1"/>
              <a:t>digitale</a:t>
            </a:r>
            <a:r>
              <a:rPr lang="en-GB" sz="2400" noProof="0" dirty="0"/>
              <a:t> per </a:t>
            </a:r>
            <a:r>
              <a:rPr lang="en-GB" sz="2400" noProof="0" dirty="0" err="1"/>
              <a:t>acquizione</a:t>
            </a:r>
            <a:r>
              <a:rPr lang="en-GB" sz="2400" noProof="0" dirty="0"/>
              <a:t>  </a:t>
            </a:r>
            <a:r>
              <a:rPr lang="en-GB" sz="2400" noProof="0" dirty="0" err="1"/>
              <a:t>sincrona</a:t>
            </a:r>
            <a:r>
              <a:rPr lang="en-GB" sz="2400" noProof="0" dirty="0"/>
              <a:t> di </a:t>
            </a:r>
            <a:r>
              <a:rPr lang="en-GB" sz="2400" noProof="0" dirty="0" err="1"/>
              <a:t>fase</a:t>
            </a:r>
            <a:r>
              <a:rPr lang="en-GB" sz="2400" noProof="0" dirty="0"/>
              <a:t> e </a:t>
            </a:r>
            <a:r>
              <a:rPr lang="en-GB" sz="2400" noProof="0" dirty="0" err="1"/>
              <a:t>polarizzazione</a:t>
            </a:r>
            <a:r>
              <a:rPr lang="en-GB" sz="2400" noProof="0" dirty="0"/>
              <a:t> per</a:t>
            </a:r>
            <a:r>
              <a:rPr lang="en-GB" sz="2400" dirty="0"/>
              <a:t> sensing in </a:t>
            </a:r>
            <a:r>
              <a:rPr lang="en-GB" sz="2400" noProof="0" dirty="0" err="1"/>
              <a:t>ambiente</a:t>
            </a:r>
            <a:r>
              <a:rPr lang="en-GB" sz="2400" noProof="0" dirty="0"/>
              <a:t> </a:t>
            </a:r>
            <a:r>
              <a:rPr lang="en-GB" sz="2400" noProof="0" dirty="0" err="1"/>
              <a:t>urbano</a:t>
            </a:r>
            <a:endParaRPr lang="en-GB" sz="24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195D0B-8BF5-42BC-AF0D-9E67A4661F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3496" y="3452031"/>
            <a:ext cx="5350193" cy="2418730"/>
          </a:xfrm>
          <a:ln>
            <a:noFill/>
          </a:ln>
        </p:spPr>
        <p:txBody>
          <a:bodyPr/>
          <a:lstStyle/>
          <a:p>
            <a:pPr algn="ctr"/>
            <a:r>
              <a:rPr lang="en-GB" noProof="0" dirty="0"/>
              <a:t>Student:</a:t>
            </a:r>
          </a:p>
          <a:p>
            <a:pPr algn="ctr"/>
            <a:r>
              <a:rPr lang="en-GB" noProof="0" dirty="0">
                <a:solidFill>
                  <a:srgbClr val="FFFFFF"/>
                </a:solidFill>
              </a:rPr>
              <a:t>Egle Antonucci s347960</a:t>
            </a:r>
          </a:p>
          <a:p>
            <a:pPr algn="ctr"/>
            <a:endParaRPr lang="en-GB" noProof="0" dirty="0">
              <a:solidFill>
                <a:srgbClr val="FFFFFF"/>
              </a:solidFill>
            </a:endParaRPr>
          </a:p>
          <a:p>
            <a:pPr algn="ctr"/>
            <a:endParaRPr lang="en-GB" noProof="0" dirty="0">
              <a:solidFill>
                <a:srgbClr val="FFFFFF"/>
              </a:solidFill>
            </a:endParaRPr>
          </a:p>
          <a:p>
            <a:pPr algn="ctr"/>
            <a:endParaRPr lang="en-GB" noProof="0" dirty="0"/>
          </a:p>
        </p:txBody>
      </p:sp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F49CAC83-F9A4-F3FA-5F94-147CC8841FE7}"/>
              </a:ext>
            </a:extLst>
          </p:cNvPr>
          <p:cNvSpPr txBox="1">
            <a:spLocks/>
          </p:cNvSpPr>
          <p:nvPr/>
        </p:nvSpPr>
        <p:spPr>
          <a:xfrm>
            <a:off x="3416941" y="6041571"/>
            <a:ext cx="4992273" cy="516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noProof="0" dirty="0"/>
              <a:t>A.Y. 2025-26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5B817CE-4F00-D732-F214-C30029668C62}"/>
              </a:ext>
            </a:extLst>
          </p:cNvPr>
          <p:cNvSpPr txBox="1">
            <a:spLocks/>
          </p:cNvSpPr>
          <p:nvPr/>
        </p:nvSpPr>
        <p:spPr>
          <a:xfrm>
            <a:off x="0" y="3718878"/>
            <a:ext cx="11664950" cy="7144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Full title of the project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4658435-E4E7-E307-9D74-E020543342F2}"/>
              </a:ext>
            </a:extLst>
          </p:cNvPr>
          <p:cNvSpPr/>
          <p:nvPr/>
        </p:nvSpPr>
        <p:spPr>
          <a:xfrm>
            <a:off x="6623496" y="5382944"/>
            <a:ext cx="1790219" cy="61993"/>
          </a:xfrm>
          <a:prstGeom prst="rect">
            <a:avLst/>
          </a:prstGeom>
          <a:solidFill>
            <a:srgbClr val="2127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0524A07-9646-DBFC-F50B-03FB04B60DDD}"/>
              </a:ext>
            </a:extLst>
          </p:cNvPr>
          <p:cNvSpPr txBox="1">
            <a:spLocks/>
          </p:cNvSpPr>
          <p:nvPr/>
        </p:nvSpPr>
        <p:spPr>
          <a:xfrm>
            <a:off x="0" y="3452031"/>
            <a:ext cx="5350193" cy="241873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noProof="0" dirty="0"/>
              <a:t>Professors:</a:t>
            </a:r>
          </a:p>
          <a:p>
            <a:pPr algn="ctr"/>
            <a:r>
              <a:rPr lang="en-GB" noProof="0" dirty="0"/>
              <a:t>Vittorio Curri</a:t>
            </a:r>
          </a:p>
          <a:p>
            <a:pPr algn="ctr"/>
            <a:r>
              <a:rPr lang="en-GB" noProof="0" dirty="0"/>
              <a:t>Cecilia </a:t>
            </a:r>
            <a:r>
              <a:rPr lang="en-GB" noProof="0" dirty="0" err="1"/>
              <a:t>Clivati</a:t>
            </a:r>
            <a:r>
              <a:rPr lang="en-GB" noProof="0" dirty="0"/>
              <a:t> </a:t>
            </a:r>
          </a:p>
          <a:p>
            <a:pPr algn="ctr"/>
            <a:endParaRPr lang="en-GB" noProof="0" dirty="0">
              <a:solidFill>
                <a:srgbClr val="FFFFFF"/>
              </a:solidFill>
            </a:endParaRPr>
          </a:p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9078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BDDAA-5EE7-4ECA-9A44-C6567F55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5747"/>
            <a:ext cx="11664950" cy="1080000"/>
          </a:xfrm>
        </p:spPr>
        <p:txBody>
          <a:bodyPr/>
          <a:lstStyle/>
          <a:p>
            <a:r>
              <a:rPr lang="en-GB" noProof="0" dirty="0" err="1"/>
              <a:t>Obiettivo</a:t>
            </a:r>
            <a:r>
              <a:rPr lang="en-GB" noProof="0" dirty="0"/>
              <a:t>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CFBCC0-65F0-525F-B5AE-E3C8D23B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1" y="3035120"/>
            <a:ext cx="3888277" cy="14963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B1893F5-38D5-0F78-B4B1-A85631CB59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96" t="9747"/>
          <a:stretch>
            <a:fillRect/>
          </a:stretch>
        </p:blipFill>
        <p:spPr>
          <a:xfrm>
            <a:off x="5137076" y="3023000"/>
            <a:ext cx="2496968" cy="16385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EE7CE6-8E7E-0D77-58A2-746835326B1F}"/>
              </a:ext>
            </a:extLst>
          </p:cNvPr>
          <p:cNvSpPr txBox="1"/>
          <p:nvPr/>
        </p:nvSpPr>
        <p:spPr>
          <a:xfrm>
            <a:off x="521677" y="4800095"/>
            <a:ext cx="3864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solidFill>
                  <a:srgbClr val="404040"/>
                </a:solidFill>
                <a:latin typeface="Poppins" panose="020B0502040204020203" pitchFamily="2" charset="0"/>
              </a:rPr>
              <a:t>PM1000 Polarimeter </a:t>
            </a:r>
            <a:r>
              <a:rPr lang="en-GB" sz="2000" noProof="0" dirty="0" err="1">
                <a:solidFill>
                  <a:srgbClr val="404040"/>
                </a:solidFill>
                <a:latin typeface="Poppins" panose="020B0502040204020203" pitchFamily="2" charset="0"/>
              </a:rPr>
              <a:t>Novoptel</a:t>
            </a:r>
            <a:endParaRPr lang="en-GB" sz="2000" noProof="0" dirty="0">
              <a:solidFill>
                <a:srgbClr val="404040"/>
              </a:solidFill>
              <a:latin typeface="Poppins" panose="020B0502040204020203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4446A5-5F89-6C29-3470-D9AE2D8EB5DC}"/>
              </a:ext>
            </a:extLst>
          </p:cNvPr>
          <p:cNvSpPr txBox="1"/>
          <p:nvPr/>
        </p:nvSpPr>
        <p:spPr>
          <a:xfrm>
            <a:off x="4494952" y="4800095"/>
            <a:ext cx="3864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noProof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RedPitaya</a:t>
            </a:r>
            <a:r>
              <a:rPr lang="en-GB" sz="2000" b="0" i="0" noProof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</a:t>
            </a:r>
            <a:r>
              <a:rPr lang="en-GB" sz="2000" b="0" i="0" noProof="0" dirty="0" err="1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SIGNALlab</a:t>
            </a:r>
            <a:r>
              <a:rPr lang="en-GB" sz="2000" b="0" i="0" noProof="0" dirty="0">
                <a:solidFill>
                  <a:srgbClr val="404040"/>
                </a:solidFill>
                <a:effectLst/>
                <a:latin typeface="Poppins" panose="020B0502040204020203" pitchFamily="2" charset="0"/>
              </a:rPr>
              <a:t> 250-12</a:t>
            </a:r>
            <a:endParaRPr lang="en-GB" sz="2000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00B2F2-2743-134D-FBA7-85FA2C29F0A6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29C6C0E-AFE6-6B13-B3EC-ACDB21DFC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26923" r="3094" b="15641"/>
          <a:stretch>
            <a:fillRect/>
          </a:stretch>
        </p:blipFill>
        <p:spPr>
          <a:xfrm>
            <a:off x="8662153" y="2491991"/>
            <a:ext cx="1862572" cy="203948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091966-16A9-08F6-C2C1-7C4CF9804AB6}"/>
              </a:ext>
            </a:extLst>
          </p:cNvPr>
          <p:cNvSpPr txBox="1"/>
          <p:nvPr/>
        </p:nvSpPr>
        <p:spPr>
          <a:xfrm>
            <a:off x="8790443" y="4800095"/>
            <a:ext cx="1734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solidFill>
                  <a:srgbClr val="404040"/>
                </a:solidFill>
                <a:latin typeface="Poppins" panose="020B0502040204020203" pitchFamily="2" charset="0"/>
              </a:rPr>
              <a:t>STM32H745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5EBA15B-7535-18B6-5666-3108FC5BAC60}"/>
              </a:ext>
            </a:extLst>
          </p:cNvPr>
          <p:cNvSpPr txBox="1"/>
          <p:nvPr/>
        </p:nvSpPr>
        <p:spPr>
          <a:xfrm>
            <a:off x="263525" y="1018365"/>
            <a:ext cx="11597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 err="1"/>
              <a:t>Sviluppare</a:t>
            </a:r>
            <a:r>
              <a:rPr lang="en-GB" sz="2000" noProof="0" dirty="0"/>
              <a:t> un </a:t>
            </a:r>
            <a:r>
              <a:rPr lang="en-GB" sz="2000" noProof="0" dirty="0" err="1"/>
              <a:t>sistema</a:t>
            </a:r>
            <a:r>
              <a:rPr lang="en-GB" sz="2000" noProof="0" dirty="0"/>
              <a:t> di </a:t>
            </a:r>
            <a:r>
              <a:rPr lang="en-GB" sz="2000" noProof="0" dirty="0" err="1"/>
              <a:t>acquisizione</a:t>
            </a:r>
            <a:r>
              <a:rPr lang="en-GB" sz="2000" noProof="0" dirty="0"/>
              <a:t> </a:t>
            </a:r>
            <a:r>
              <a:rPr lang="en-GB" sz="2000" noProof="0" dirty="0" err="1"/>
              <a:t>integrato</a:t>
            </a:r>
            <a:r>
              <a:rPr lang="en-GB" sz="2000" noProof="0" dirty="0"/>
              <a:t> e </a:t>
            </a:r>
            <a:r>
              <a:rPr lang="en-GB" sz="2000" noProof="0" dirty="0" err="1"/>
              <a:t>validato</a:t>
            </a:r>
            <a:r>
              <a:rPr lang="en-GB" sz="2000" noProof="0" dirty="0"/>
              <a:t> per la </a:t>
            </a:r>
            <a:r>
              <a:rPr lang="en-GB" sz="2000" noProof="0" dirty="0" err="1"/>
              <a:t>misura</a:t>
            </a:r>
            <a:r>
              <a:rPr lang="en-GB" sz="2000" noProof="0" dirty="0"/>
              <a:t> </a:t>
            </a:r>
            <a:r>
              <a:rPr lang="en-GB" sz="2000" noProof="0" dirty="0" err="1"/>
              <a:t>simultanea</a:t>
            </a:r>
            <a:r>
              <a:rPr lang="en-GB" sz="2000" noProof="0" dirty="0"/>
              <a:t> di SOP e </a:t>
            </a:r>
            <a:r>
              <a:rPr lang="en-GB" sz="2000" noProof="0" dirty="0" err="1"/>
              <a:t>fase</a:t>
            </a:r>
            <a:r>
              <a:rPr lang="en-GB" sz="2000" noProof="0" dirty="0"/>
              <a:t> </a:t>
            </a:r>
            <a:r>
              <a:rPr lang="en-GB" sz="2000" noProof="0" dirty="0" err="1"/>
              <a:t>su</a:t>
            </a:r>
            <a:r>
              <a:rPr lang="en-GB" sz="2000" noProof="0" dirty="0"/>
              <a:t> </a:t>
            </a:r>
            <a:r>
              <a:rPr lang="en-GB" sz="2000" noProof="0" dirty="0" err="1"/>
              <a:t>fibra</a:t>
            </a:r>
            <a:r>
              <a:rPr lang="en-GB" sz="2000" noProof="0" dirty="0"/>
              <a:t>, in cui un </a:t>
            </a:r>
            <a:r>
              <a:rPr lang="en-GB" sz="2000" noProof="0" dirty="0" err="1"/>
              <a:t>polarimetro</a:t>
            </a:r>
            <a:r>
              <a:rPr lang="en-GB" sz="2000" noProof="0" dirty="0"/>
              <a:t> e un </a:t>
            </a:r>
            <a:r>
              <a:rPr lang="en-GB" sz="2000" noProof="0" dirty="0" err="1"/>
              <a:t>analizzatore</a:t>
            </a:r>
            <a:r>
              <a:rPr lang="en-GB" sz="2000" noProof="0" dirty="0"/>
              <a:t> di </a:t>
            </a:r>
            <a:r>
              <a:rPr lang="en-GB" sz="2000" noProof="0" dirty="0" err="1"/>
              <a:t>fase</a:t>
            </a:r>
            <a:r>
              <a:rPr lang="en-GB" sz="2000" noProof="0" dirty="0"/>
              <a:t> </a:t>
            </a:r>
            <a:r>
              <a:rPr lang="en-GB" sz="2000" noProof="0" dirty="0" err="1"/>
              <a:t>operano</a:t>
            </a:r>
            <a:r>
              <a:rPr lang="en-GB" sz="2000" noProof="0" dirty="0"/>
              <a:t> </a:t>
            </a:r>
            <a:r>
              <a:rPr lang="en-GB" sz="2000" noProof="0" dirty="0" err="1"/>
              <a:t>sincronizzati</a:t>
            </a:r>
            <a:r>
              <a:rPr lang="en-GB" sz="2000" noProof="0" dirty="0"/>
              <a:t> </a:t>
            </a:r>
            <a:r>
              <a:rPr lang="en-GB" sz="2000" noProof="0" dirty="0" err="1"/>
              <a:t>su</a:t>
            </a:r>
            <a:r>
              <a:rPr lang="en-GB" sz="2000" noProof="0" dirty="0"/>
              <a:t> </a:t>
            </a:r>
            <a:r>
              <a:rPr lang="en-GB" sz="2000" noProof="0" dirty="0" err="1"/>
              <a:t>un'unica</a:t>
            </a:r>
            <a:r>
              <a:rPr lang="en-GB" sz="2000" noProof="0" dirty="0"/>
              <a:t> base </a:t>
            </a:r>
            <a:r>
              <a:rPr lang="en-GB" sz="2000" noProof="0" dirty="0" err="1"/>
              <a:t>temporale</a:t>
            </a:r>
            <a:r>
              <a:rPr lang="en-GB" sz="2000" noProof="0" dirty="0"/>
              <a:t>, </a:t>
            </a:r>
            <a:r>
              <a:rPr lang="en-GB" sz="2000" noProof="0" dirty="0" err="1"/>
              <a:t>progettato</a:t>
            </a:r>
            <a:r>
              <a:rPr lang="en-GB" sz="2000" noProof="0" dirty="0"/>
              <a:t> per </a:t>
            </a:r>
            <a:r>
              <a:rPr lang="en-GB" sz="2000" noProof="0" dirty="0" err="1"/>
              <a:t>esperimenti</a:t>
            </a:r>
            <a:r>
              <a:rPr lang="en-GB" sz="2000" noProof="0" dirty="0"/>
              <a:t> di </a:t>
            </a:r>
            <a:r>
              <a:rPr lang="en-GB" sz="2000" noProof="0" dirty="0" err="1"/>
              <a:t>lunga</a:t>
            </a:r>
            <a:r>
              <a:rPr lang="en-GB" sz="2000" noProof="0" dirty="0"/>
              <a:t> </a:t>
            </a:r>
            <a:r>
              <a:rPr lang="en-GB" sz="2000" noProof="0" dirty="0" err="1"/>
              <a:t>durata</a:t>
            </a:r>
            <a:r>
              <a:rPr lang="en-GB" sz="2000" noProof="0" dirty="0"/>
              <a:t> in </a:t>
            </a:r>
            <a:r>
              <a:rPr lang="en-GB" sz="2000" noProof="0" dirty="0" err="1"/>
              <a:t>condizioni</a:t>
            </a:r>
            <a:r>
              <a:rPr lang="en-GB" sz="2000" noProof="0" dirty="0"/>
              <a:t> </a:t>
            </a:r>
            <a:r>
              <a:rPr lang="en-GB" sz="2000" noProof="0" dirty="0" err="1"/>
              <a:t>reali</a:t>
            </a:r>
            <a:r>
              <a:rPr lang="en-GB" sz="2000" noProof="0" dirty="0"/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6A48B2B-15D5-92C9-FFB4-8221684924CB}"/>
              </a:ext>
            </a:extLst>
          </p:cNvPr>
          <p:cNvSpPr txBox="1"/>
          <p:nvPr/>
        </p:nvSpPr>
        <p:spPr>
          <a:xfrm>
            <a:off x="0" y="590203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750" noProof="0" dirty="0"/>
              <a:t>Reference: </a:t>
            </a:r>
            <a:r>
              <a:rPr lang="en-GB" sz="1750" noProof="0" dirty="0" err="1">
                <a:hlinkClick r:id="rId5" action="ppaction://hlinkfile"/>
              </a:rPr>
              <a:t>Donadello</a:t>
            </a:r>
            <a:r>
              <a:rPr lang="en-GB" sz="1750" noProof="0" dirty="0">
                <a:hlinkClick r:id="rId5" action="ppaction://hlinkfile"/>
              </a:rPr>
              <a:t> et al. - 2023 - Embedded Digital Phase Noise Analyzer for Optical Frequency Metrology </a:t>
            </a:r>
            <a:endParaRPr lang="en-GB" sz="1750" noProof="0" dirty="0"/>
          </a:p>
        </p:txBody>
      </p:sp>
    </p:spTree>
    <p:extLst>
      <p:ext uri="{BB962C8B-B14F-4D97-AF65-F5344CB8AC3E}">
        <p14:creationId xmlns:p14="http://schemas.microsoft.com/office/powerpoint/2010/main" val="12002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E5BB38-2887-36EB-36F7-C7C26864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Schema di timestamping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1B6DA38-280F-6DC3-BA85-00F8FDA92F99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D7475621-75B2-C3D5-2DFE-0EEB14DB0A7C}"/>
              </a:ext>
            </a:extLst>
          </p:cNvPr>
          <p:cNvSpPr/>
          <p:nvPr/>
        </p:nvSpPr>
        <p:spPr>
          <a:xfrm>
            <a:off x="2161238" y="3307666"/>
            <a:ext cx="703385" cy="738554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82FCD021-D2FC-B3E0-42A9-ABEA5B47EDD3}"/>
              </a:ext>
            </a:extLst>
          </p:cNvPr>
          <p:cNvCxnSpPr>
            <a:cxnSpLocks/>
          </p:cNvCxnSpPr>
          <p:nvPr/>
        </p:nvCxnSpPr>
        <p:spPr>
          <a:xfrm flipV="1">
            <a:off x="2864623" y="2621866"/>
            <a:ext cx="1415560" cy="107266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17" name="Connettore 2 8">
            <a:extLst>
              <a:ext uri="{FF2B5EF4-FFF2-40B4-BE49-F238E27FC236}">
                <a16:creationId xmlns:a16="http://schemas.microsoft.com/office/drawing/2014/main" id="{53E15849-5A27-2666-D3AD-117CA1E17A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89962" y="3876968"/>
            <a:ext cx="1072662" cy="707780"/>
          </a:xfrm>
          <a:prstGeom prst="bentConnector3">
            <a:avLst>
              <a:gd name="adj1" fmla="val 100000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9F4A346-81FE-D370-66EB-1A4A00C6DF72}"/>
              </a:ext>
            </a:extLst>
          </p:cNvPr>
          <p:cNvSpPr/>
          <p:nvPr/>
        </p:nvSpPr>
        <p:spPr>
          <a:xfrm>
            <a:off x="4485924" y="2317516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B7E37F7-7C25-C181-A140-0E3FB144A642}"/>
              </a:ext>
            </a:extLst>
          </p:cNvPr>
          <p:cNvSpPr txBox="1"/>
          <p:nvPr/>
        </p:nvSpPr>
        <p:spPr>
          <a:xfrm>
            <a:off x="4464823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FPGA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8628DF1-E71D-5A4A-DA90-49AEDE0BBC45}"/>
              </a:ext>
            </a:extLst>
          </p:cNvPr>
          <p:cNvSpPr/>
          <p:nvPr/>
        </p:nvSpPr>
        <p:spPr>
          <a:xfrm>
            <a:off x="4485924" y="4462840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62C8844-8D35-D039-93D8-A86DA574FDC1}"/>
              </a:ext>
            </a:extLst>
          </p:cNvPr>
          <p:cNvSpPr txBox="1"/>
          <p:nvPr/>
        </p:nvSpPr>
        <p:spPr>
          <a:xfrm>
            <a:off x="4454271" y="4582523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STM32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955E9B01-E987-40A1-7D77-2808E824E579}"/>
              </a:ext>
            </a:extLst>
          </p:cNvPr>
          <p:cNvSpPr/>
          <p:nvPr/>
        </p:nvSpPr>
        <p:spPr>
          <a:xfrm>
            <a:off x="4310077" y="2155874"/>
            <a:ext cx="1767254" cy="3050929"/>
          </a:xfrm>
          <a:prstGeom prst="roundRect">
            <a:avLst/>
          </a:prstGeom>
          <a:noFill/>
          <a:ln w="3810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latin typeface="+mj-lt"/>
            </a:endParaRPr>
          </a:p>
        </p:txBody>
      </p:sp>
      <p:cxnSp>
        <p:nvCxnSpPr>
          <p:cNvPr id="30" name="Connettore 2 8">
            <a:extLst>
              <a:ext uri="{FF2B5EF4-FFF2-40B4-BE49-F238E27FC236}">
                <a16:creationId xmlns:a16="http://schemas.microsoft.com/office/drawing/2014/main" id="{B141780D-1047-6080-126C-5CF4C289812A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056230" y="2607767"/>
            <a:ext cx="3004039" cy="14691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1" name="Connettore 2 8">
            <a:extLst>
              <a:ext uri="{FF2B5EF4-FFF2-40B4-BE49-F238E27FC236}">
                <a16:creationId xmlns:a16="http://schemas.microsoft.com/office/drawing/2014/main" id="{C3745524-41A4-F0D1-901D-A2C675CBE4F7}"/>
              </a:ext>
            </a:extLst>
          </p:cNvPr>
          <p:cNvCxnSpPr>
            <a:cxnSpLocks/>
          </p:cNvCxnSpPr>
          <p:nvPr/>
        </p:nvCxnSpPr>
        <p:spPr>
          <a:xfrm rot="5400000">
            <a:off x="5825812" y="2873829"/>
            <a:ext cx="2165983" cy="1620741"/>
          </a:xfrm>
          <a:prstGeom prst="bentConnector3">
            <a:avLst>
              <a:gd name="adj1" fmla="val 99956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48F6FCFB-EE1A-80FA-9BBF-3F25BBC665C7}"/>
              </a:ext>
            </a:extLst>
          </p:cNvPr>
          <p:cNvSpPr/>
          <p:nvPr/>
        </p:nvSpPr>
        <p:spPr>
          <a:xfrm>
            <a:off x="9060269" y="2318108"/>
            <a:ext cx="1415560" cy="608700"/>
          </a:xfrm>
          <a:prstGeom prst="round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CE75F37E-41D0-E14B-F76C-E43039DB9B5E}"/>
              </a:ext>
            </a:extLst>
          </p:cNvPr>
          <p:cNvSpPr txBox="1"/>
          <p:nvPr/>
        </p:nvSpPr>
        <p:spPr>
          <a:xfrm>
            <a:off x="9039168" y="241654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PM1000</a:t>
            </a:r>
          </a:p>
        </p:txBody>
      </p: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C3FAB810-9C0F-6A4C-8B52-755DDB0B0F27}"/>
              </a:ext>
            </a:extLst>
          </p:cNvPr>
          <p:cNvGrpSpPr/>
          <p:nvPr/>
        </p:nvGrpSpPr>
        <p:grpSpPr>
          <a:xfrm>
            <a:off x="6433818" y="1357792"/>
            <a:ext cx="2114664" cy="1080001"/>
            <a:chOff x="7044576" y="3421380"/>
            <a:chExt cx="2366124" cy="1254539"/>
          </a:xfrm>
        </p:grpSpPr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1C429465-983D-2F69-9285-BA9E2746B569}"/>
                </a:ext>
              </a:extLst>
            </p:cNvPr>
            <p:cNvCxnSpPr>
              <a:cxnSpLocks/>
            </p:cNvCxnSpPr>
            <p:nvPr/>
          </p:nvCxnSpPr>
          <p:spPr>
            <a:xfrm>
              <a:off x="7865672" y="4668299"/>
              <a:ext cx="154502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Connettore diritto 52">
              <a:extLst>
                <a:ext uri="{FF2B5EF4-FFF2-40B4-BE49-F238E27FC236}">
                  <a16:creationId xmlns:a16="http://schemas.microsoft.com/office/drawing/2014/main" id="{DEAB9F97-08CD-E459-3F42-830B712437FD}"/>
                </a:ext>
              </a:extLst>
            </p:cNvPr>
            <p:cNvCxnSpPr>
              <a:cxnSpLocks/>
            </p:cNvCxnSpPr>
            <p:nvPr/>
          </p:nvCxnSpPr>
          <p:spPr>
            <a:xfrm>
              <a:off x="7509492" y="3429000"/>
              <a:ext cx="378748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Connettore diritto 54">
              <a:extLst>
                <a:ext uri="{FF2B5EF4-FFF2-40B4-BE49-F238E27FC236}">
                  <a16:creationId xmlns:a16="http://schemas.microsoft.com/office/drawing/2014/main" id="{467C28B0-F813-B6C4-E0F1-AC9F617D5E5F}"/>
                </a:ext>
              </a:extLst>
            </p:cNvPr>
            <p:cNvCxnSpPr>
              <a:cxnSpLocks/>
            </p:cNvCxnSpPr>
            <p:nvPr/>
          </p:nvCxnSpPr>
          <p:spPr>
            <a:xfrm>
              <a:off x="7508045" y="342138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E453656D-66FB-0DF5-2875-44A8B49123E1}"/>
                </a:ext>
              </a:extLst>
            </p:cNvPr>
            <p:cNvCxnSpPr>
              <a:cxnSpLocks/>
            </p:cNvCxnSpPr>
            <p:nvPr/>
          </p:nvCxnSpPr>
          <p:spPr>
            <a:xfrm>
              <a:off x="7888240" y="3429000"/>
              <a:ext cx="0" cy="1246919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Connettore diritto 58">
              <a:extLst>
                <a:ext uri="{FF2B5EF4-FFF2-40B4-BE49-F238E27FC236}">
                  <a16:creationId xmlns:a16="http://schemas.microsoft.com/office/drawing/2014/main" id="{EA93AE29-9532-7368-4A47-93A18CAC168A}"/>
                </a:ext>
              </a:extLst>
            </p:cNvPr>
            <p:cNvCxnSpPr>
              <a:cxnSpLocks/>
            </p:cNvCxnSpPr>
            <p:nvPr/>
          </p:nvCxnSpPr>
          <p:spPr>
            <a:xfrm>
              <a:off x="7044576" y="4675919"/>
              <a:ext cx="486329" cy="0"/>
            </a:xfrm>
            <a:prstGeom prst="lin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70" name="Google Shape;465;p24">
            <a:extLst>
              <a:ext uri="{FF2B5EF4-FFF2-40B4-BE49-F238E27FC236}">
                <a16:creationId xmlns:a16="http://schemas.microsoft.com/office/drawing/2014/main" id="{FE355109-1DBB-83CA-D3EE-2A0D72068283}"/>
              </a:ext>
            </a:extLst>
          </p:cNvPr>
          <p:cNvCxnSpPr>
            <a:cxnSpLocks/>
          </p:cNvCxnSpPr>
          <p:nvPr/>
        </p:nvCxnSpPr>
        <p:spPr>
          <a:xfrm>
            <a:off x="7346321" y="1357792"/>
            <a:ext cx="0" cy="105218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52167497-3F44-DCF7-BA7B-A71852457236}"/>
              </a:ext>
            </a:extLst>
          </p:cNvPr>
          <p:cNvSpPr txBox="1"/>
          <p:nvPr/>
        </p:nvSpPr>
        <p:spPr>
          <a:xfrm>
            <a:off x="7332288" y="1697456"/>
            <a:ext cx="170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 err="1"/>
              <a:t>Vpp</a:t>
            </a:r>
            <a:r>
              <a:rPr lang="en-GB" sz="1600" baseline="30000" noProof="0" dirty="0" err="1"/>
              <a:t>min</a:t>
            </a:r>
            <a:r>
              <a:rPr lang="en-GB" sz="1600" noProof="0" dirty="0"/>
              <a:t>= 1.5 V</a:t>
            </a:r>
            <a:r>
              <a:rPr lang="en-GB" sz="1600" baseline="30000" noProof="0" dirty="0"/>
              <a:t> 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B4E22CC7-46E9-A7AA-7E86-92B9B2ECF9EC}"/>
              </a:ext>
            </a:extLst>
          </p:cNvPr>
          <p:cNvSpPr txBox="1"/>
          <p:nvPr/>
        </p:nvSpPr>
        <p:spPr>
          <a:xfrm>
            <a:off x="2030698" y="4098884"/>
            <a:ext cx="1114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10 MHz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/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i="0" noProof="0" smtClean="0">
                          <a:solidFill>
                            <a:srgbClr val="516A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GB" sz="2000" noProof="0" dirty="0">
                  <a:solidFill>
                    <a:srgbClr val="516AC9"/>
                  </a:solidFill>
                </a:endParaRPr>
              </a:p>
            </p:txBody>
          </p:sp>
        </mc:Choice>
        <mc:Fallback xmlns="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EA4D1491-8CC0-BEE2-993E-32D1CB0B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01" y="3255002"/>
                <a:ext cx="4520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885AB8-D984-E30C-862C-0D4DD8C4A54C}"/>
              </a:ext>
            </a:extLst>
          </p:cNvPr>
          <p:cNvSpPr txBox="1"/>
          <p:nvPr/>
        </p:nvSpPr>
        <p:spPr>
          <a:xfrm>
            <a:off x="4390502" y="1726701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 err="1"/>
              <a:t>fase</a:t>
            </a:r>
            <a:endParaRPr lang="en-GB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E62450-76A4-5F37-9ED6-0E88AE586EF3}"/>
              </a:ext>
            </a:extLst>
          </p:cNvPr>
          <p:cNvSpPr txBox="1"/>
          <p:nvPr/>
        </p:nvSpPr>
        <p:spPr>
          <a:xfrm>
            <a:off x="9039167" y="1864289"/>
            <a:ext cx="143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Stokes</a:t>
            </a:r>
          </a:p>
        </p:txBody>
      </p:sp>
    </p:spTree>
    <p:extLst>
      <p:ext uri="{BB962C8B-B14F-4D97-AF65-F5344CB8AC3E}">
        <p14:creationId xmlns:p14="http://schemas.microsoft.com/office/powerpoint/2010/main" val="363137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674132-80AA-8487-B9AC-533018E1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96" y="112251"/>
            <a:ext cx="11664950" cy="1080000"/>
          </a:xfrm>
        </p:spPr>
        <p:txBody>
          <a:bodyPr/>
          <a:lstStyle/>
          <a:p>
            <a:r>
              <a:rPr lang="en-GB" noProof="0" dirty="0"/>
              <a:t>Acquisition modes</a:t>
            </a: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4F999558-9D1A-4D87-9C5D-6958D2B16EE6}"/>
              </a:ext>
            </a:extLst>
          </p:cNvPr>
          <p:cNvGrpSpPr/>
          <p:nvPr/>
        </p:nvGrpSpPr>
        <p:grpSpPr>
          <a:xfrm>
            <a:off x="1375651" y="1350616"/>
            <a:ext cx="9440697" cy="4017774"/>
            <a:chOff x="957072" y="1788766"/>
            <a:chExt cx="9440697" cy="4017774"/>
          </a:xfrm>
        </p:grpSpPr>
        <p:sp>
          <p:nvSpPr>
            <p:cNvPr id="6" name="Google Shape;209;p19">
              <a:extLst>
                <a:ext uri="{FF2B5EF4-FFF2-40B4-BE49-F238E27FC236}">
                  <a16:creationId xmlns:a16="http://schemas.microsoft.com/office/drawing/2014/main" id="{16A8C8DD-2F6F-9927-A8DF-6A79664A3E7A}"/>
                </a:ext>
              </a:extLst>
            </p:cNvPr>
            <p:cNvSpPr txBox="1"/>
            <p:nvPr/>
          </p:nvSpPr>
          <p:spPr>
            <a:xfrm>
              <a:off x="5671886" y="1835577"/>
              <a:ext cx="2258825" cy="406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u="sng" noProof="0" dirty="0">
                  <a:solidFill>
                    <a:schemeClr val="dk1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Pros</a:t>
              </a:r>
            </a:p>
          </p:txBody>
        </p:sp>
        <p:sp>
          <p:nvSpPr>
            <p:cNvPr id="7" name="Google Shape;210;p19">
              <a:extLst>
                <a:ext uri="{FF2B5EF4-FFF2-40B4-BE49-F238E27FC236}">
                  <a16:creationId xmlns:a16="http://schemas.microsoft.com/office/drawing/2014/main" id="{6B1891C7-977E-BF47-5D9C-F6646C84A152}"/>
                </a:ext>
              </a:extLst>
            </p:cNvPr>
            <p:cNvSpPr txBox="1"/>
            <p:nvPr/>
          </p:nvSpPr>
          <p:spPr>
            <a:xfrm>
              <a:off x="3288919" y="1788766"/>
              <a:ext cx="2258825" cy="406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u="sng" noProof="0" dirty="0">
                  <a:solidFill>
                    <a:schemeClr val="dk1"/>
                  </a:solidFill>
                  <a:latin typeface="+mj-lt"/>
                  <a:sym typeface="Fira Sans Extra Condensed Medium"/>
                </a:rPr>
                <a:t>Configuration</a:t>
              </a:r>
            </a:p>
          </p:txBody>
        </p:sp>
        <p:sp>
          <p:nvSpPr>
            <p:cNvPr id="8" name="Google Shape;211;p19">
              <a:extLst>
                <a:ext uri="{FF2B5EF4-FFF2-40B4-BE49-F238E27FC236}">
                  <a16:creationId xmlns:a16="http://schemas.microsoft.com/office/drawing/2014/main" id="{F7FB4C00-B52A-3EDE-DA84-C1A0A272D095}"/>
                </a:ext>
              </a:extLst>
            </p:cNvPr>
            <p:cNvSpPr txBox="1"/>
            <p:nvPr/>
          </p:nvSpPr>
          <p:spPr>
            <a:xfrm>
              <a:off x="8054853" y="1847626"/>
              <a:ext cx="2257286" cy="406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u="sng" noProof="0" dirty="0">
                  <a:solidFill>
                    <a:schemeClr val="dk1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Cons</a:t>
              </a:r>
            </a:p>
          </p:txBody>
        </p:sp>
        <p:grpSp>
          <p:nvGrpSpPr>
            <p:cNvPr id="9" name="Google Shape;212;p19">
              <a:extLst>
                <a:ext uri="{FF2B5EF4-FFF2-40B4-BE49-F238E27FC236}">
                  <a16:creationId xmlns:a16="http://schemas.microsoft.com/office/drawing/2014/main" id="{6804BC37-779D-71A8-5D5A-55CEFC869696}"/>
                </a:ext>
              </a:extLst>
            </p:cNvPr>
            <p:cNvGrpSpPr/>
            <p:nvPr/>
          </p:nvGrpSpPr>
          <p:grpSpPr>
            <a:xfrm>
              <a:off x="957072" y="4016788"/>
              <a:ext cx="9342875" cy="796174"/>
              <a:chOff x="457122" y="3889333"/>
              <a:chExt cx="8054355" cy="698402"/>
            </a:xfrm>
          </p:grpSpPr>
          <p:sp>
            <p:nvSpPr>
              <p:cNvPr id="37" name="Google Shape;213;p19">
                <a:extLst>
                  <a:ext uri="{FF2B5EF4-FFF2-40B4-BE49-F238E27FC236}">
                    <a16:creationId xmlns:a16="http://schemas.microsoft.com/office/drawing/2014/main" id="{E3EEDCFB-2757-6C4C-34C0-EF53AC6B7AC3}"/>
                  </a:ext>
                </a:extLst>
              </p:cNvPr>
              <p:cNvSpPr/>
              <p:nvPr/>
            </p:nvSpPr>
            <p:spPr>
              <a:xfrm flipH="1">
                <a:off x="457122" y="3889333"/>
                <a:ext cx="1947300" cy="698400"/>
              </a:xfrm>
              <a:prstGeom prst="homePlate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38" name="Google Shape;214;p19">
                <a:extLst>
                  <a:ext uri="{FF2B5EF4-FFF2-40B4-BE49-F238E27FC236}">
                    <a16:creationId xmlns:a16="http://schemas.microsoft.com/office/drawing/2014/main" id="{BBC86CD6-AB49-704E-C17A-0B8D941BECFD}"/>
                  </a:ext>
                </a:extLst>
              </p:cNvPr>
              <p:cNvSpPr/>
              <p:nvPr/>
            </p:nvSpPr>
            <p:spPr>
              <a:xfrm>
                <a:off x="4528524" y="3889335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39" name="Google Shape;215;p19">
                <a:extLst>
                  <a:ext uri="{FF2B5EF4-FFF2-40B4-BE49-F238E27FC236}">
                    <a16:creationId xmlns:a16="http://schemas.microsoft.com/office/drawing/2014/main" id="{60E9077E-EC64-B8FF-2093-04A054D29F47}"/>
                  </a:ext>
                </a:extLst>
              </p:cNvPr>
              <p:cNvSpPr txBox="1"/>
              <p:nvPr/>
            </p:nvSpPr>
            <p:spPr>
              <a:xfrm>
                <a:off x="548453" y="4060334"/>
                <a:ext cx="1816843" cy="35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noProof="0" dirty="0">
                    <a:solidFill>
                      <a:srgbClr val="FFFFFF"/>
                    </a:solidFill>
                    <a:latin typeface="+mj-lt"/>
                    <a:ea typeface="Fira Sans Extra Condensed Medium"/>
                    <a:cs typeface="Fira Sans Extra Condensed Medium"/>
                    <a:sym typeface="Fira Sans Extra Condensed Medium"/>
                  </a:rPr>
                  <a:t>Manual recording mode</a:t>
                </a:r>
                <a:endParaRPr lang="en-GB" sz="2000" noProof="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40" name="Google Shape;216;p19">
                <a:extLst>
                  <a:ext uri="{FF2B5EF4-FFF2-40B4-BE49-F238E27FC236}">
                    <a16:creationId xmlns:a16="http://schemas.microsoft.com/office/drawing/2014/main" id="{DF2391EF-1B52-1878-6D9F-C9BF5F6D2C39}"/>
                  </a:ext>
                </a:extLst>
              </p:cNvPr>
              <p:cNvSpPr txBox="1"/>
              <p:nvPr/>
            </p:nvSpPr>
            <p:spPr>
              <a:xfrm flipH="1">
                <a:off x="4783606" y="3977235"/>
                <a:ext cx="143700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Continuous data stream.</a:t>
                </a:r>
              </a:p>
            </p:txBody>
          </p:sp>
          <p:sp>
            <p:nvSpPr>
              <p:cNvPr id="41" name="Google Shape;217;p19">
                <a:extLst>
                  <a:ext uri="{FF2B5EF4-FFF2-40B4-BE49-F238E27FC236}">
                    <a16:creationId xmlns:a16="http://schemas.microsoft.com/office/drawing/2014/main" id="{56B4C421-A31B-B17B-0401-5D7DDAD6D705}"/>
                  </a:ext>
                </a:extLst>
              </p:cNvPr>
              <p:cNvSpPr/>
              <p:nvPr/>
            </p:nvSpPr>
            <p:spPr>
              <a:xfrm>
                <a:off x="2492871" y="3889335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SYNC_EXT_RISE = 0 rearm = 1</a:t>
                </a:r>
              </a:p>
              <a:p>
                <a:r>
                  <a:rPr lang="en-GB" sz="12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rearm_dno</a:t>
                </a:r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1</a:t>
                </a:r>
              </a:p>
            </p:txBody>
          </p:sp>
          <p:sp>
            <p:nvSpPr>
              <p:cNvPr id="43" name="Google Shape;219;p19">
                <a:extLst>
                  <a:ext uri="{FF2B5EF4-FFF2-40B4-BE49-F238E27FC236}">
                    <a16:creationId xmlns:a16="http://schemas.microsoft.com/office/drawing/2014/main" id="{CA14795A-B795-2616-C51B-AE7E21BC63A4}"/>
                  </a:ext>
                </a:extLst>
              </p:cNvPr>
              <p:cNvSpPr/>
              <p:nvPr/>
            </p:nvSpPr>
            <p:spPr>
              <a:xfrm>
                <a:off x="6564177" y="3889335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44" name="Google Shape;220;p19">
                <a:extLst>
                  <a:ext uri="{FF2B5EF4-FFF2-40B4-BE49-F238E27FC236}">
                    <a16:creationId xmlns:a16="http://schemas.microsoft.com/office/drawing/2014/main" id="{9A060619-CA61-62FF-C1C4-C71AE3B0B88D}"/>
                  </a:ext>
                </a:extLst>
              </p:cNvPr>
              <p:cNvSpPr txBox="1"/>
              <p:nvPr/>
            </p:nvSpPr>
            <p:spPr>
              <a:xfrm flipH="1">
                <a:off x="6819327" y="3919805"/>
                <a:ext cx="143700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No timestamps.</a:t>
                </a:r>
              </a:p>
            </p:txBody>
          </p:sp>
        </p:grpSp>
        <p:grpSp>
          <p:nvGrpSpPr>
            <p:cNvPr id="11" name="Google Shape;230;p19">
              <a:extLst>
                <a:ext uri="{FF2B5EF4-FFF2-40B4-BE49-F238E27FC236}">
                  <a16:creationId xmlns:a16="http://schemas.microsoft.com/office/drawing/2014/main" id="{950D105F-A38C-0C92-C14E-05C14044C200}"/>
                </a:ext>
              </a:extLst>
            </p:cNvPr>
            <p:cNvGrpSpPr/>
            <p:nvPr/>
          </p:nvGrpSpPr>
          <p:grpSpPr>
            <a:xfrm>
              <a:off x="966112" y="3130486"/>
              <a:ext cx="9431657" cy="796171"/>
              <a:chOff x="457122" y="2338891"/>
              <a:chExt cx="8130893" cy="698400"/>
            </a:xfrm>
          </p:grpSpPr>
          <p:sp>
            <p:nvSpPr>
              <p:cNvPr id="21" name="Google Shape;231;p19">
                <a:extLst>
                  <a:ext uri="{FF2B5EF4-FFF2-40B4-BE49-F238E27FC236}">
                    <a16:creationId xmlns:a16="http://schemas.microsoft.com/office/drawing/2014/main" id="{16978F0C-A322-EA8E-5092-1E1DAAC6BCD0}"/>
                  </a:ext>
                </a:extLst>
              </p:cNvPr>
              <p:cNvSpPr/>
              <p:nvPr/>
            </p:nvSpPr>
            <p:spPr>
              <a:xfrm flipH="1">
                <a:off x="457122" y="2338891"/>
                <a:ext cx="1947300" cy="698400"/>
              </a:xfrm>
              <a:prstGeom prst="homePlate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22" name="Google Shape;232;p19">
                <a:extLst>
                  <a:ext uri="{FF2B5EF4-FFF2-40B4-BE49-F238E27FC236}">
                    <a16:creationId xmlns:a16="http://schemas.microsoft.com/office/drawing/2014/main" id="{9276A185-373E-97C6-7BB7-D272701328FB}"/>
                  </a:ext>
                </a:extLst>
              </p:cNvPr>
              <p:cNvSpPr/>
              <p:nvPr/>
            </p:nvSpPr>
            <p:spPr>
              <a:xfrm>
                <a:off x="4528524" y="2338891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23" name="Google Shape;233;p19">
                <a:extLst>
                  <a:ext uri="{FF2B5EF4-FFF2-40B4-BE49-F238E27FC236}">
                    <a16:creationId xmlns:a16="http://schemas.microsoft.com/office/drawing/2014/main" id="{9026145A-3C15-D6CB-6432-98BED7BADEB9}"/>
                  </a:ext>
                </a:extLst>
              </p:cNvPr>
              <p:cNvSpPr txBox="1"/>
              <p:nvPr/>
            </p:nvSpPr>
            <p:spPr>
              <a:xfrm>
                <a:off x="514557" y="2455968"/>
                <a:ext cx="1816843" cy="35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noProof="0" dirty="0">
                    <a:solidFill>
                      <a:srgbClr val="FFFFFF"/>
                    </a:solidFill>
                    <a:latin typeface="+mj-lt"/>
                    <a:ea typeface="Fira Sans Extra Condensed Medium"/>
                    <a:cs typeface="Fira Sans Extra Condensed Medium"/>
                    <a:sym typeface="Fira Sans Extra Condensed Medium"/>
                  </a:rPr>
                  <a:t>Triggered recording mode</a:t>
                </a:r>
                <a:r>
                  <a:rPr lang="en-GB" sz="2000" noProof="0" dirty="0">
                    <a:solidFill>
                      <a:srgbClr val="FFFFFF"/>
                    </a:solidFill>
                    <a:latin typeface="+mj-lt"/>
                    <a:ea typeface="Fira Sans Extra Condensed Medium"/>
                    <a:cs typeface="Fira Sans Extra Condensed Medium"/>
                    <a:sym typeface="Fira Sans Extra Condensed Medium"/>
                  </a:rPr>
                  <a:t> </a:t>
                </a:r>
              </a:p>
            </p:txBody>
          </p:sp>
          <p:sp>
            <p:nvSpPr>
              <p:cNvPr id="24" name="Google Shape;234;p19">
                <a:extLst>
                  <a:ext uri="{FF2B5EF4-FFF2-40B4-BE49-F238E27FC236}">
                    <a16:creationId xmlns:a16="http://schemas.microsoft.com/office/drawing/2014/main" id="{E517CD1D-0807-66D9-C0C2-AB5483307A79}"/>
                  </a:ext>
                </a:extLst>
              </p:cNvPr>
              <p:cNvSpPr txBox="1"/>
              <p:nvPr/>
            </p:nvSpPr>
            <p:spPr>
              <a:xfrm>
                <a:off x="4783639" y="2426791"/>
                <a:ext cx="143700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 algn="ctr"/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</a:rPr>
                  <a:t>Only one timestamp per recorded block.</a:t>
                </a:r>
                <a:endParaRPr lang="en-GB" sz="1200" noProof="0" dirty="0">
                  <a:solidFill>
                    <a:schemeClr val="dk1"/>
                  </a:solidFill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" name="Google Shape;235;p19">
                <a:extLst>
                  <a:ext uri="{FF2B5EF4-FFF2-40B4-BE49-F238E27FC236}">
                    <a16:creationId xmlns:a16="http://schemas.microsoft.com/office/drawing/2014/main" id="{E49CC789-0BC7-DE42-01E3-CC8B3A8FF5C8}"/>
                  </a:ext>
                </a:extLst>
              </p:cNvPr>
              <p:cNvSpPr/>
              <p:nvPr/>
            </p:nvSpPr>
            <p:spPr>
              <a:xfrm>
                <a:off x="2492871" y="2338891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SYNC_EXT_RISE = 1</a:t>
                </a:r>
              </a:p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CYCLIC = 1</a:t>
                </a:r>
              </a:p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rearm = 1</a:t>
                </a:r>
              </a:p>
              <a:p>
                <a:r>
                  <a:rPr lang="en-GB" sz="12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rearm_dno</a:t>
                </a:r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1</a:t>
                </a:r>
              </a:p>
            </p:txBody>
          </p:sp>
          <p:sp>
            <p:nvSpPr>
              <p:cNvPr id="27" name="Google Shape;237;p19">
                <a:extLst>
                  <a:ext uri="{FF2B5EF4-FFF2-40B4-BE49-F238E27FC236}">
                    <a16:creationId xmlns:a16="http://schemas.microsoft.com/office/drawing/2014/main" id="{328B7D93-020F-E651-64FA-91584786E4B2}"/>
                  </a:ext>
                </a:extLst>
              </p:cNvPr>
              <p:cNvSpPr/>
              <p:nvPr/>
            </p:nvSpPr>
            <p:spPr>
              <a:xfrm>
                <a:off x="6566895" y="2338891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28" name="Google Shape;238;p19">
                <a:extLst>
                  <a:ext uri="{FF2B5EF4-FFF2-40B4-BE49-F238E27FC236}">
                    <a16:creationId xmlns:a16="http://schemas.microsoft.com/office/drawing/2014/main" id="{E656C74A-5258-57FD-71FE-B1B32E7F21BF}"/>
                  </a:ext>
                </a:extLst>
              </p:cNvPr>
              <p:cNvSpPr txBox="1"/>
              <p:nvPr/>
            </p:nvSpPr>
            <p:spPr>
              <a:xfrm>
                <a:off x="6493074" y="2440214"/>
                <a:ext cx="2094941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7145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Discontinuous stream;</a:t>
                </a:r>
              </a:p>
              <a:p>
                <a:pPr marL="171450" lvl="0" indent="-171450" algn="ctr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Pre-trigger mechanism wastes memory. </a:t>
                </a:r>
              </a:p>
            </p:txBody>
          </p:sp>
        </p:grpSp>
        <p:grpSp>
          <p:nvGrpSpPr>
            <p:cNvPr id="12" name="Google Shape;239;p19">
              <a:extLst>
                <a:ext uri="{FF2B5EF4-FFF2-40B4-BE49-F238E27FC236}">
                  <a16:creationId xmlns:a16="http://schemas.microsoft.com/office/drawing/2014/main" id="{7AA7F523-1B2E-7056-5429-7FFBA2C7C767}"/>
                </a:ext>
              </a:extLst>
            </p:cNvPr>
            <p:cNvGrpSpPr/>
            <p:nvPr/>
          </p:nvGrpSpPr>
          <p:grpSpPr>
            <a:xfrm>
              <a:off x="957072" y="2234109"/>
              <a:ext cx="9342875" cy="796171"/>
              <a:chOff x="457122" y="1563689"/>
              <a:chExt cx="8054355" cy="698400"/>
            </a:xfrm>
          </p:grpSpPr>
          <p:sp>
            <p:nvSpPr>
              <p:cNvPr id="13" name="Google Shape;240;p19">
                <a:extLst>
                  <a:ext uri="{FF2B5EF4-FFF2-40B4-BE49-F238E27FC236}">
                    <a16:creationId xmlns:a16="http://schemas.microsoft.com/office/drawing/2014/main" id="{8D500797-CACC-7384-D6CB-B135941924F6}"/>
                  </a:ext>
                </a:extLst>
              </p:cNvPr>
              <p:cNvSpPr/>
              <p:nvPr/>
            </p:nvSpPr>
            <p:spPr>
              <a:xfrm flipH="1">
                <a:off x="457122" y="1563689"/>
                <a:ext cx="1947300" cy="698400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14" name="Google Shape;241;p19">
                <a:extLst>
                  <a:ext uri="{FF2B5EF4-FFF2-40B4-BE49-F238E27FC236}">
                    <a16:creationId xmlns:a16="http://schemas.microsoft.com/office/drawing/2014/main" id="{4CC56D3E-3083-E47E-993C-FC3CA715C5FE}"/>
                  </a:ext>
                </a:extLst>
              </p:cNvPr>
              <p:cNvSpPr/>
              <p:nvPr/>
            </p:nvSpPr>
            <p:spPr>
              <a:xfrm>
                <a:off x="4528524" y="1563689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15" name="Google Shape;242;p19">
                <a:extLst>
                  <a:ext uri="{FF2B5EF4-FFF2-40B4-BE49-F238E27FC236}">
                    <a16:creationId xmlns:a16="http://schemas.microsoft.com/office/drawing/2014/main" id="{03C074C9-BA51-BF11-6173-89E661F45059}"/>
                  </a:ext>
                </a:extLst>
              </p:cNvPr>
              <p:cNvSpPr txBox="1"/>
              <p:nvPr/>
            </p:nvSpPr>
            <p:spPr>
              <a:xfrm>
                <a:off x="457122" y="1734689"/>
                <a:ext cx="1947300" cy="35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noProof="0" dirty="0">
                    <a:solidFill>
                      <a:srgbClr val="FFFFFF"/>
                    </a:solidFill>
                    <a:latin typeface="+mj-lt"/>
                    <a:ea typeface="Fira Sans Extra Condensed Medium"/>
                    <a:cs typeface="Fira Sans Extra Condensed Medium"/>
                    <a:sym typeface="Fira Sans Extra Condensed Medium"/>
                  </a:rPr>
                  <a:t>Dynamic </a:t>
                </a:r>
                <a:r>
                  <a:rPr lang="en-GB" sz="1800" noProof="0" dirty="0" err="1">
                    <a:solidFill>
                      <a:srgbClr val="FFFFFF"/>
                    </a:solidFill>
                    <a:latin typeface="+mj-lt"/>
                    <a:ea typeface="Fira Sans Extra Condensed Medium"/>
                    <a:cs typeface="Fira Sans Extra Condensed Medium"/>
                    <a:sym typeface="Fira Sans Extra Condensed Medium"/>
                  </a:rPr>
                  <a:t>Undersampling</a:t>
                </a:r>
                <a:endParaRPr lang="en-GB" sz="1800" noProof="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6" name="Google Shape;243;p19">
                <a:extLst>
                  <a:ext uri="{FF2B5EF4-FFF2-40B4-BE49-F238E27FC236}">
                    <a16:creationId xmlns:a16="http://schemas.microsoft.com/office/drawing/2014/main" id="{50D65A29-868F-41C5-F1B2-86F587529A9C}"/>
                  </a:ext>
                </a:extLst>
              </p:cNvPr>
              <p:cNvSpPr/>
              <p:nvPr/>
            </p:nvSpPr>
            <p:spPr>
              <a:xfrm>
                <a:off x="2492871" y="1563689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17" name="Google Shape;244;p19">
                <a:extLst>
                  <a:ext uri="{FF2B5EF4-FFF2-40B4-BE49-F238E27FC236}">
                    <a16:creationId xmlns:a16="http://schemas.microsoft.com/office/drawing/2014/main" id="{CC33BB2B-9B9C-F2D8-6AF3-4D7891C490CE}"/>
                  </a:ext>
                </a:extLst>
              </p:cNvPr>
              <p:cNvSpPr txBox="1"/>
              <p:nvPr/>
            </p:nvSpPr>
            <p:spPr>
              <a:xfrm>
                <a:off x="2492775" y="1660096"/>
                <a:ext cx="192498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DYN_UNDERSAMPLE = 1</a:t>
                </a:r>
              </a:p>
              <a:p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rearm = 1</a:t>
                </a:r>
              </a:p>
              <a:p>
                <a:r>
                  <a:rPr lang="en-GB" sz="12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rearm_dno</a:t>
                </a:r>
                <a:r>
                  <a:rPr lang="en-GB" sz="12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=1</a:t>
                </a:r>
              </a:p>
            </p:txBody>
          </p:sp>
          <p:sp>
            <p:nvSpPr>
              <p:cNvPr id="18" name="Google Shape;245;p19">
                <a:extLst>
                  <a:ext uri="{FF2B5EF4-FFF2-40B4-BE49-F238E27FC236}">
                    <a16:creationId xmlns:a16="http://schemas.microsoft.com/office/drawing/2014/main" id="{DEEBC1A8-AE2E-DD1A-1D39-4446D7C7A06C}"/>
                  </a:ext>
                </a:extLst>
              </p:cNvPr>
              <p:cNvSpPr txBox="1"/>
              <p:nvPr/>
            </p:nvSpPr>
            <p:spPr>
              <a:xfrm>
                <a:off x="4783639" y="1651589"/>
                <a:ext cx="143700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Continuous data stream.</a:t>
                </a:r>
              </a:p>
            </p:txBody>
          </p:sp>
          <p:sp>
            <p:nvSpPr>
              <p:cNvPr id="19" name="Google Shape;246;p19">
                <a:extLst>
                  <a:ext uri="{FF2B5EF4-FFF2-40B4-BE49-F238E27FC236}">
                    <a16:creationId xmlns:a16="http://schemas.microsoft.com/office/drawing/2014/main" id="{B6C7A9AF-015F-364D-EC72-C01CC7E7FD40}"/>
                  </a:ext>
                </a:extLst>
              </p:cNvPr>
              <p:cNvSpPr/>
              <p:nvPr/>
            </p:nvSpPr>
            <p:spPr>
              <a:xfrm>
                <a:off x="6564177" y="1563689"/>
                <a:ext cx="1947300" cy="698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0" dirty="0">
                  <a:latin typeface="+mj-lt"/>
                </a:endParaRPr>
              </a:p>
            </p:txBody>
          </p:sp>
          <p:sp>
            <p:nvSpPr>
              <p:cNvPr id="20" name="Google Shape;247;p19">
                <a:extLst>
                  <a:ext uri="{FF2B5EF4-FFF2-40B4-BE49-F238E27FC236}">
                    <a16:creationId xmlns:a16="http://schemas.microsoft.com/office/drawing/2014/main" id="{046A8C08-E88F-F61F-9922-028E6D91FE2E}"/>
                  </a:ext>
                </a:extLst>
              </p:cNvPr>
              <p:cNvSpPr txBox="1"/>
              <p:nvPr/>
            </p:nvSpPr>
            <p:spPr>
              <a:xfrm>
                <a:off x="6564177" y="1631728"/>
                <a:ext cx="1947300" cy="52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noProof="0" dirty="0">
                    <a:solidFill>
                      <a:schemeClr val="dk1"/>
                    </a:solidFill>
                    <a:latin typeface="+mj-lt"/>
                    <a:ea typeface="Roboto"/>
                    <a:cs typeface="Roboto"/>
                    <a:sym typeface="Roboto"/>
                  </a:rPr>
                  <a:t>High memory overhead: 50% of SDRAM used for timestamps.</a:t>
                </a:r>
              </a:p>
            </p:txBody>
          </p:sp>
        </p:grpSp>
        <p:sp>
          <p:nvSpPr>
            <p:cNvPr id="47" name="Google Shape;234;p19">
              <a:extLst>
                <a:ext uri="{FF2B5EF4-FFF2-40B4-BE49-F238E27FC236}">
                  <a16:creationId xmlns:a16="http://schemas.microsoft.com/office/drawing/2014/main" id="{108F5DCE-F591-D54C-744F-9CA8D38FDF18}"/>
                </a:ext>
              </a:extLst>
            </p:cNvPr>
            <p:cNvSpPr txBox="1"/>
            <p:nvPr/>
          </p:nvSpPr>
          <p:spPr>
            <a:xfrm>
              <a:off x="1063014" y="5283940"/>
              <a:ext cx="9236934" cy="5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/>
              <a:r>
                <a:rPr lang="en-GB" sz="1600" b="1" noProof="0" dirty="0">
                  <a:latin typeface="+mj-lt"/>
                </a:rPr>
                <a:t>LIMITATION</a:t>
              </a:r>
            </a:p>
            <a:p>
              <a:pPr lvl="0" algn="ctr"/>
              <a:r>
                <a:rPr lang="en-GB" sz="1600" noProof="0" dirty="0">
                  <a:latin typeface="+mj-lt"/>
                </a:rPr>
                <a:t>Because the PM1000 lacks an internal real-time clock, all standard modes fail to provide the absolute timestamps required for phase data synchronization.</a:t>
              </a:r>
              <a:endParaRPr lang="en-GB" sz="1600" noProof="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6E0DE26-87F8-37DC-F748-9A62354A0956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4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1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17F6BE-88DD-8FE2-CB79-78F58EB9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57406"/>
            <a:ext cx="11664950" cy="1080000"/>
          </a:xfrm>
        </p:spPr>
        <p:txBody>
          <a:bodyPr/>
          <a:lstStyle/>
          <a:p>
            <a:r>
              <a:rPr lang="en-GB" noProof="0" dirty="0"/>
              <a:t>Modified Manual Recording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81821DF5-A3D1-D336-F6F4-978B3EEA6F5D}"/>
              </a:ext>
            </a:extLst>
          </p:cNvPr>
          <p:cNvGrpSpPr/>
          <p:nvPr/>
        </p:nvGrpSpPr>
        <p:grpSpPr>
          <a:xfrm>
            <a:off x="283076" y="1307533"/>
            <a:ext cx="4425666" cy="4342248"/>
            <a:chOff x="348557" y="861642"/>
            <a:chExt cx="4425666" cy="2461540"/>
          </a:xfrm>
        </p:grpSpPr>
        <p:sp>
          <p:nvSpPr>
            <p:cNvPr id="7" name="Google Shape;217;p19">
              <a:extLst>
                <a:ext uri="{FF2B5EF4-FFF2-40B4-BE49-F238E27FC236}">
                  <a16:creationId xmlns:a16="http://schemas.microsoft.com/office/drawing/2014/main" id="{5EE77A37-2318-5588-2F42-1D6F7BCC149B}"/>
                </a:ext>
              </a:extLst>
            </p:cNvPr>
            <p:cNvSpPr/>
            <p:nvPr/>
          </p:nvSpPr>
          <p:spPr>
            <a:xfrm>
              <a:off x="348557" y="861642"/>
              <a:ext cx="4425666" cy="2449028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GB" sz="1800" b="1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Configuration</a:t>
              </a:r>
            </a:p>
            <a:p>
              <a:pPr algn="ctr"/>
              <a:endParaRPr lang="en-GB" sz="1800" b="1" noProof="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SYNC_EXT_RISE = 1 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rearm = 1</a:t>
              </a:r>
            </a:p>
            <a:p>
              <a:r>
                <a:rPr lang="en-GB" sz="1600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rearm_dno</a:t>
              </a:r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1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CYCLIC = 0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DYN_UNDERSAMPLING = 0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SYNC_EXT_FALL = 0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TRIG_NEXT_BNC = 0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PPS_SYNC_EXT = 0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PPS_EXT_INT = 0 </a:t>
              </a:r>
            </a:p>
            <a:p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GB" sz="1600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pm.write</a:t>
              </a:r>
              <a:r>
                <a:rPr lang="en-GB" sz="1600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(BASE+82,old_block_nr)</a:t>
              </a:r>
            </a:p>
            <a:p>
              <a:endParaRPr lang="en-GB" sz="1600" noProof="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GB" sz="18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Long, continuous acquisition</a:t>
              </a:r>
            </a:p>
          </p:txBody>
        </p:sp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0F0A2B6F-2E98-B335-2735-2104FCDDB1C3}"/>
                </a:ext>
              </a:extLst>
            </p:cNvPr>
            <p:cNvSpPr/>
            <p:nvPr/>
          </p:nvSpPr>
          <p:spPr>
            <a:xfrm>
              <a:off x="348557" y="861643"/>
              <a:ext cx="4346535" cy="2461539"/>
            </a:xfrm>
            <a:prstGeom prst="round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GB" sz="2800" noProof="0" dirty="0">
                <a:latin typeface="+mj-lt"/>
              </a:endParaRP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34A8B673-2A92-F438-5784-03A287D94C2C}"/>
              </a:ext>
            </a:extLst>
          </p:cNvPr>
          <p:cNvGrpSpPr/>
          <p:nvPr/>
        </p:nvGrpSpPr>
        <p:grpSpPr>
          <a:xfrm>
            <a:off x="5492888" y="1515795"/>
            <a:ext cx="2721029" cy="1826985"/>
            <a:chOff x="4180933" y="1141467"/>
            <a:chExt cx="4461901" cy="1115692"/>
          </a:xfrm>
        </p:grpSpPr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9D296671-F447-1040-7833-92039ED66CD8}"/>
                </a:ext>
              </a:extLst>
            </p:cNvPr>
            <p:cNvSpPr/>
            <p:nvPr/>
          </p:nvSpPr>
          <p:spPr>
            <a:xfrm>
              <a:off x="4180933" y="1141467"/>
              <a:ext cx="4461901" cy="1115692"/>
            </a:xfrm>
            <a:prstGeom prst="roundRect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GB" sz="2800" noProof="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410042F6-3153-C0F5-7006-CC3BDA1E7DDE}"/>
                </a:ext>
              </a:extLst>
            </p:cNvPr>
            <p:cNvSpPr txBox="1"/>
            <p:nvPr/>
          </p:nvSpPr>
          <p:spPr>
            <a:xfrm>
              <a:off x="4180933" y="1192343"/>
              <a:ext cx="44619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noProof="0" dirty="0" err="1"/>
                <a:t>Syncronization</a:t>
              </a:r>
              <a:endParaRPr lang="en-GB" b="1" noProof="0" dirty="0"/>
            </a:p>
            <a:p>
              <a:pPr algn="ctr"/>
              <a:r>
                <a:rPr lang="en-GB" noProof="0" dirty="0"/>
                <a:t>Exactly one SOP sample recorded for every rising edge on BNC connector</a:t>
              </a:r>
              <a:r>
                <a:rPr lang="en-GB" noProof="0" dirty="0">
                  <a:solidFill>
                    <a:schemeClr val="dk1"/>
                  </a:solidFill>
                  <a:ea typeface="Roboto"/>
                  <a:cs typeface="Roboto"/>
                </a:rPr>
                <a:t>.</a:t>
              </a:r>
              <a:endParaRPr lang="en-GB" noProof="0" dirty="0"/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2534F879-00BD-738F-2381-1DFFB9CF9B9B}"/>
              </a:ext>
            </a:extLst>
          </p:cNvPr>
          <p:cNvGrpSpPr/>
          <p:nvPr/>
        </p:nvGrpSpPr>
        <p:grpSpPr>
          <a:xfrm>
            <a:off x="8998063" y="1523338"/>
            <a:ext cx="2721029" cy="1798343"/>
            <a:chOff x="9145897" y="861643"/>
            <a:chExt cx="2782578" cy="1689907"/>
          </a:xfrm>
        </p:grpSpPr>
        <p:sp>
          <p:nvSpPr>
            <p:cNvPr id="28" name="Rettangolo con angoli arrotondati 27">
              <a:extLst>
                <a:ext uri="{FF2B5EF4-FFF2-40B4-BE49-F238E27FC236}">
                  <a16:creationId xmlns:a16="http://schemas.microsoft.com/office/drawing/2014/main" id="{A3C7B4C9-91C3-44AB-F7BA-84FB128818B0}"/>
                </a:ext>
              </a:extLst>
            </p:cNvPr>
            <p:cNvSpPr/>
            <p:nvPr/>
          </p:nvSpPr>
          <p:spPr>
            <a:xfrm>
              <a:off x="9145897" y="861643"/>
              <a:ext cx="2782578" cy="1689907"/>
            </a:xfrm>
            <a:prstGeom prst="roundRect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GB" sz="2800" noProof="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DC452A65-202C-15B9-0AFC-26EDD5800062}"/>
                </a:ext>
              </a:extLst>
            </p:cNvPr>
            <p:cNvSpPr txBox="1"/>
            <p:nvPr/>
          </p:nvSpPr>
          <p:spPr>
            <a:xfrm>
              <a:off x="9145897" y="951447"/>
              <a:ext cx="278257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noProof="0" dirty="0"/>
                <a:t>Timestamps</a:t>
              </a:r>
            </a:p>
            <a:p>
              <a:pPr algn="ctr"/>
              <a:r>
                <a:rPr lang="en-GB" noProof="0" dirty="0"/>
                <a:t>The exact time of the first SOP sample is known with high precision.</a:t>
              </a:r>
            </a:p>
          </p:txBody>
        </p:sp>
      </p:grp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252C86CF-1273-1080-89D0-5E2321FD95BD}"/>
              </a:ext>
            </a:extLst>
          </p:cNvPr>
          <p:cNvCxnSpPr>
            <a:cxnSpLocks/>
          </p:cNvCxnSpPr>
          <p:nvPr/>
        </p:nvCxnSpPr>
        <p:spPr>
          <a:xfrm>
            <a:off x="7340559" y="4411072"/>
            <a:ext cx="671348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8879C24F-A989-CB71-F324-A0F0238B9168}"/>
              </a:ext>
            </a:extLst>
          </p:cNvPr>
          <p:cNvSpPr/>
          <p:nvPr/>
        </p:nvSpPr>
        <p:spPr>
          <a:xfrm>
            <a:off x="5480102" y="3706209"/>
            <a:ext cx="4507777" cy="1826985"/>
          </a:xfrm>
          <a:prstGeom prst="round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800" noProof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EC4887F-3BC1-07BE-B89A-8BB6DAD96E63}"/>
              </a:ext>
            </a:extLst>
          </p:cNvPr>
          <p:cNvSpPr txBox="1"/>
          <p:nvPr/>
        </p:nvSpPr>
        <p:spPr>
          <a:xfrm>
            <a:off x="5525979" y="3729344"/>
            <a:ext cx="446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/>
              <a:t>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E64C19E8-7E20-BCF6-012F-9F08D10E04B7}"/>
                  </a:ext>
                </a:extLst>
              </p:cNvPr>
              <p:cNvSpPr txBox="1"/>
              <p:nvPr/>
            </p:nvSpPr>
            <p:spPr>
              <a:xfrm>
                <a:off x="5715771" y="4143338"/>
                <a:ext cx="1459502" cy="53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𝑀𝐻𝑧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𝐴𝑇𝐸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E64C19E8-7E20-BCF6-012F-9F08D10E0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771" y="4143338"/>
                <a:ext cx="1459502" cy="5354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B66DD087-F46F-8453-62E7-2BFCF751FCCE}"/>
                  </a:ext>
                </a:extLst>
              </p:cNvPr>
              <p:cNvSpPr txBox="1"/>
              <p:nvPr/>
            </p:nvSpPr>
            <p:spPr>
              <a:xfrm>
                <a:off x="8057783" y="4203796"/>
                <a:ext cx="1884222" cy="367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𝐵𝑁𝐶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𝐹𝑅𝐸𝑄</m:t>
                      </m:r>
                    </m:oMath>
                  </m:oMathPara>
                </a14:m>
                <a:endParaRPr lang="en-GB" sz="1800" noProof="0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B66DD087-F46F-8453-62E7-2BFCF751F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783" y="4203796"/>
                <a:ext cx="1884222" cy="367165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8168AEC-7BA2-3883-E446-51509479C1CC}"/>
              </a:ext>
            </a:extLst>
          </p:cNvPr>
          <p:cNvSpPr txBox="1"/>
          <p:nvPr/>
        </p:nvSpPr>
        <p:spPr>
          <a:xfrm>
            <a:off x="5480101" y="4797861"/>
            <a:ext cx="4507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ATE is still applied purely to average samples and improve SNR.</a:t>
            </a:r>
          </a:p>
        </p:txBody>
      </p:sp>
      <p:grpSp>
        <p:nvGrpSpPr>
          <p:cNvPr id="36" name="Google Shape;1648;p56">
            <a:extLst>
              <a:ext uri="{FF2B5EF4-FFF2-40B4-BE49-F238E27FC236}">
                <a16:creationId xmlns:a16="http://schemas.microsoft.com/office/drawing/2014/main" id="{B5277C0A-39B8-4616-33C5-1698DEAF7BAC}"/>
              </a:ext>
            </a:extLst>
          </p:cNvPr>
          <p:cNvGrpSpPr/>
          <p:nvPr/>
        </p:nvGrpSpPr>
        <p:grpSpPr>
          <a:xfrm>
            <a:off x="4775906" y="2329058"/>
            <a:ext cx="585100" cy="308634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37" name="Google Shape;1649;p56">
              <a:extLst>
                <a:ext uri="{FF2B5EF4-FFF2-40B4-BE49-F238E27FC236}">
                  <a16:creationId xmlns:a16="http://schemas.microsoft.com/office/drawing/2014/main" id="{B1FF6A1B-F214-AD15-9392-9603D7817081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8" name="Google Shape;1650;p56">
              <a:extLst>
                <a:ext uri="{FF2B5EF4-FFF2-40B4-BE49-F238E27FC236}">
                  <a16:creationId xmlns:a16="http://schemas.microsoft.com/office/drawing/2014/main" id="{39BE153A-E3FF-1A71-8C2B-76CB323C4D32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9" name="Google Shape;1651;p56">
              <a:extLst>
                <a:ext uri="{FF2B5EF4-FFF2-40B4-BE49-F238E27FC236}">
                  <a16:creationId xmlns:a16="http://schemas.microsoft.com/office/drawing/2014/main" id="{ACEA8306-0D88-6E36-774D-0CFE7FA0397B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  <p:grpSp>
        <p:nvGrpSpPr>
          <p:cNvPr id="49" name="Google Shape;1648;p56">
            <a:extLst>
              <a:ext uri="{FF2B5EF4-FFF2-40B4-BE49-F238E27FC236}">
                <a16:creationId xmlns:a16="http://schemas.microsoft.com/office/drawing/2014/main" id="{01244D2D-0924-47E6-C68D-7A0B016C18CF}"/>
              </a:ext>
            </a:extLst>
          </p:cNvPr>
          <p:cNvGrpSpPr/>
          <p:nvPr/>
        </p:nvGrpSpPr>
        <p:grpSpPr>
          <a:xfrm>
            <a:off x="4777168" y="4416644"/>
            <a:ext cx="585100" cy="308634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50" name="Google Shape;1649;p56">
              <a:extLst>
                <a:ext uri="{FF2B5EF4-FFF2-40B4-BE49-F238E27FC236}">
                  <a16:creationId xmlns:a16="http://schemas.microsoft.com/office/drawing/2014/main" id="{318C31B0-B09C-A6B5-C39A-C0B76BF74551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1" name="Google Shape;1650;p56">
              <a:extLst>
                <a:ext uri="{FF2B5EF4-FFF2-40B4-BE49-F238E27FC236}">
                  <a16:creationId xmlns:a16="http://schemas.microsoft.com/office/drawing/2014/main" id="{88D1396A-00BB-0B06-5409-7CF852856811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2" name="Google Shape;1651;p56">
              <a:extLst>
                <a:ext uri="{FF2B5EF4-FFF2-40B4-BE49-F238E27FC236}">
                  <a16:creationId xmlns:a16="http://schemas.microsoft.com/office/drawing/2014/main" id="{CF785411-7B70-EFF0-A74F-AF4FCA57F8E3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  <p:grpSp>
        <p:nvGrpSpPr>
          <p:cNvPr id="53" name="Google Shape;1648;p56">
            <a:extLst>
              <a:ext uri="{FF2B5EF4-FFF2-40B4-BE49-F238E27FC236}">
                <a16:creationId xmlns:a16="http://schemas.microsoft.com/office/drawing/2014/main" id="{DF0B14DA-124C-2FC7-68B6-0C150A3C114B}"/>
              </a:ext>
            </a:extLst>
          </p:cNvPr>
          <p:cNvGrpSpPr/>
          <p:nvPr/>
        </p:nvGrpSpPr>
        <p:grpSpPr>
          <a:xfrm>
            <a:off x="8313440" y="2317490"/>
            <a:ext cx="585100" cy="308634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54" name="Google Shape;1649;p56">
              <a:extLst>
                <a:ext uri="{FF2B5EF4-FFF2-40B4-BE49-F238E27FC236}">
                  <a16:creationId xmlns:a16="http://schemas.microsoft.com/office/drawing/2014/main" id="{450B0F9D-47BB-8894-C0EE-94B7FE1B1872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5" name="Google Shape;1650;p56">
              <a:extLst>
                <a:ext uri="{FF2B5EF4-FFF2-40B4-BE49-F238E27FC236}">
                  <a16:creationId xmlns:a16="http://schemas.microsoft.com/office/drawing/2014/main" id="{ADC7286A-556F-B231-4024-530236B3F81F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6" name="Google Shape;1651;p56">
              <a:extLst>
                <a:ext uri="{FF2B5EF4-FFF2-40B4-BE49-F238E27FC236}">
                  <a16:creationId xmlns:a16="http://schemas.microsoft.com/office/drawing/2014/main" id="{AAA84061-FF44-A218-9903-31AC37E9BA72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D867E5-33B6-A30A-5F86-DE1849248000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9D000C-4CB2-ADC8-7E55-F7FFD7433BFC}"/>
              </a:ext>
            </a:extLst>
          </p:cNvPr>
          <p:cNvSpPr txBox="1"/>
          <p:nvPr/>
        </p:nvSpPr>
        <p:spPr>
          <a:xfrm>
            <a:off x="9541210" y="345168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232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BB5E58D-ECAF-9569-D03E-28150F2A2B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187" y="-2303300"/>
            <a:ext cx="10359105" cy="1465155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032D8DB-3639-7C65-36C8-9AE17E54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Sistema di </a:t>
            </a:r>
            <a:r>
              <a:rPr lang="en-GB" noProof="0" dirty="0" err="1"/>
              <a:t>acquisizione</a:t>
            </a:r>
            <a:r>
              <a:rPr lang="en-GB" dirty="0"/>
              <a:t>: testing</a:t>
            </a:r>
            <a:r>
              <a:rPr lang="en-GB" noProof="0" dirty="0"/>
              <a:t>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2BB455B-C19B-0760-8F60-C01464CB0A4B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2112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7CD208-2BD0-36D2-53FD-924AD0F8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Allineamento</a:t>
            </a:r>
            <a:r>
              <a:rPr lang="en-GB" noProof="0" dirty="0"/>
              <a:t> al </a:t>
            </a:r>
            <a:r>
              <a:rPr lang="en-GB" noProof="0" dirty="0" err="1"/>
              <a:t>fronte</a:t>
            </a:r>
            <a:r>
              <a:rPr lang="en-GB" noProof="0" dirty="0"/>
              <a:t> di </a:t>
            </a:r>
            <a:r>
              <a:rPr lang="en-GB" noProof="0" dirty="0" err="1"/>
              <a:t>salita</a:t>
            </a:r>
            <a:endParaRPr lang="en-GB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8481D8A-4DDE-1A88-59AD-62CB8127FD6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4" y="592998"/>
            <a:ext cx="10463259" cy="579021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05DFFC-9FF2-4139-CDC7-2276E4BC4FAE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881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08A3-9AF7-E402-B1A6-6A13590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623D1-C04A-3033-23F6-CD03846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Sincronizzazione</a:t>
            </a:r>
            <a:r>
              <a:rPr lang="en-GB" noProof="0" dirty="0"/>
              <a:t> FPGA-PM1000: </a:t>
            </a:r>
            <a:r>
              <a:rPr lang="en-GB" noProof="0" dirty="0" err="1"/>
              <a:t>segnale</a:t>
            </a:r>
            <a:r>
              <a:rPr lang="en-GB" noProof="0" dirty="0"/>
              <a:t> </a:t>
            </a:r>
            <a:r>
              <a:rPr lang="en-GB" noProof="0" dirty="0" err="1"/>
              <a:t>ideale</a:t>
            </a:r>
            <a:endParaRPr lang="en-GB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FD782DD-5EB7-858D-DE99-C65FC36D4D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4"/>
          <a:stretch>
            <a:fillRect/>
          </a:stretch>
        </p:blipFill>
        <p:spPr>
          <a:xfrm>
            <a:off x="328612" y="720000"/>
            <a:ext cx="11534775" cy="550304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7C4A74-3726-1E2E-0BDF-BCD0B0470DE1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3557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E7C85D-F2CB-4AB6-F436-89A16937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Schema di acquisizione: Anello urbano </a:t>
            </a:r>
            <a:r>
              <a:rPr lang="it-IT" dirty="0" err="1"/>
              <a:t>INRiM</a:t>
            </a:r>
            <a:r>
              <a:rPr lang="it-IT" dirty="0"/>
              <a:t>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DEB1136-A3F0-DF4A-4025-A3CE1DC34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8373" y="-1341999"/>
            <a:ext cx="10302403" cy="1457135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E10B2F3-3D80-B836-2ED6-83BAF95872D1}"/>
              </a:ext>
            </a:extLst>
          </p:cNvPr>
          <p:cNvSpPr txBox="1"/>
          <p:nvPr/>
        </p:nvSpPr>
        <p:spPr>
          <a:xfrm>
            <a:off x="5920740" y="6434160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2320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81A08D-0A08-9A7E-9C96-D5E25047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PSD SOP: Anello urbano </a:t>
            </a:r>
            <a:r>
              <a:rPr lang="it-IT" dirty="0" err="1"/>
              <a:t>INRiM</a:t>
            </a:r>
            <a:r>
              <a:rPr lang="it-IT" dirty="0"/>
              <a:t> (24 h)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16399EB-4494-480E-0EE0-69F6D5E0EF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515"/>
            <a:ext cx="11925600" cy="595658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34F91C8-D3AC-F372-44F3-793C8D2FB978}"/>
              </a:ext>
            </a:extLst>
          </p:cNvPr>
          <p:cNvSpPr txBox="1"/>
          <p:nvPr/>
        </p:nvSpPr>
        <p:spPr>
          <a:xfrm>
            <a:off x="5920739" y="6434160"/>
            <a:ext cx="91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689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9C20-FDDE-9B81-AB47-B6E4662B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31D10D-CB49-9541-21A6-5E442839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PSD frequency: Anello urbano </a:t>
            </a:r>
            <a:r>
              <a:rPr lang="it-IT" dirty="0" err="1"/>
              <a:t>INRiM</a:t>
            </a:r>
            <a:r>
              <a:rPr lang="it-IT" dirty="0"/>
              <a:t> (24 h)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D1F560F-5902-2B7B-9362-AA06180689B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760" y="495935"/>
            <a:ext cx="12192000" cy="608965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4202BE3-B26B-2F17-0B3E-36789F1800F6}"/>
              </a:ext>
            </a:extLst>
          </p:cNvPr>
          <p:cNvSpPr txBox="1"/>
          <p:nvPr/>
        </p:nvSpPr>
        <p:spPr>
          <a:xfrm>
            <a:off x="5920740" y="6434160"/>
            <a:ext cx="87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11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14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9A8F3E-8C98-B128-B40B-053421F2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170475"/>
            <a:ext cx="11664950" cy="1080000"/>
          </a:xfrm>
        </p:spPr>
        <p:txBody>
          <a:bodyPr/>
          <a:lstStyle/>
          <a:p>
            <a:r>
              <a:rPr lang="en-GB" noProof="0" dirty="0"/>
              <a:t>PSD SOP con </a:t>
            </a:r>
            <a:r>
              <a:rPr lang="en-GB" noProof="0" dirty="0" err="1"/>
              <a:t>diversi</a:t>
            </a:r>
            <a:r>
              <a:rPr lang="en-GB" noProof="0" dirty="0"/>
              <a:t> </a:t>
            </a:r>
            <a:r>
              <a:rPr lang="en-GB" noProof="0" dirty="0" err="1"/>
              <a:t>livelli</a:t>
            </a:r>
            <a:r>
              <a:rPr lang="en-GB" noProof="0" dirty="0"/>
              <a:t> di Pin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A947D95-C7DB-DE67-54F0-253F5BE8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8"/>
          <a:stretch>
            <a:fillRect/>
          </a:stretch>
        </p:blipFill>
        <p:spPr>
          <a:xfrm>
            <a:off x="0" y="881925"/>
            <a:ext cx="12192000" cy="561657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A32DE26-CFDC-FB19-E7EE-A23B93329FF0}"/>
              </a:ext>
            </a:extLst>
          </p:cNvPr>
          <p:cNvSpPr txBox="1"/>
          <p:nvPr/>
        </p:nvSpPr>
        <p:spPr>
          <a:xfrm>
            <a:off x="5920739" y="6434160"/>
            <a:ext cx="453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164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B7B20A-A3FD-9793-E27F-A6D83C5D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98268"/>
            <a:ext cx="11664950" cy="1080000"/>
          </a:xfrm>
        </p:spPr>
        <p:txBody>
          <a:bodyPr/>
          <a:lstStyle/>
          <a:p>
            <a:r>
              <a:rPr lang="it-IT" dirty="0"/>
              <a:t>Errore ADC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F646556-893C-3751-0EFD-1642ED667C85}"/>
                  </a:ext>
                </a:extLst>
              </p:cNvPr>
              <p:cNvSpPr txBox="1"/>
              <p:nvPr/>
            </p:nvSpPr>
            <p:spPr>
              <a:xfrm>
                <a:off x="5135181" y="1190193"/>
                <a:ext cx="4001288" cy="7100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F646556-893C-3751-0EFD-1642ED667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181" y="1190193"/>
                <a:ext cx="4001288" cy="7100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FDDC759-4560-E234-6CF0-912EB346746A}"/>
                  </a:ext>
                </a:extLst>
              </p:cNvPr>
              <p:cNvSpPr txBox="1"/>
              <p:nvPr/>
            </p:nvSpPr>
            <p:spPr>
              <a:xfrm>
                <a:off x="980775" y="2628314"/>
                <a:ext cx="7201200" cy="607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8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FDDC759-4560-E234-6CF0-912EB346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75" y="2628314"/>
                <a:ext cx="7201200" cy="6074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CCEC8B8-9F9C-9BCA-1E13-A4398632FEF0}"/>
                  </a:ext>
                </a:extLst>
              </p:cNvPr>
              <p:cNvSpPr txBox="1"/>
              <p:nvPr/>
            </p:nvSpPr>
            <p:spPr>
              <a:xfrm>
                <a:off x="1533375" y="3679734"/>
                <a:ext cx="6096000" cy="422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𝑃𝑆𝐷</m:t>
                        </m:r>
                      </m:e>
                      <m:sub>
                        <m:sSubSup>
                          <m:sSub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𝑃𝑆𝐷</m:t>
                        </m:r>
                      </m:e>
                      <m: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𝑃𝑆𝐷</m:t>
                        </m:r>
                      </m:e>
                      <m:sub>
                        <m:sSub>
                          <m:sSubPr>
                            <m:ctrlP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𝐴𝐷𝐶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 smtClean="0">
                        <a:solidFill>
                          <a:srgbClr val="21274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b="0" i="1" smtClean="0">
                        <a:solidFill>
                          <a:srgbClr val="21274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𝑃𝑆𝐷</m:t>
                        </m:r>
                      </m:e>
                      <m:sub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𝐴𝐷𝐶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CCEC8B8-9F9C-9BCA-1E13-A4398632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375" y="3679734"/>
                <a:ext cx="6096000" cy="422360"/>
              </a:xfrm>
              <a:prstGeom prst="rect">
                <a:avLst/>
              </a:prstGeom>
              <a:blipFill>
                <a:blip r:embed="rId4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80BCD46-18CB-6C18-D504-68C04F2D7540}"/>
                  </a:ext>
                </a:extLst>
              </p:cNvPr>
              <p:cNvSpPr txBox="1"/>
              <p:nvPr/>
            </p:nvSpPr>
            <p:spPr>
              <a:xfrm>
                <a:off x="1428450" y="4246824"/>
                <a:ext cx="6096000" cy="767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𝑃𝑆𝐷</m:t>
                          </m:r>
                        </m:e>
                        <m:sub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b>
                      </m:sSub>
                      <m:r>
                        <a:rPr lang="it-IT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80BCD46-18CB-6C18-D504-68C04F2D7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50" y="4246824"/>
                <a:ext cx="6096000" cy="7670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E984328-7905-CB23-9819-EA01C4C32EEB}"/>
                  </a:ext>
                </a:extLst>
              </p:cNvPr>
              <p:cNvSpPr txBox="1"/>
              <p:nvPr/>
            </p:nvSpPr>
            <p:spPr>
              <a:xfrm>
                <a:off x="1437005" y="5113130"/>
                <a:ext cx="6096000" cy="767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𝑃𝑆𝐷</m:t>
                          </m:r>
                        </m:e>
                        <m:sub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b>
                      </m:sSub>
                      <m:r>
                        <a:rPr lang="it-IT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it-IT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  <m:sup>
                              <m:r>
                                <a:rPr lang="it-IT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0E984328-7905-CB23-9819-EA01C4C32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005" y="5113130"/>
                <a:ext cx="6096000" cy="7670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uppo 22">
            <a:extLst>
              <a:ext uri="{FF2B5EF4-FFF2-40B4-BE49-F238E27FC236}">
                <a16:creationId xmlns:a16="http://schemas.microsoft.com/office/drawing/2014/main" id="{5F43744E-E79D-6F7D-4010-7282CFB63D74}"/>
              </a:ext>
            </a:extLst>
          </p:cNvPr>
          <p:cNvGrpSpPr/>
          <p:nvPr/>
        </p:nvGrpSpPr>
        <p:grpSpPr>
          <a:xfrm>
            <a:off x="1036955" y="1263968"/>
            <a:ext cx="2558649" cy="852926"/>
            <a:chOff x="1024351" y="1671152"/>
            <a:chExt cx="2558649" cy="8529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6577AFF8-6639-9BFC-E69E-87038233B259}"/>
                    </a:ext>
                  </a:extLst>
                </p:cNvPr>
                <p:cNvSpPr txBox="1"/>
                <p:nvPr/>
              </p:nvSpPr>
              <p:spPr>
                <a:xfrm>
                  <a:off x="1024351" y="1671152"/>
                  <a:ext cx="2558649" cy="8529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a14:m>
                  <a:r>
                    <a:rPr lang="it-IT" dirty="0"/>
                    <a:t>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a14:m>
                  <a:endParaRPr lang="it-IT" dirty="0"/>
                </a:p>
                <a:p>
                  <a:endParaRPr lang="it-IT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a14:m>
                  <a:r>
                    <a:rPr lang="it-IT" dirty="0"/>
                    <a:t>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6577AFF8-6639-9BFC-E69E-87038233B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51" y="1671152"/>
                  <a:ext cx="2558649" cy="852926"/>
                </a:xfrm>
                <a:prstGeom prst="rect">
                  <a:avLst/>
                </a:prstGeom>
                <a:blipFill>
                  <a:blip r:embed="rId7"/>
                  <a:stretch>
                    <a:fillRect l="-3333" b="-642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432E266D-AED8-CABF-8E8D-6D8A7E52F179}"/>
                    </a:ext>
                  </a:extLst>
                </p:cNvPr>
                <p:cNvSpPr txBox="1"/>
                <p:nvPr/>
              </p:nvSpPr>
              <p:spPr>
                <a:xfrm>
                  <a:off x="2038482" y="1671152"/>
                  <a:ext cx="2644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432E266D-AED8-CABF-8E8D-6D8A7E52F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482" y="1671152"/>
                  <a:ext cx="26449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636" r="-11364" b="-434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sellaDiTesto 20">
                  <a:extLst>
                    <a:ext uri="{FF2B5EF4-FFF2-40B4-BE49-F238E27FC236}">
                      <a16:creationId xmlns:a16="http://schemas.microsoft.com/office/drawing/2014/main" id="{E118A2DD-8A3C-4F21-0C8D-428E93768537}"/>
                    </a:ext>
                  </a:extLst>
                </p:cNvPr>
                <p:cNvSpPr txBox="1"/>
                <p:nvPr/>
              </p:nvSpPr>
              <p:spPr>
                <a:xfrm>
                  <a:off x="2038482" y="2242866"/>
                  <a:ext cx="2644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1" name="CasellaDiTesto 20">
                  <a:extLst>
                    <a:ext uri="{FF2B5EF4-FFF2-40B4-BE49-F238E27FC236}">
                      <a16:creationId xmlns:a16="http://schemas.microsoft.com/office/drawing/2014/main" id="{E118A2DD-8A3C-4F21-0C8D-428E93768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482" y="2242866"/>
                  <a:ext cx="26449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3636" r="-11364" b="-434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391ACFBA-69B8-39FA-EFD6-12912BEDEF37}"/>
                  </a:ext>
                </a:extLst>
              </p:cNvPr>
              <p:cNvSpPr txBox="1"/>
              <p:nvPr/>
            </p:nvSpPr>
            <p:spPr>
              <a:xfrm>
                <a:off x="4663806" y="1476525"/>
                <a:ext cx="264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391ACFBA-69B8-39FA-EFD6-12912BEDE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806" y="1476525"/>
                <a:ext cx="264496" cy="276999"/>
              </a:xfrm>
              <a:prstGeom prst="rect">
                <a:avLst/>
              </a:prstGeom>
              <a:blipFill>
                <a:blip r:embed="rId10"/>
                <a:stretch>
                  <a:fillRect l="-13953" r="-13953" b="-4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0FCE3DE-EDA0-E186-68BD-35E18C6A3606}"/>
                  </a:ext>
                </a:extLst>
              </p:cNvPr>
              <p:cNvSpPr txBox="1"/>
              <p:nvPr/>
            </p:nvSpPr>
            <p:spPr>
              <a:xfrm>
                <a:off x="1036955" y="3747208"/>
                <a:ext cx="264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0FCE3DE-EDA0-E186-68BD-35E18C6A3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55" y="3747208"/>
                <a:ext cx="264496" cy="276999"/>
              </a:xfrm>
              <a:prstGeom prst="rect">
                <a:avLst/>
              </a:prstGeom>
              <a:blipFill>
                <a:blip r:embed="rId11"/>
                <a:stretch>
                  <a:fillRect l="-13953" r="-13953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F7E92814-594E-E253-8986-4081F4A63FA0}"/>
                  </a:ext>
                </a:extLst>
              </p:cNvPr>
              <p:cNvSpPr txBox="1"/>
              <p:nvPr/>
            </p:nvSpPr>
            <p:spPr>
              <a:xfrm>
                <a:off x="1036955" y="4447334"/>
                <a:ext cx="264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F7E92814-594E-E253-8986-4081F4A63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55" y="4447334"/>
                <a:ext cx="264496" cy="276999"/>
              </a:xfrm>
              <a:prstGeom prst="rect">
                <a:avLst/>
              </a:prstGeom>
              <a:blipFill>
                <a:blip r:embed="rId12"/>
                <a:stretch>
                  <a:fillRect l="-13953" r="-13953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239F29-D869-D87D-9849-8B13AC95842F}"/>
              </a:ext>
            </a:extLst>
          </p:cNvPr>
          <p:cNvSpPr txBox="1"/>
          <p:nvPr/>
        </p:nvSpPr>
        <p:spPr>
          <a:xfrm>
            <a:off x="5920739" y="6434160"/>
            <a:ext cx="1306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13200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5816-1246-0E3D-254C-357A7C6D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339CC-7190-C680-5A1D-A8AAF073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170475"/>
            <a:ext cx="11664950" cy="1080000"/>
          </a:xfrm>
        </p:spPr>
        <p:txBody>
          <a:bodyPr/>
          <a:lstStyle/>
          <a:p>
            <a:r>
              <a:rPr lang="en-GB" noProof="0" dirty="0"/>
              <a:t>PSD SOP con </a:t>
            </a:r>
            <a:r>
              <a:rPr lang="en-GB" noProof="0" dirty="0" err="1"/>
              <a:t>diversi</a:t>
            </a:r>
            <a:r>
              <a:rPr lang="en-GB" noProof="0" dirty="0"/>
              <a:t> </a:t>
            </a:r>
            <a:r>
              <a:rPr lang="en-GB" noProof="0" dirty="0" err="1"/>
              <a:t>livelli</a:t>
            </a:r>
            <a:r>
              <a:rPr lang="en-GB" noProof="0" dirty="0"/>
              <a:t> di Pin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746EF982-0473-B41B-7270-91C859390CF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8"/>
          <a:stretch>
            <a:fillRect/>
          </a:stretch>
        </p:blipFill>
        <p:spPr>
          <a:xfrm>
            <a:off x="0" y="900975"/>
            <a:ext cx="12192000" cy="56165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456FD0A-C5F5-39F7-A497-F5EE848EAA54}"/>
              </a:ext>
            </a:extLst>
          </p:cNvPr>
          <p:cNvSpPr txBox="1"/>
          <p:nvPr/>
        </p:nvSpPr>
        <p:spPr>
          <a:xfrm>
            <a:off x="5920739" y="6434160"/>
            <a:ext cx="56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14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292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4152BE-03C9-9A82-555F-418F4EA4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Caratterizzazione del rumore in funzione di Pin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816425-1455-A025-494C-C574E7A6D7A3}"/>
              </a:ext>
            </a:extLst>
          </p:cNvPr>
          <p:cNvSpPr txBox="1"/>
          <p:nvPr/>
        </p:nvSpPr>
        <p:spPr>
          <a:xfrm>
            <a:off x="5920739" y="6434160"/>
            <a:ext cx="147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15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B9755A0-A797-C303-ABBF-ABBFB8AEE6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534" y="1556226"/>
            <a:ext cx="5352758" cy="401456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950D183-616B-1D0C-D2F8-E081117C55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7"/>
          <a:stretch>
            <a:fillRect/>
          </a:stretch>
        </p:blipFill>
        <p:spPr>
          <a:xfrm>
            <a:off x="70339" y="1625950"/>
            <a:ext cx="6560786" cy="383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9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0B4821-3306-2825-F659-BCD54029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PSD SOP </a:t>
            </a:r>
            <a:r>
              <a:rPr lang="en-GB" noProof="0" dirty="0" err="1"/>
              <a:t>diversi</a:t>
            </a:r>
            <a:r>
              <a:rPr lang="en-GB" noProof="0" dirty="0"/>
              <a:t> </a:t>
            </a:r>
            <a:r>
              <a:rPr lang="en-GB" noProof="0" dirty="0" err="1"/>
              <a:t>valori</a:t>
            </a:r>
            <a:r>
              <a:rPr lang="en-GB" noProof="0" dirty="0"/>
              <a:t> di 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523D95-9A85-051C-4B65-64C702150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650" y="720000"/>
            <a:ext cx="11664950" cy="4680000"/>
          </a:xfrm>
        </p:spPr>
        <p:txBody>
          <a:bodyPr/>
          <a:lstStyle/>
          <a:p>
            <a:r>
              <a:rPr lang="en-GB" sz="1800" dirty="0">
                <a:sym typeface="Wingdings" panose="05000000000000000000" pitchFamily="2" charset="2"/>
              </a:rPr>
              <a:t>Credo di </a:t>
            </a:r>
            <a:r>
              <a:rPr lang="en-GB" sz="1800" dirty="0" err="1">
                <a:sym typeface="Wingdings" panose="05000000000000000000" pitchFamily="2" charset="2"/>
              </a:rPr>
              <a:t>essere</a:t>
            </a:r>
            <a:r>
              <a:rPr lang="en-GB" sz="1800" dirty="0">
                <a:sym typeface="Wingdings" panose="05000000000000000000" pitchFamily="2" charset="2"/>
              </a:rPr>
              <a:t> </a:t>
            </a:r>
            <a:r>
              <a:rPr lang="en-GB" sz="1800" dirty="0" err="1">
                <a:sym typeface="Wingdings" panose="05000000000000000000" pitchFamily="2" charset="2"/>
              </a:rPr>
              <a:t>nella</a:t>
            </a:r>
            <a:r>
              <a:rPr lang="en-GB" sz="1800" dirty="0">
                <a:sym typeface="Wingdings" panose="05000000000000000000" pitchFamily="2" charset="2"/>
              </a:rPr>
              <a:t> black list di Ben </a:t>
            </a:r>
            <a:r>
              <a:rPr lang="en-GB" sz="1800" noProof="0" dirty="0">
                <a:sym typeface="Wingdings" panose="05000000000000000000" pitchFamily="2" charset="2"/>
              </a:rPr>
              <a:t> </a:t>
            </a:r>
            <a:endParaRPr lang="en-GB" sz="1800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F9E393-90C0-E3F6-4F20-A341598A0635}"/>
              </a:ext>
            </a:extLst>
          </p:cNvPr>
          <p:cNvSpPr txBox="1"/>
          <p:nvPr/>
        </p:nvSpPr>
        <p:spPr>
          <a:xfrm>
            <a:off x="5920739" y="6434160"/>
            <a:ext cx="56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BA9B3D1-B9F8-61B7-C19E-B9ADE8200C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" y="609600"/>
            <a:ext cx="11885980" cy="59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9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8CC921-DB12-AE60-A7DE-3F2F69DF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Quantizzazione</a:t>
            </a:r>
            <a:endParaRPr lang="en-GB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15E166-696A-408C-CE32-F3CB4FD84927}"/>
              </a:ext>
            </a:extLst>
          </p:cNvPr>
          <p:cNvSpPr txBox="1"/>
          <p:nvPr/>
        </p:nvSpPr>
        <p:spPr>
          <a:xfrm>
            <a:off x="5920739" y="6434160"/>
            <a:ext cx="72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17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522095C0-8EF4-0B37-6342-750F7184E62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/>
          <a:stretch>
            <a:fillRect/>
          </a:stretch>
        </p:blipFill>
        <p:spPr>
          <a:xfrm>
            <a:off x="4236720" y="776105"/>
            <a:ext cx="7688880" cy="55219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AA06CEF-0FF3-2447-1F82-D5C4CF5DCD80}"/>
                  </a:ext>
                </a:extLst>
              </p:cNvPr>
              <p:cNvSpPr txBox="1"/>
              <p:nvPr/>
            </p:nvSpPr>
            <p:spPr>
              <a:xfrm>
                <a:off x="781286" y="1444874"/>
                <a:ext cx="2940549" cy="280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𝑡𝑒𝑜𝑟𝑖𝑐𝑜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−15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≅3.05∙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AA06CEF-0FF3-2447-1F82-D5C4CF5DC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6" y="1444874"/>
                <a:ext cx="2940549" cy="280077"/>
              </a:xfrm>
              <a:prstGeom prst="rect">
                <a:avLst/>
              </a:prstGeom>
              <a:blipFill>
                <a:blip r:embed="rId3"/>
                <a:stretch>
                  <a:fillRect l="-1242" r="-207" b="-282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A820C002-2132-9865-EAA1-DA3E090F5F1F}"/>
                  </a:ext>
                </a:extLst>
              </p:cNvPr>
              <p:cNvSpPr txBox="1"/>
              <p:nvPr/>
            </p:nvSpPr>
            <p:spPr>
              <a:xfrm>
                <a:off x="549449" y="2702203"/>
                <a:ext cx="3681521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𝐸𝑁𝑂𝐵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𝑠𝑡𝑑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𝐻𝑃</m:t>
                                      </m:r>
                                    </m:sup>
                                  </m:sSub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e>
                                      </m:rad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≅12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A820C002-2132-9865-EAA1-DA3E090F5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9" y="2702203"/>
                <a:ext cx="3681521" cy="8917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3E517F8-5E51-AF99-A771-FDA8FB5C744C}"/>
                  </a:ext>
                </a:extLst>
              </p:cNvPr>
              <p:cNvSpPr txBox="1"/>
              <p:nvPr/>
            </p:nvSpPr>
            <p:spPr>
              <a:xfrm>
                <a:off x="-887880" y="4456845"/>
                <a:ext cx="6096000" cy="401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p>
                        <m:sSupPr>
                          <m:ctrlPr>
                            <a:rPr lang="it-IT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r>
                        <a:rPr lang="it-I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≅0.0002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3E517F8-5E51-AF99-A771-FDA8FB5C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7880" y="4456845"/>
                <a:ext cx="6096000" cy="401007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oogle Shape;1648;p56">
            <a:extLst>
              <a:ext uri="{FF2B5EF4-FFF2-40B4-BE49-F238E27FC236}">
                <a16:creationId xmlns:a16="http://schemas.microsoft.com/office/drawing/2014/main" id="{EA501496-6F0F-3829-12E5-27989AFB6FDE}"/>
              </a:ext>
            </a:extLst>
          </p:cNvPr>
          <p:cNvGrpSpPr/>
          <p:nvPr/>
        </p:nvGrpSpPr>
        <p:grpSpPr>
          <a:xfrm rot="5400000">
            <a:off x="2186881" y="2089677"/>
            <a:ext cx="406655" cy="247800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32" name="Google Shape;1649;p56">
              <a:extLst>
                <a:ext uri="{FF2B5EF4-FFF2-40B4-BE49-F238E27FC236}">
                  <a16:creationId xmlns:a16="http://schemas.microsoft.com/office/drawing/2014/main" id="{66108BAD-66C7-41C6-74C8-41D49B5E15D6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3" name="Google Shape;1650;p56">
              <a:extLst>
                <a:ext uri="{FF2B5EF4-FFF2-40B4-BE49-F238E27FC236}">
                  <a16:creationId xmlns:a16="http://schemas.microsoft.com/office/drawing/2014/main" id="{77479150-C59A-8A18-AE82-7127C29F72C2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4" name="Google Shape;1651;p56">
              <a:extLst>
                <a:ext uri="{FF2B5EF4-FFF2-40B4-BE49-F238E27FC236}">
                  <a16:creationId xmlns:a16="http://schemas.microsoft.com/office/drawing/2014/main" id="{ED29FB0F-949F-5D4C-232D-06DA24DD68E4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  <p:grpSp>
        <p:nvGrpSpPr>
          <p:cNvPr id="35" name="Google Shape;1648;p56">
            <a:extLst>
              <a:ext uri="{FF2B5EF4-FFF2-40B4-BE49-F238E27FC236}">
                <a16:creationId xmlns:a16="http://schemas.microsoft.com/office/drawing/2014/main" id="{68F70B66-4379-8CD9-2511-32A0D4B213A8}"/>
              </a:ext>
            </a:extLst>
          </p:cNvPr>
          <p:cNvGrpSpPr/>
          <p:nvPr/>
        </p:nvGrpSpPr>
        <p:grpSpPr>
          <a:xfrm rot="5400000">
            <a:off x="2186881" y="3895929"/>
            <a:ext cx="406655" cy="247800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36" name="Google Shape;1649;p56">
              <a:extLst>
                <a:ext uri="{FF2B5EF4-FFF2-40B4-BE49-F238E27FC236}">
                  <a16:creationId xmlns:a16="http://schemas.microsoft.com/office/drawing/2014/main" id="{B5638162-A9A3-3EBD-8D51-552386A3FCB3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7" name="Google Shape;1650;p56">
              <a:extLst>
                <a:ext uri="{FF2B5EF4-FFF2-40B4-BE49-F238E27FC236}">
                  <a16:creationId xmlns:a16="http://schemas.microsoft.com/office/drawing/2014/main" id="{7230461E-6451-C42B-9EDB-900B7FBE341A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38" name="Google Shape;1651;p56">
              <a:extLst>
                <a:ext uri="{FF2B5EF4-FFF2-40B4-BE49-F238E27FC236}">
                  <a16:creationId xmlns:a16="http://schemas.microsoft.com/office/drawing/2014/main" id="{6B801585-E372-0F2E-B343-B31AE76AC682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18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F3BB2D-3482-2009-748E-DEB4098A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Istogramma diff(S1)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6656F5-F43E-7028-762D-C59AD6BA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800" y="720000"/>
            <a:ext cx="12063400" cy="602541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C14A27D-D6B3-6A81-0B94-39791C30FF4E}"/>
              </a:ext>
            </a:extLst>
          </p:cNvPr>
          <p:cNvSpPr txBox="1"/>
          <p:nvPr/>
        </p:nvSpPr>
        <p:spPr>
          <a:xfrm>
            <a:off x="5920739" y="6434160"/>
            <a:ext cx="102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18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5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C484C-F8D2-9FC6-F709-DD1AE5B2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288C53-DB6B-8C69-4389-69828551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 accettano consigli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0ADA32D5-E7FA-D470-597F-0E0756ADF4D5}"/>
              </a:ext>
            </a:extLst>
          </p:cNvPr>
          <p:cNvCxnSpPr>
            <a:cxnSpLocks/>
          </p:cNvCxnSpPr>
          <p:nvPr/>
        </p:nvCxnSpPr>
        <p:spPr>
          <a:xfrm flipV="1">
            <a:off x="1072627" y="1521069"/>
            <a:ext cx="0" cy="4033403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1D66BE7-E29F-DD21-B623-092A916EDCA3}"/>
              </a:ext>
            </a:extLst>
          </p:cNvPr>
          <p:cNvCxnSpPr>
            <a:cxnSpLocks/>
          </p:cNvCxnSpPr>
          <p:nvPr/>
        </p:nvCxnSpPr>
        <p:spPr>
          <a:xfrm>
            <a:off x="1072627" y="5564632"/>
            <a:ext cx="3702573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810B1EBA-7CAB-3C7C-440F-75A190666810}"/>
              </a:ext>
            </a:extLst>
          </p:cNvPr>
          <p:cNvCxnSpPr>
            <a:cxnSpLocks/>
          </p:cNvCxnSpPr>
          <p:nvPr/>
        </p:nvCxnSpPr>
        <p:spPr>
          <a:xfrm>
            <a:off x="2905760" y="3427984"/>
            <a:ext cx="751840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C8BFB7E-9193-5A72-C0C8-1B540870A3FA}"/>
              </a:ext>
            </a:extLst>
          </p:cNvPr>
          <p:cNvCxnSpPr>
            <a:cxnSpLocks/>
          </p:cNvCxnSpPr>
          <p:nvPr/>
        </p:nvCxnSpPr>
        <p:spPr>
          <a:xfrm>
            <a:off x="3657600" y="271475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511053DE-1EDE-853D-E278-B502D279E832}"/>
              </a:ext>
            </a:extLst>
          </p:cNvPr>
          <p:cNvCxnSpPr>
            <a:cxnSpLocks/>
          </p:cNvCxnSpPr>
          <p:nvPr/>
        </p:nvCxnSpPr>
        <p:spPr>
          <a:xfrm>
            <a:off x="3657600" y="2726944"/>
            <a:ext cx="743712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05F525D9-440B-ABA2-CAE3-066226944F42}"/>
              </a:ext>
            </a:extLst>
          </p:cNvPr>
          <p:cNvCxnSpPr>
            <a:cxnSpLocks/>
          </p:cNvCxnSpPr>
          <p:nvPr/>
        </p:nvCxnSpPr>
        <p:spPr>
          <a:xfrm>
            <a:off x="4401312" y="201371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09E4A60F-2EE7-E10B-ACAA-F2BBC88A2F1C}"/>
              </a:ext>
            </a:extLst>
          </p:cNvPr>
          <p:cNvCxnSpPr>
            <a:cxnSpLocks/>
          </p:cNvCxnSpPr>
          <p:nvPr/>
        </p:nvCxnSpPr>
        <p:spPr>
          <a:xfrm>
            <a:off x="1422400" y="4845304"/>
            <a:ext cx="751840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EF51DE0-E6DF-A6BF-F2F8-31835B41B762}"/>
              </a:ext>
            </a:extLst>
          </p:cNvPr>
          <p:cNvCxnSpPr>
            <a:cxnSpLocks/>
          </p:cNvCxnSpPr>
          <p:nvPr/>
        </p:nvCxnSpPr>
        <p:spPr>
          <a:xfrm>
            <a:off x="2174240" y="413207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784A979A-CC40-98A3-5D26-CB460422A540}"/>
              </a:ext>
            </a:extLst>
          </p:cNvPr>
          <p:cNvCxnSpPr>
            <a:cxnSpLocks/>
          </p:cNvCxnSpPr>
          <p:nvPr/>
        </p:nvCxnSpPr>
        <p:spPr>
          <a:xfrm>
            <a:off x="2174240" y="4144264"/>
            <a:ext cx="743712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3CB0721D-0C96-09FD-2EDA-CC9F1EA533E4}"/>
              </a:ext>
            </a:extLst>
          </p:cNvPr>
          <p:cNvCxnSpPr>
            <a:cxnSpLocks/>
          </p:cNvCxnSpPr>
          <p:nvPr/>
        </p:nvCxnSpPr>
        <p:spPr>
          <a:xfrm>
            <a:off x="2917952" y="343103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3ABA02F8-C777-CD78-E77D-0FD1CDA85E16}"/>
              </a:ext>
            </a:extLst>
          </p:cNvPr>
          <p:cNvCxnSpPr>
            <a:cxnSpLocks/>
          </p:cNvCxnSpPr>
          <p:nvPr/>
        </p:nvCxnSpPr>
        <p:spPr>
          <a:xfrm>
            <a:off x="1422400" y="4845304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032B8ECF-478D-4947-EFC3-09B34BF3E460}"/>
              </a:ext>
            </a:extLst>
          </p:cNvPr>
          <p:cNvCxnSpPr/>
          <p:nvPr/>
        </p:nvCxnSpPr>
        <p:spPr>
          <a:xfrm flipV="1">
            <a:off x="1072627" y="2003552"/>
            <a:ext cx="3566160" cy="355092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720B75BF-BBC7-C29C-A9E3-DCF25CFEBFA2}"/>
              </a:ext>
            </a:extLst>
          </p:cNvPr>
          <p:cNvCxnSpPr>
            <a:cxnSpLocks/>
          </p:cNvCxnSpPr>
          <p:nvPr/>
        </p:nvCxnSpPr>
        <p:spPr>
          <a:xfrm>
            <a:off x="2763520" y="2638747"/>
            <a:ext cx="98552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1D29038B-D9A7-770E-C55A-CA69EFE0C690}"/>
              </a:ext>
            </a:extLst>
          </p:cNvPr>
          <p:cNvCxnSpPr>
            <a:cxnSpLocks/>
          </p:cNvCxnSpPr>
          <p:nvPr/>
        </p:nvCxnSpPr>
        <p:spPr>
          <a:xfrm>
            <a:off x="3220720" y="1695704"/>
            <a:ext cx="0" cy="38587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Arco 32">
            <a:extLst>
              <a:ext uri="{FF2B5EF4-FFF2-40B4-BE49-F238E27FC236}">
                <a16:creationId xmlns:a16="http://schemas.microsoft.com/office/drawing/2014/main" id="{34E930BA-236D-2504-E69B-6F9EDD5D0CF0}"/>
              </a:ext>
            </a:extLst>
          </p:cNvPr>
          <p:cNvSpPr/>
          <p:nvPr/>
        </p:nvSpPr>
        <p:spPr>
          <a:xfrm>
            <a:off x="2889152" y="1865735"/>
            <a:ext cx="701040" cy="1513829"/>
          </a:xfrm>
          <a:prstGeom prst="arc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5" name="Arco 34">
            <a:extLst>
              <a:ext uri="{FF2B5EF4-FFF2-40B4-BE49-F238E27FC236}">
                <a16:creationId xmlns:a16="http://schemas.microsoft.com/office/drawing/2014/main" id="{13668F6D-82B8-BAEA-861C-0489DE3767D5}"/>
              </a:ext>
            </a:extLst>
          </p:cNvPr>
          <p:cNvSpPr/>
          <p:nvPr/>
        </p:nvSpPr>
        <p:spPr>
          <a:xfrm rot="10800000">
            <a:off x="2845547" y="1858311"/>
            <a:ext cx="701040" cy="1513829"/>
          </a:xfrm>
          <a:prstGeom prst="arc">
            <a:avLst>
              <a:gd name="adj1" fmla="val 150143"/>
              <a:gd name="adj2" fmla="val 5433771"/>
            </a:avLst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3E016A19-A1D7-1F58-6145-3110ACF652CA}"/>
              </a:ext>
            </a:extLst>
          </p:cNvPr>
          <p:cNvCxnSpPr>
            <a:cxnSpLocks/>
          </p:cNvCxnSpPr>
          <p:nvPr/>
        </p:nvCxnSpPr>
        <p:spPr>
          <a:xfrm flipV="1">
            <a:off x="7203440" y="1531229"/>
            <a:ext cx="0" cy="4033403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1BAE6E2-98EF-B886-3504-F8BC32441520}"/>
              </a:ext>
            </a:extLst>
          </p:cNvPr>
          <p:cNvCxnSpPr>
            <a:cxnSpLocks/>
          </p:cNvCxnSpPr>
          <p:nvPr/>
        </p:nvCxnSpPr>
        <p:spPr>
          <a:xfrm>
            <a:off x="7203440" y="5574792"/>
            <a:ext cx="3702573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B5BDADF0-EBE6-B32B-7DA2-648089D071C1}"/>
              </a:ext>
            </a:extLst>
          </p:cNvPr>
          <p:cNvCxnSpPr>
            <a:cxnSpLocks/>
          </p:cNvCxnSpPr>
          <p:nvPr/>
        </p:nvCxnSpPr>
        <p:spPr>
          <a:xfrm>
            <a:off x="9036573" y="3438144"/>
            <a:ext cx="751840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168A7ED0-375C-8E17-5D4C-25DCD4934952}"/>
              </a:ext>
            </a:extLst>
          </p:cNvPr>
          <p:cNvCxnSpPr>
            <a:cxnSpLocks/>
          </p:cNvCxnSpPr>
          <p:nvPr/>
        </p:nvCxnSpPr>
        <p:spPr>
          <a:xfrm>
            <a:off x="9788413" y="272491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F6D5EF05-F769-2C16-0308-167FBDDAC245}"/>
              </a:ext>
            </a:extLst>
          </p:cNvPr>
          <p:cNvCxnSpPr>
            <a:cxnSpLocks/>
          </p:cNvCxnSpPr>
          <p:nvPr/>
        </p:nvCxnSpPr>
        <p:spPr>
          <a:xfrm>
            <a:off x="9788413" y="2737104"/>
            <a:ext cx="743712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E78116A1-DEEE-FEC5-CA86-DBC752735FDE}"/>
              </a:ext>
            </a:extLst>
          </p:cNvPr>
          <p:cNvCxnSpPr>
            <a:cxnSpLocks/>
          </p:cNvCxnSpPr>
          <p:nvPr/>
        </p:nvCxnSpPr>
        <p:spPr>
          <a:xfrm>
            <a:off x="10532125" y="202387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EC613436-E907-A613-20F6-79B5ACFE31E5}"/>
              </a:ext>
            </a:extLst>
          </p:cNvPr>
          <p:cNvCxnSpPr>
            <a:cxnSpLocks/>
          </p:cNvCxnSpPr>
          <p:nvPr/>
        </p:nvCxnSpPr>
        <p:spPr>
          <a:xfrm>
            <a:off x="7553213" y="4855464"/>
            <a:ext cx="751840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8AC9B543-222F-AD55-550E-614442CFC6F3}"/>
              </a:ext>
            </a:extLst>
          </p:cNvPr>
          <p:cNvCxnSpPr>
            <a:cxnSpLocks/>
          </p:cNvCxnSpPr>
          <p:nvPr/>
        </p:nvCxnSpPr>
        <p:spPr>
          <a:xfrm>
            <a:off x="8305053" y="414223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Connettore diritto 44">
            <a:extLst>
              <a:ext uri="{FF2B5EF4-FFF2-40B4-BE49-F238E27FC236}">
                <a16:creationId xmlns:a16="http://schemas.microsoft.com/office/drawing/2014/main" id="{D19CF29B-0338-32D4-B5DC-6A4A4EC1132C}"/>
              </a:ext>
            </a:extLst>
          </p:cNvPr>
          <p:cNvCxnSpPr>
            <a:cxnSpLocks/>
          </p:cNvCxnSpPr>
          <p:nvPr/>
        </p:nvCxnSpPr>
        <p:spPr>
          <a:xfrm>
            <a:off x="8305053" y="4154424"/>
            <a:ext cx="743712" cy="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464F4A2C-EFFC-912B-1508-0D1C39D18269}"/>
              </a:ext>
            </a:extLst>
          </p:cNvPr>
          <p:cNvCxnSpPr>
            <a:cxnSpLocks/>
          </p:cNvCxnSpPr>
          <p:nvPr/>
        </p:nvCxnSpPr>
        <p:spPr>
          <a:xfrm>
            <a:off x="9048765" y="3441192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AA50CBED-9DB0-090C-F9C0-F01C0B5D4007}"/>
              </a:ext>
            </a:extLst>
          </p:cNvPr>
          <p:cNvCxnSpPr>
            <a:cxnSpLocks/>
          </p:cNvCxnSpPr>
          <p:nvPr/>
        </p:nvCxnSpPr>
        <p:spPr>
          <a:xfrm>
            <a:off x="7553213" y="4855464"/>
            <a:ext cx="0" cy="71932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CE9C89CD-E1C3-A5F7-D1B1-3E234B0B1AC6}"/>
              </a:ext>
            </a:extLst>
          </p:cNvPr>
          <p:cNvCxnSpPr/>
          <p:nvPr/>
        </p:nvCxnSpPr>
        <p:spPr>
          <a:xfrm flipV="1">
            <a:off x="7203440" y="2013712"/>
            <a:ext cx="3566160" cy="355092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49B58753-5309-2775-07F2-F23E2484DBB1}"/>
              </a:ext>
            </a:extLst>
          </p:cNvPr>
          <p:cNvCxnSpPr>
            <a:cxnSpLocks/>
          </p:cNvCxnSpPr>
          <p:nvPr/>
        </p:nvCxnSpPr>
        <p:spPr>
          <a:xfrm>
            <a:off x="8053754" y="2638747"/>
            <a:ext cx="2478371" cy="101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ADFB7346-26F0-4267-A54B-86D4F646BDA0}"/>
              </a:ext>
            </a:extLst>
          </p:cNvPr>
          <p:cNvCxnSpPr>
            <a:cxnSpLocks/>
          </p:cNvCxnSpPr>
          <p:nvPr/>
        </p:nvCxnSpPr>
        <p:spPr>
          <a:xfrm>
            <a:off x="9351533" y="1705864"/>
            <a:ext cx="0" cy="38587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36133D02-A9FC-A1E2-186B-D79231888F62}"/>
              </a:ext>
            </a:extLst>
          </p:cNvPr>
          <p:cNvSpPr/>
          <p:nvPr/>
        </p:nvSpPr>
        <p:spPr>
          <a:xfrm>
            <a:off x="8473901" y="1842214"/>
            <a:ext cx="1745105" cy="1479636"/>
          </a:xfrm>
          <a:prstGeom prst="arc">
            <a:avLst>
              <a:gd name="adj1" fmla="val 16200000"/>
              <a:gd name="adj2" fmla="val 238722"/>
            </a:avLst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2" name="Arco 51">
            <a:extLst>
              <a:ext uri="{FF2B5EF4-FFF2-40B4-BE49-F238E27FC236}">
                <a16:creationId xmlns:a16="http://schemas.microsoft.com/office/drawing/2014/main" id="{538891CA-AD0B-D5B9-182F-931D125CB2B7}"/>
              </a:ext>
            </a:extLst>
          </p:cNvPr>
          <p:cNvSpPr/>
          <p:nvPr/>
        </p:nvSpPr>
        <p:spPr>
          <a:xfrm rot="10800000">
            <a:off x="8598782" y="1844440"/>
            <a:ext cx="1627421" cy="1511089"/>
          </a:xfrm>
          <a:prstGeom prst="arc">
            <a:avLst>
              <a:gd name="adj1" fmla="val 21572981"/>
              <a:gd name="adj2" fmla="val 5225768"/>
            </a:avLst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56" name="Google Shape;1648;p56">
            <a:extLst>
              <a:ext uri="{FF2B5EF4-FFF2-40B4-BE49-F238E27FC236}">
                <a16:creationId xmlns:a16="http://schemas.microsoft.com/office/drawing/2014/main" id="{D1BECC94-A268-E956-685A-060CCAD98CE6}"/>
              </a:ext>
            </a:extLst>
          </p:cNvPr>
          <p:cNvGrpSpPr/>
          <p:nvPr/>
        </p:nvGrpSpPr>
        <p:grpSpPr>
          <a:xfrm>
            <a:off x="5443729" y="3167219"/>
            <a:ext cx="909398" cy="409843"/>
            <a:chOff x="4920150" y="1977875"/>
            <a:chExt cx="68525" cy="33800"/>
          </a:xfrm>
          <a:solidFill>
            <a:srgbClr val="F14124"/>
          </a:solidFill>
        </p:grpSpPr>
        <p:sp>
          <p:nvSpPr>
            <p:cNvPr id="57" name="Google Shape;1649;p56">
              <a:extLst>
                <a:ext uri="{FF2B5EF4-FFF2-40B4-BE49-F238E27FC236}">
                  <a16:creationId xmlns:a16="http://schemas.microsoft.com/office/drawing/2014/main" id="{9C8096B7-353A-4D66-1E56-BFD3C700795B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8" name="Google Shape;1650;p56">
              <a:extLst>
                <a:ext uri="{FF2B5EF4-FFF2-40B4-BE49-F238E27FC236}">
                  <a16:creationId xmlns:a16="http://schemas.microsoft.com/office/drawing/2014/main" id="{D85E7E3D-E1DC-E685-BF30-EE968220FACF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  <p:sp>
          <p:nvSpPr>
            <p:cNvPr id="59" name="Google Shape;1651;p56">
              <a:extLst>
                <a:ext uri="{FF2B5EF4-FFF2-40B4-BE49-F238E27FC236}">
                  <a16:creationId xmlns:a16="http://schemas.microsoft.com/office/drawing/2014/main" id="{35FBD5E9-543E-F3A0-1049-FDFE2216E396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stealth" w="lg" len="lg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rgbClr val="F14124"/>
                  </a:solidFill>
                </a:ln>
              </a:endParaRPr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D7FB81-395B-6A1D-2BBF-45F1002113A2}"/>
              </a:ext>
            </a:extLst>
          </p:cNvPr>
          <p:cNvSpPr txBox="1"/>
          <p:nvPr/>
        </p:nvSpPr>
        <p:spPr>
          <a:xfrm>
            <a:off x="5920740" y="6434160"/>
            <a:ext cx="76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2907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9E9160-13C6-48C9-38FD-DAFC023C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Sensing </a:t>
            </a:r>
            <a:r>
              <a:rPr lang="en-GB" dirty="0" err="1"/>
              <a:t>Edificio</a:t>
            </a:r>
            <a:r>
              <a:rPr lang="en-GB" dirty="0"/>
              <a:t> A – </a:t>
            </a:r>
            <a:r>
              <a:rPr lang="en-GB" dirty="0" err="1"/>
              <a:t>INRiM</a:t>
            </a:r>
            <a:r>
              <a:rPr lang="en-GB" dirty="0"/>
              <a:t>: </a:t>
            </a:r>
            <a:r>
              <a:rPr lang="en-GB" dirty="0" err="1"/>
              <a:t>sincronizzazione</a:t>
            </a:r>
            <a:endParaRPr lang="en-GB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B9458C1-C516-192D-A683-05A1F662B0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0" y="720000"/>
            <a:ext cx="11109404" cy="554891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E4AFBE-9769-EE9A-A284-972B0108AB4E}"/>
              </a:ext>
            </a:extLst>
          </p:cNvPr>
          <p:cNvSpPr txBox="1"/>
          <p:nvPr/>
        </p:nvSpPr>
        <p:spPr>
          <a:xfrm>
            <a:off x="5920740" y="6434160"/>
            <a:ext cx="990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9496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91A3-09DB-56A8-134B-580513FE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91BBA4-3729-F6D3-7EF6-E5707D8B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Sensing </a:t>
            </a:r>
            <a:r>
              <a:rPr lang="en-GB" noProof="0" dirty="0" err="1"/>
              <a:t>Edificio</a:t>
            </a:r>
            <a:r>
              <a:rPr lang="en-GB" noProof="0" dirty="0"/>
              <a:t> A - </a:t>
            </a:r>
            <a:r>
              <a:rPr lang="en-GB" noProof="0" dirty="0" err="1"/>
              <a:t>INRiM</a:t>
            </a:r>
            <a:endParaRPr lang="en-GB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BBFD902-D0BF-AAF9-B0B1-1B57D50D84B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" r="10625"/>
          <a:stretch>
            <a:fillRect/>
          </a:stretch>
        </p:blipFill>
        <p:spPr>
          <a:xfrm>
            <a:off x="1375075" y="644452"/>
            <a:ext cx="9959675" cy="570244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F4E2EC6-F7FA-289C-5675-42987EEF06C2}"/>
              </a:ext>
            </a:extLst>
          </p:cNvPr>
          <p:cNvSpPr txBox="1"/>
          <p:nvPr/>
        </p:nvSpPr>
        <p:spPr>
          <a:xfrm>
            <a:off x="5920740" y="6434160"/>
            <a:ext cx="60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69411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8EB7-F680-37DF-6C2B-32CC660F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D32A5-F7C9-B69B-5CA8-FC1B1F77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Sensing </a:t>
            </a:r>
            <a:r>
              <a:rPr lang="en-GB" dirty="0" err="1"/>
              <a:t>Edificio</a:t>
            </a:r>
            <a:r>
              <a:rPr lang="en-GB" dirty="0"/>
              <a:t> A - </a:t>
            </a:r>
            <a:r>
              <a:rPr lang="en-GB" dirty="0" err="1"/>
              <a:t>INRiM</a:t>
            </a:r>
            <a:endParaRPr lang="en-GB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EFB8C75-0990-BDD1-68E9-F69D22F02B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5"/>
          <a:stretch>
            <a:fillRect/>
          </a:stretch>
        </p:blipFill>
        <p:spPr>
          <a:xfrm>
            <a:off x="314325" y="720000"/>
            <a:ext cx="11563350" cy="554378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BD592E8-0DC4-F70A-51DE-3870350E5BDC}"/>
              </a:ext>
            </a:extLst>
          </p:cNvPr>
          <p:cNvSpPr txBox="1"/>
          <p:nvPr/>
        </p:nvSpPr>
        <p:spPr>
          <a:xfrm>
            <a:off x="5920740" y="6434160"/>
            <a:ext cx="55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22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14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37A81E-F205-E586-B44C-211579A5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Sensing </a:t>
            </a:r>
            <a:r>
              <a:rPr lang="en-GB" dirty="0" err="1"/>
              <a:t>Edificio</a:t>
            </a:r>
            <a:r>
              <a:rPr lang="en-GB" dirty="0"/>
              <a:t> A - </a:t>
            </a:r>
            <a:r>
              <a:rPr lang="en-GB" dirty="0" err="1"/>
              <a:t>INRiM</a:t>
            </a:r>
            <a:endParaRPr lang="en-GB" noProof="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BB34236-AA07-0D3C-DB13-530FEDA937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1"/>
          <a:stretch>
            <a:fillRect/>
          </a:stretch>
        </p:blipFill>
        <p:spPr>
          <a:xfrm>
            <a:off x="258698" y="635000"/>
            <a:ext cx="11674603" cy="5588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779812-E3C1-F7ED-CF3D-433045BACC1C}"/>
              </a:ext>
            </a:extLst>
          </p:cNvPr>
          <p:cNvSpPr txBox="1"/>
          <p:nvPr/>
        </p:nvSpPr>
        <p:spPr>
          <a:xfrm>
            <a:off x="5920739" y="6434160"/>
            <a:ext cx="79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23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65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FC87-6343-FF43-451B-B8661DB1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1B6004-021A-4B6F-6CFF-E56E5819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Terremoto</a:t>
            </a:r>
            <a:r>
              <a:rPr lang="en-GB" noProof="0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DF3884-9DD7-D229-82CF-39B9B5C150B2}"/>
              </a:ext>
            </a:extLst>
          </p:cNvPr>
          <p:cNvSpPr txBox="1"/>
          <p:nvPr/>
        </p:nvSpPr>
        <p:spPr>
          <a:xfrm>
            <a:off x="260650" y="720000"/>
            <a:ext cx="854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5 km N San Damiano Macra (CN),</a:t>
            </a:r>
            <a:r>
              <a:rPr lang="en-GB" dirty="0"/>
              <a:t> Mw 3.3, 09/08/2026 00:10:34 (UTC+02:00)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218329B-9EA8-F859-DD7C-188A7F449ED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" t="1824" r="8672" b="4328"/>
          <a:stretch>
            <a:fillRect/>
          </a:stretch>
        </p:blipFill>
        <p:spPr>
          <a:xfrm>
            <a:off x="1355515" y="1158879"/>
            <a:ext cx="9683961" cy="508952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EEC313-CF39-C1B2-A431-BAAAC3AA26C9}"/>
              </a:ext>
            </a:extLst>
          </p:cNvPr>
          <p:cNvSpPr txBox="1"/>
          <p:nvPr/>
        </p:nvSpPr>
        <p:spPr>
          <a:xfrm>
            <a:off x="5920740" y="6434160"/>
            <a:ext cx="1174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585452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4CA4F-9647-0712-D4E2-721054D2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Terremoto</a:t>
            </a:r>
            <a:r>
              <a:rPr lang="en-GB" noProof="0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E79EF1-17F4-08AC-EA72-50C5680D6D44}"/>
              </a:ext>
            </a:extLst>
          </p:cNvPr>
          <p:cNvSpPr txBox="1"/>
          <p:nvPr/>
        </p:nvSpPr>
        <p:spPr>
          <a:xfrm>
            <a:off x="260650" y="720000"/>
            <a:ext cx="854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5 km N San Damiano Macra (CN),</a:t>
            </a:r>
            <a:r>
              <a:rPr lang="en-GB" dirty="0"/>
              <a:t> Mw 3.3, 09/08/2026 00:10:34 (UTC+02:00)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564EB2E-3878-444C-BB4C-2261EF89E8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498475"/>
            <a:ext cx="12192000" cy="608965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EFFD7B8-86C8-3A6E-E2D1-0F1DAD430645}"/>
              </a:ext>
            </a:extLst>
          </p:cNvPr>
          <p:cNvSpPr txBox="1"/>
          <p:nvPr/>
        </p:nvSpPr>
        <p:spPr>
          <a:xfrm>
            <a:off x="5920739" y="6434160"/>
            <a:ext cx="1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25</a:t>
            </a:r>
            <a:endParaRPr lang="en-GB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277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32A1-F5F3-B742-D559-E164C4A3D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3033550"/>
            <a:ext cx="11664950" cy="790899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GB" b="1" kern="1200" noProof="0" dirty="0">
                <a:latin typeface="+mj-lt"/>
                <a:ea typeface="+mj-ea"/>
                <a:cs typeface="+mj-cs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48438611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ersonalizzato 1">
      <a:dk1>
        <a:srgbClr val="212745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991b7f-6b7d-449b-b767-f5f786c869d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5725CFF937040894F497962944123" ma:contentTypeVersion="12" ma:contentTypeDescription="Create a new document." ma:contentTypeScope="" ma:versionID="7a0e623862b5493cb3745d6796d6e55f">
  <xsd:schema xmlns:xsd="http://www.w3.org/2001/XMLSchema" xmlns:xs="http://www.w3.org/2001/XMLSchema" xmlns:p="http://schemas.microsoft.com/office/2006/metadata/properties" xmlns:ns3="e1991b7f-6b7d-449b-b767-f5f786c869d3" targetNamespace="http://schemas.microsoft.com/office/2006/metadata/properties" ma:root="true" ma:fieldsID="6c1c622ae9065d5d3394d8a852b1f736" ns3:_="">
    <xsd:import namespace="e1991b7f-6b7d-449b-b767-f5f786c869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91b7f-6b7d-449b-b767-f5f786c869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ABA873-0994-4738-95F5-BEAE2390D7EB}">
  <ds:schemaRefs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e1991b7f-6b7d-449b-b767-f5f786c869d3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49F161D-94DE-4FB8-B032-342C52D425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A029C0-35CF-4CF5-BA61-F48A3501E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991b7f-6b7d-449b-b767-f5f786c86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13618</TotalTime>
  <Words>629</Words>
  <Application>Microsoft Office PowerPoint</Application>
  <PresentationFormat>Widescreen</PresentationFormat>
  <Paragraphs>138</Paragraphs>
  <Slides>26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26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Century Gothic</vt:lpstr>
      <vt:lpstr>Courier New</vt:lpstr>
      <vt:lpstr>Poppins</vt:lpstr>
      <vt:lpstr>Roboto</vt:lpstr>
      <vt:lpstr>Wingdings</vt:lpstr>
      <vt:lpstr>PoliTO Layout Generico TITOLO BLU</vt:lpstr>
      <vt:lpstr>Personalizza struttura</vt:lpstr>
      <vt:lpstr>1_Personalizza struttura</vt:lpstr>
      <vt:lpstr>Presentazione standard di PowerPoint</vt:lpstr>
      <vt:lpstr>Obiettivo </vt:lpstr>
      <vt:lpstr>Schema di timestamping</vt:lpstr>
      <vt:lpstr>Acquisition modes</vt:lpstr>
      <vt:lpstr>Modified Manual Recording</vt:lpstr>
      <vt:lpstr>Sistema di acquisizione: testing </vt:lpstr>
      <vt:lpstr>Allineamento al fronte di salita</vt:lpstr>
      <vt:lpstr>Sincronizzazione FPGA-PM1000: segnale ideale</vt:lpstr>
      <vt:lpstr>Schema di acquisizione: Anello urbano INRiM </vt:lpstr>
      <vt:lpstr>PSD SOP: Anello urbano INRiM (24 h)</vt:lpstr>
      <vt:lpstr>PSD frequency: Anello urbano INRiM (24 h)</vt:lpstr>
      <vt:lpstr>PSD SOP con diversi livelli di Pin</vt:lpstr>
      <vt:lpstr>Errore ADC</vt:lpstr>
      <vt:lpstr>PSD SOP con diversi livelli di Pin</vt:lpstr>
      <vt:lpstr>Caratterizzazione del rumore in funzione di Pin</vt:lpstr>
      <vt:lpstr>PSD SOP diversi valori di ATE</vt:lpstr>
      <vt:lpstr>Quantizzazione</vt:lpstr>
      <vt:lpstr>Istogramma diff(S1)</vt:lpstr>
      <vt:lpstr>Si accettano consigli</vt:lpstr>
      <vt:lpstr>Sensing Edificio A – INRiM: sincronizzazione</vt:lpstr>
      <vt:lpstr>Sensing Edificio A - INRiM</vt:lpstr>
      <vt:lpstr>Sensing Edificio A - INRiM</vt:lpstr>
      <vt:lpstr>Sensing Edificio A - INRiM</vt:lpstr>
      <vt:lpstr>Terremoto </vt:lpstr>
      <vt:lpstr>Terremoto 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Cavaliere  Monica</dc:creator>
  <cp:lastModifiedBy>Antonucci  Egle</cp:lastModifiedBy>
  <cp:revision>33</cp:revision>
  <cp:lastPrinted>2026-08-31T08:34:27Z</cp:lastPrinted>
  <dcterms:created xsi:type="dcterms:W3CDTF">2021-12-06T14:02:46Z</dcterms:created>
  <dcterms:modified xsi:type="dcterms:W3CDTF">2026-09-07T14:07:48Z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0x0101004855725CFF937040894F497962944123</vt:lpwstr>
  </property>
  <property fmtid="{D5CDD505-2E9C-101B-9397-08002B2CF9AE}" pid="3" name="MediaServiceImageTags">
    <vt:lpwstr/>
  </property>
</Properties>
</file>